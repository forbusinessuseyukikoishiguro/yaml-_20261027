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はじめに" id="{d0e79eeb-55eb-c3b2-16a6-6d689aa7a857}">
          <p14:sldIdLst>
            <p14:sldId id="256"/>
            <p14:sldId id="257"/>
          </p14:sldIdLst>
        </p14:section>
        <p14:section name="STEP1" id="{61ba64ee-0d8d-9de3-86fc-b8ef651c6551}">
          <p14:sldIdLst>
            <p14:sldId id="258"/>
            <p14:sldId id="259"/>
            <p14:sldId id="260"/>
          </p14:sldIdLst>
        </p14:section>
        <p14:section name="STEP2" id="{03a6e099-ab3e-9fcf-21d8-384160e893b9}">
          <p14:sldIdLst>
            <p14:sldId id="261"/>
            <p14:sldId id="262"/>
            <p14:sldId id="263"/>
          </p14:sldIdLst>
        </p14:section>
        <p14:section name="STEP3" id="{f8d7eb88-f63f-4076-8a22-bcaaa460065c}">
          <p14:sldIdLst>
            <p14:sldId id="264"/>
            <p14:sldId id="265"/>
            <p14:sldId id="266"/>
          </p14:sldIdLst>
        </p14:section>
        <p14:section name="STEP4" id="{1b649ea4-49d7-a062-f35d-8619ee9d9799}">
          <p14:sldIdLst>
            <p14:sldId id="267"/>
            <p14:sldId id="268"/>
            <p14:sldId id="269"/>
            <p14:sldId id="270"/>
          </p14:sldIdLst>
        </p14:section>
        <p14:section name="STEP5" id="{f469ff29-934e-68af-6c12-14e66dac0033}">
          <p14:sldIdLst>
            <p14:sldId id="271"/>
            <p14:sldId id="272"/>
            <p14:sldId id="273"/>
          </p14:sldIdLst>
        </p14:section>
        <p14:section name="STEP6" id="{d9614f9d-2cda-f8c6-8283-040aac68532e}">
          <p14:sldIdLst>
            <p14:sldId id="274"/>
            <p14:sldId id="275"/>
            <p14:sldId id="276"/>
          </p14:sldIdLst>
        </p14:section>
        <p14:section name="STEP7" id="{1cc08bbe-d0c2-5038-0dd0-9c9b65a1e15d}">
          <p14:sldIdLst>
            <p14:sldId id="277"/>
            <p14:sldId id="278"/>
            <p14:sldId id="279"/>
            <p14:sldId id="280"/>
          </p14:sldIdLst>
        </p14:section>
        <p14:section name="STEP8" id="{f9bfa345-b31f-fc9d-d85d-f962f984e6fd}">
          <p14:sldIdLst>
            <p14:sldId id="281"/>
            <p14:sldId id="282"/>
          </p14:sldIdLst>
        </p14:section>
        <p14:section name="まとめ" id="{140033d7-9c14-a757-4718-99aac11cc168}">
          <p14:sldIdLst>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1295C"/>
                </a:solidFill>
                <a:latin typeface="Meiryo"/>
              </a:defRPr>
            </a:pPr>
            <a:r>
              <a:rPr sz="1400" b="0" i="0" u="none" strike="noStrike">
                <a:solidFill>
                  <a:srgbClr val="21295C"/>
                </a:solidFill>
                <a:latin typeface="Meiryo"/>
              </a:rPr>
              <a:t>難易度の坂道（1〜9）</a:t>
            </a:r>
          </a:p>
        </c:rich>
      </c:tx>
      <c:layout/>
      <c:overlay val="0"/>
    </c:title>
    <c:autoTitleDeleted val="0"/>
    <c:plotArea>
      <c:layout/>
      <c:lineChart>
        <c:varyColors val="0"/>
        <c:ser>
          <c:idx val="0"/>
          <c:order val="0"/>
          <c:tx>
            <c:strRef>
              <c:f>Sheet1!$B$1</c:f>
              <c:strCache>
                <c:ptCount val="1"/>
                <c:pt idx="0">
                  <c:v>難易度</c:v>
                </c:pt>
              </c:strCache>
            </c:strRef>
          </c:tx>
          <c:spPr>
            <a:solidFill>
              <a:srgbClr val="065A82"/>
            </a:solidFill>
            <a:ln w="38100" cap="flat">
              <a:solidFill>
                <a:srgbClr val="065A82"/>
              </a:solidFill>
              <a:prstDash val="solid"/>
              <a:round/>
            </a:ln>
            <a:effectLst/>
          </c:spPr>
          <c:invertIfNegative val="0"/>
          <c:dLbls>
            <c:numFmt formatCode="#,##0" sourceLinked="0"/>
            <c:txPr>
              <a:bodyPr/>
              <a:lstStyle/>
              <a:p>
                <a:pPr>
                  <a:defRPr b="0" i="0" strike="noStrike" sz="1200" u="none">
                    <a:solidFill>
                      <a:srgbClr val="1F2937"/>
                    </a:solidFill>
                    <a:latin typeface="Meiryo"/>
                  </a:defRPr>
                </a:pPr>
              </a:p>
            </c:txPr>
            <c:dLblPos val="t"/>
            <c:showLegendKey val="0"/>
            <c:showVal val="1"/>
            <c:showCatName val="0"/>
            <c:showSerName val="0"/>
            <c:showPercent val="0"/>
            <c:showBubbleSize val="0"/>
            <c:showLeaderLines val="0"/>
          </c:dLbls>
          <c:marker>
            <c:symbol val="circle"/>
            <c:size val="9"/>
            <c:spPr>
              <a:solidFill>
                <a:srgbClr val="065A82"/>
              </a:solidFill>
              <a:ln w="9525" cap="flat">
                <a:solidFill>
                  <a:srgbClr val="065A82"/>
                </a:solidFill>
                <a:prstDash val="solid"/>
                <a:round/>
              </a:ln>
              <a:effectLst/>
            </c:spPr>
          </c:marker>
          <c:cat>
            <c:multiLvlStrRef>
              <c:f>Sheet1!$A$2:$A$9</c:f>
              <c:multiLvlStrCache>
                <c:ptCount val="8"/>
                <c:lvl>
                  <c:pt idx="0">
                    <c:v>STEP1</c:v>
                  </c:pt>
                  <c:pt idx="1">
                    <c:v>STEP2</c:v>
                  </c:pt>
                  <c:pt idx="2">
                    <c:v>STEP3</c:v>
                  </c:pt>
                  <c:pt idx="3">
                    <c:v>STEP4</c:v>
                  </c:pt>
                  <c:pt idx="4">
                    <c:v>STEP5</c:v>
                  </c:pt>
                  <c:pt idx="5">
                    <c:v>STEP6</c:v>
                  </c:pt>
                  <c:pt idx="6">
                    <c:v>STEP7</c:v>
                  </c:pt>
                  <c:pt idx="7">
                    <c:v>STEP8</c:v>
                  </c:pt>
                </c:lvl>
              </c:multiLvlStrCache>
            </c:multiLvlStrRef>
          </c:cat>
          <c:val>
            <c:numRef>
              <c:f>Sheet1!$B$2:$B$9</c:f>
              <c:numCache>
                <c:formatCode>General</c:formatCode>
                <c:ptCount val="8"/>
                <c:pt idx="0">
                  <c:v>1</c:v>
                </c:pt>
                <c:pt idx="1">
                  <c:v>2.5</c:v>
                </c:pt>
                <c:pt idx="2">
                  <c:v>4</c:v>
                </c:pt>
                <c:pt idx="3">
                  <c:v>5</c:v>
                </c:pt>
                <c:pt idx="4">
                  <c:v>6</c:v>
                </c:pt>
                <c:pt idx="5">
                  <c:v>7</c:v>
                </c:pt>
                <c:pt idx="6">
                  <c:v>9</c:v>
                </c:pt>
                <c:pt idx="7">
                  <c:v>3</c:v>
                </c:pt>
              </c:numCache>
            </c:numRef>
          </c:val>
          <c:smooth val="0"/>
        </c:ser>
        <c:dLbls>
          <c:numFmt formatCode="#,##0" sourceLinked="0"/>
          <c:txPr>
            <a:bodyPr/>
            <a:lstStyle/>
            <a:p>
              <a:pPr>
                <a:defRPr b="0" i="0" strike="noStrike" sz="1200" u="none">
                  <a:solidFill>
                    <a:srgbClr val="1F2937"/>
                  </a:solidFill>
                  <a:latin typeface="Meiryo"/>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eiryo"/>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D5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eiryo"/>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冒頭。『文章力』ではなく『型』で解決できる、と伝えて不安を下げる。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難易度の坂道。山場はSTEP7、最後のSTEP8でクールダウン。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STEP1（約8分）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内容が足りないのではなく、順番と書き方の問題だと伝える。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Goodの文面の4つの要素：件数・原因・依頼・期限。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STEP2（約10分）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最初の1〜2行で、結論と依頼が分かるようにする。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20607／82079-1は取扱説明書など利用者向け文書の規格。報告そのものを規定するものではなく、考え方を応用している、と補足する。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STEP3（約12分）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混ぜない。ラベルを付けて見分けやすくする。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数字を必ず1つ以上入れる。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STEP4（約15分）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報告＝結果を伝える、連絡＝情報を共有する（返信不要のことも多い）。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階層は最大3〜4階層。順序があれば数字リスト、なければ記号「・」。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根拠は公知の研究。『4±1』はCowan(2001)。F型パターンはNielsen Norman Group(2006)の調査。研究結果の一般則であり、個別の資料の効果を保証するものではない。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STEP5（約15分）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『どうすればいいですか』と丸投げしない。仮説があると相手は1秒で判断できる。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自信がなくても、言い方で『考えて来た人』になれる。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STEP6（約15分）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件名に『判断依頼』を入れると、上司が開くべきか分かる。信号機で状況を可視化。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午後のブロック検知が重要。1時間以上悩んだら声をかける。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STEP7（約25分）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★ここから山場。理由つきで選べることがチェックポイント1。口頭で決めたらチャットに1行残す。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URLだけ貼らない。ラベルと依頼を添える。決定事項はJiraにも書き戻す。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★チェックポイント2。ワークブックに書いてから模範例を見る。模範例は一例であり、正解は一つではない。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STEP8（約8分）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出す前に毎回。慣れたら3秒でできる。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5項目すべてに○がつけば修了。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出典の確認用。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822960" y="1371600"/>
            <a:ext cx="10515600" cy="640080"/>
          </a:xfrm>
          <a:prstGeom prst="rect">
            <a:avLst/>
          </a:prstGeom>
          <a:noFill/>
          <a:ln/>
        </p:spPr>
        <p:txBody>
          <a:bodyPr wrap="square" lIns="0" tIns="0" rIns="0" bIns="0" rtlCol="0" anchor="t"/>
          <a:lstStyle/>
          <a:p>
            <a:pPr indent="0" marL="0">
              <a:buNone/>
            </a:pPr>
            <a:r>
              <a:rPr lang="en-US" sz="2600" dirty="0">
                <a:solidFill>
                  <a:srgbClr val="BFE3F0"/>
                </a:solidFill>
                <a:latin typeface="Meiryo" pitchFamily="34" charset="0"/>
                <a:ea typeface="Meiryo" pitchFamily="34" charset="-122"/>
                <a:cs typeface="Meiryo" pitchFamily="34" charset="-120"/>
              </a:rPr>
              <a:t>新人エンジニアのための</a:t>
            </a:r>
            <a:endParaRPr lang="en-US" sz="2600" dirty="0"/>
          </a:p>
        </p:txBody>
      </p:sp>
      <p:sp>
        <p:nvSpPr>
          <p:cNvPr id="3" name="Text 1"/>
          <p:cNvSpPr txBox="1"/>
          <p:nvPr/>
        </p:nvSpPr>
        <p:spPr>
          <a:xfrm>
            <a:off x="822960" y="2011680"/>
            <a:ext cx="10515600" cy="1097280"/>
          </a:xfrm>
          <a:prstGeom prst="rect">
            <a:avLst/>
          </a:prstGeom>
          <a:noFill/>
          <a:ln/>
        </p:spPr>
        <p:txBody>
          <a:bodyPr wrap="square" lIns="0" tIns="0" rIns="0" bIns="0" rtlCol="0" anchor="t"/>
          <a:lstStyle/>
          <a:p>
            <a:pPr indent="0" marL="0">
              <a:buNone/>
            </a:pPr>
            <a:r>
              <a:rPr lang="en-US" sz="5000" b="1" dirty="0">
                <a:solidFill>
                  <a:srgbClr val="FFFFFF"/>
                </a:solidFill>
                <a:latin typeface="Meiryo" pitchFamily="34" charset="0"/>
                <a:ea typeface="Meiryo" pitchFamily="34" charset="-122"/>
                <a:cs typeface="Meiryo" pitchFamily="34" charset="-120"/>
              </a:rPr>
              <a:t>テクニカルライティング</a:t>
            </a:r>
            <a:endParaRPr lang="en-US" sz="5000" dirty="0"/>
          </a:p>
        </p:txBody>
      </p:sp>
      <p:sp>
        <p:nvSpPr>
          <p:cNvPr id="4" name="Text 2"/>
          <p:cNvSpPr txBox="1"/>
          <p:nvPr/>
        </p:nvSpPr>
        <p:spPr>
          <a:xfrm>
            <a:off x="822960" y="3291840"/>
            <a:ext cx="10515600" cy="548640"/>
          </a:xfrm>
          <a:prstGeom prst="rect">
            <a:avLst/>
          </a:prstGeom>
          <a:noFill/>
          <a:ln/>
        </p:spPr>
        <p:txBody>
          <a:bodyPr wrap="square" lIns="0" tIns="0" rIns="0" bIns="0" rtlCol="0" anchor="t"/>
          <a:lstStyle/>
          <a:p>
            <a:pPr indent="0" marL="0">
              <a:buNone/>
            </a:pPr>
            <a:r>
              <a:rPr lang="en-US" sz="2200" dirty="0">
                <a:solidFill>
                  <a:srgbClr val="BFE3F0"/>
                </a:solidFill>
                <a:latin typeface="Meiryo" pitchFamily="34" charset="0"/>
                <a:ea typeface="Meiryo" pitchFamily="34" charset="-122"/>
                <a:cs typeface="Meiryo" pitchFamily="34" charset="-120"/>
              </a:rPr>
              <a:t>報告・連絡・相談・日報を、5秒で伝わる文章にする</a:t>
            </a:r>
            <a:endParaRPr lang="en-US" sz="2200" dirty="0"/>
          </a:p>
        </p:txBody>
      </p:sp>
      <p:sp>
        <p:nvSpPr>
          <p:cNvPr id="5" name="Text 3"/>
          <p:cNvSpPr txBox="1"/>
          <p:nvPr/>
        </p:nvSpPr>
        <p:spPr>
          <a:xfrm>
            <a:off x="822960" y="4023360"/>
            <a:ext cx="10515600" cy="457200"/>
          </a:xfrm>
          <a:prstGeom prst="rect">
            <a:avLst/>
          </a:prstGeom>
          <a:noFill/>
          <a:ln/>
        </p:spPr>
        <p:txBody>
          <a:bodyPr wrap="square" lIns="0" tIns="0" rIns="0" bIns="0" rtlCol="0" anchor="t"/>
          <a:lstStyle/>
          <a:p>
            <a:pPr indent="0" marL="0">
              <a:buNone/>
            </a:pPr>
            <a:r>
              <a:rPr lang="en-US" sz="1600" dirty="0">
                <a:solidFill>
                  <a:srgbClr val="BFE3F0"/>
                </a:solidFill>
                <a:latin typeface="Meiryo" pitchFamily="34" charset="0"/>
                <a:ea typeface="Meiryo" pitchFamily="34" charset="-122"/>
                <a:cs typeface="Meiryo" pitchFamily="34" charset="-120"/>
              </a:rPr>
              <a:t>受講生用｜全8STEP・約108分</a:t>
            </a:r>
            <a:endParaRPr lang="en-US" sz="1600" dirty="0"/>
          </a:p>
        </p:txBody>
      </p:sp>
      <p:sp>
        <p:nvSpPr>
          <p:cNvPr id="6" name="Text 4"/>
          <p:cNvSpPr txBox="1"/>
          <p:nvPr/>
        </p:nvSpPr>
        <p:spPr>
          <a:xfrm>
            <a:off x="822960" y="5760720"/>
            <a:ext cx="5486400" cy="457200"/>
          </a:xfrm>
          <a:prstGeom prst="rect">
            <a:avLst/>
          </a:prstGeom>
          <a:noFill/>
          <a:ln/>
        </p:spPr>
        <p:txBody>
          <a:bodyPr wrap="square" lIns="0" tIns="0" rIns="0" bIns="0" rtlCol="0" anchor="t"/>
          <a:lstStyle/>
          <a:p>
            <a:pPr indent="0" marL="0">
              <a:buNone/>
            </a:pPr>
            <a:r>
              <a:rPr lang="en-US" sz="1800" b="1" dirty="0">
                <a:solidFill>
                  <a:srgbClr val="F2994A"/>
                </a:solidFill>
                <a:latin typeface="Meiryo" pitchFamily="34" charset="0"/>
                <a:ea typeface="Meiryo" pitchFamily="34" charset="-122"/>
                <a:cs typeface="Meiryo" pitchFamily="34" charset="-120"/>
              </a:rPr>
              <a:t>うさうさ研修工房</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学習ロードマップ：少しずつ坂をのぼる</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graphicFrame>
        <p:nvGraphicFramePr>
          <p:cNvPr id="5" name="Chart 0" descr=""/>
          <p:cNvGraphicFramePr/>
          <p:nvPr/>
        </p:nvGraphicFramePr>
        <p:xfrm>
          <a:off x="548640" y="1234440"/>
          <a:ext cx="11064240" cy="28346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4251960"/>
            <a:ext cx="2606040" cy="914400"/>
          </a:xfrm>
          <a:prstGeom prst="roundRect">
            <a:avLst>
              <a:gd name="adj" fmla="val 12000"/>
            </a:avLst>
          </a:prstGeom>
          <a:solidFill>
            <a:srgbClr val="E6F1F7"/>
          </a:solidFill>
          <a:ln w="12700">
            <a:solidFill>
              <a:srgbClr val="E6F1F7"/>
            </a:solidFill>
            <a:prstDash val="solid"/>
          </a:ln>
        </p:spPr>
      </p:sp>
      <p:sp>
        <p:nvSpPr>
          <p:cNvPr id="7" name="Shape 3"/>
          <p:cNvSpPr/>
          <p:nvPr/>
        </p:nvSpPr>
        <p:spPr>
          <a:xfrm>
            <a:off x="685800" y="4453128"/>
            <a:ext cx="502920" cy="502920"/>
          </a:xfrm>
          <a:prstGeom prst="ellipse">
            <a:avLst/>
          </a:prstGeom>
          <a:solidFill>
            <a:srgbClr val="065A82"/>
          </a:solidFill>
          <a:ln w="12700">
            <a:solidFill>
              <a:srgbClr val="065A82"/>
            </a:solidFill>
            <a:prstDash val="solid"/>
          </a:ln>
        </p:spPr>
      </p:sp>
      <p:sp>
        <p:nvSpPr>
          <p:cNvPr id="8" name="Text 4"/>
          <p:cNvSpPr txBox="1"/>
          <p:nvPr/>
        </p:nvSpPr>
        <p:spPr>
          <a:xfrm>
            <a:off x="685800" y="44531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9" name="Text 5"/>
          <p:cNvSpPr txBox="1"/>
          <p:nvPr/>
        </p:nvSpPr>
        <p:spPr>
          <a:xfrm>
            <a:off x="1298448" y="4325112"/>
            <a:ext cx="1764792" cy="768096"/>
          </a:xfrm>
          <a:prstGeom prst="rect">
            <a:avLst/>
          </a:prstGeom>
          <a:noFill/>
          <a:ln/>
        </p:spPr>
        <p:txBody>
          <a:bodyPr wrap="square" lIns="0" tIns="0" rIns="0" bIns="0" rtlCol="0" anchor="ctr"/>
          <a:lstStyle/>
          <a:p>
            <a:pPr indent="0" marL="0">
              <a:buNone/>
            </a:pPr>
            <a:r>
              <a:rPr lang="en-US" sz="1200" b="1" dirty="0">
                <a:solidFill>
                  <a:srgbClr val="21295C"/>
                </a:solidFill>
                <a:latin typeface="Meiryo" pitchFamily="34" charset="0"/>
                <a:ea typeface="Meiryo" pitchFamily="34" charset="-122"/>
                <a:cs typeface="Meiryo" pitchFamily="34" charset="-120"/>
              </a:rPr>
              <a:t>なぜ書き方で伝わり方が変わる？</a:t>
            </a:r>
            <a:endParaRPr lang="en-US" sz="1200" dirty="0"/>
          </a:p>
        </p:txBody>
      </p:sp>
      <p:sp>
        <p:nvSpPr>
          <p:cNvPr id="10" name="Shape 6"/>
          <p:cNvSpPr/>
          <p:nvPr/>
        </p:nvSpPr>
        <p:spPr>
          <a:xfrm>
            <a:off x="3368040" y="4251960"/>
            <a:ext cx="2606040" cy="914400"/>
          </a:xfrm>
          <a:prstGeom prst="roundRect">
            <a:avLst>
              <a:gd name="adj" fmla="val 12000"/>
            </a:avLst>
          </a:prstGeom>
          <a:solidFill>
            <a:srgbClr val="E6F1F7"/>
          </a:solidFill>
          <a:ln w="12700">
            <a:solidFill>
              <a:srgbClr val="E6F1F7"/>
            </a:solidFill>
            <a:prstDash val="solid"/>
          </a:ln>
        </p:spPr>
      </p:sp>
      <p:sp>
        <p:nvSpPr>
          <p:cNvPr id="11" name="Shape 7"/>
          <p:cNvSpPr/>
          <p:nvPr/>
        </p:nvSpPr>
        <p:spPr>
          <a:xfrm>
            <a:off x="3505200" y="4453128"/>
            <a:ext cx="502920" cy="502920"/>
          </a:xfrm>
          <a:prstGeom prst="ellipse">
            <a:avLst/>
          </a:prstGeom>
          <a:solidFill>
            <a:srgbClr val="065A82"/>
          </a:solidFill>
          <a:ln w="12700">
            <a:solidFill>
              <a:srgbClr val="065A82"/>
            </a:solidFill>
            <a:prstDash val="solid"/>
          </a:ln>
        </p:spPr>
      </p:sp>
      <p:sp>
        <p:nvSpPr>
          <p:cNvPr id="12" name="Text 8"/>
          <p:cNvSpPr txBox="1"/>
          <p:nvPr/>
        </p:nvSpPr>
        <p:spPr>
          <a:xfrm>
            <a:off x="3505200" y="44531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3" name="Text 9"/>
          <p:cNvSpPr txBox="1"/>
          <p:nvPr/>
        </p:nvSpPr>
        <p:spPr>
          <a:xfrm>
            <a:off x="4117848" y="4325112"/>
            <a:ext cx="1764792" cy="768096"/>
          </a:xfrm>
          <a:prstGeom prst="rect">
            <a:avLst/>
          </a:prstGeom>
          <a:noFill/>
          <a:ln/>
        </p:spPr>
        <p:txBody>
          <a:bodyPr wrap="square" lIns="0" tIns="0" rIns="0" bIns="0" rtlCol="0" anchor="ctr"/>
          <a:lstStyle/>
          <a:p>
            <a:pPr indent="0" marL="0">
              <a:buNone/>
            </a:pPr>
            <a:r>
              <a:rPr lang="en-US" sz="1200" b="1" dirty="0">
                <a:solidFill>
                  <a:srgbClr val="21295C"/>
                </a:solidFill>
                <a:latin typeface="Meiryo" pitchFamily="34" charset="0"/>
                <a:ea typeface="Meiryo" pitchFamily="34" charset="-122"/>
                <a:cs typeface="Meiryo" pitchFamily="34" charset="-120"/>
              </a:rPr>
              <a:t>基本の型：PREPと3原則</a:t>
            </a:r>
            <a:endParaRPr lang="en-US" sz="1200" dirty="0"/>
          </a:p>
        </p:txBody>
      </p:sp>
      <p:sp>
        <p:nvSpPr>
          <p:cNvPr id="14" name="Shape 10"/>
          <p:cNvSpPr/>
          <p:nvPr/>
        </p:nvSpPr>
        <p:spPr>
          <a:xfrm>
            <a:off x="6187440" y="4251960"/>
            <a:ext cx="2606040" cy="914400"/>
          </a:xfrm>
          <a:prstGeom prst="roundRect">
            <a:avLst>
              <a:gd name="adj" fmla="val 12000"/>
            </a:avLst>
          </a:prstGeom>
          <a:solidFill>
            <a:srgbClr val="E6F1F7"/>
          </a:solidFill>
          <a:ln w="12700">
            <a:solidFill>
              <a:srgbClr val="E6F1F7"/>
            </a:solidFill>
            <a:prstDash val="solid"/>
          </a:ln>
        </p:spPr>
      </p:sp>
      <p:sp>
        <p:nvSpPr>
          <p:cNvPr id="15" name="Shape 11"/>
          <p:cNvSpPr/>
          <p:nvPr/>
        </p:nvSpPr>
        <p:spPr>
          <a:xfrm>
            <a:off x="6324600" y="4453128"/>
            <a:ext cx="502920" cy="502920"/>
          </a:xfrm>
          <a:prstGeom prst="ellipse">
            <a:avLst/>
          </a:prstGeom>
          <a:solidFill>
            <a:srgbClr val="065A82"/>
          </a:solidFill>
          <a:ln w="12700">
            <a:solidFill>
              <a:srgbClr val="065A82"/>
            </a:solidFill>
            <a:prstDash val="solid"/>
          </a:ln>
        </p:spPr>
      </p:sp>
      <p:sp>
        <p:nvSpPr>
          <p:cNvPr id="16" name="Text 12"/>
          <p:cNvSpPr txBox="1"/>
          <p:nvPr/>
        </p:nvSpPr>
        <p:spPr>
          <a:xfrm>
            <a:off x="6324600" y="44531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7" name="Text 13"/>
          <p:cNvSpPr txBox="1"/>
          <p:nvPr/>
        </p:nvSpPr>
        <p:spPr>
          <a:xfrm>
            <a:off x="6937248" y="4325112"/>
            <a:ext cx="1764792" cy="768096"/>
          </a:xfrm>
          <a:prstGeom prst="rect">
            <a:avLst/>
          </a:prstGeom>
          <a:noFill/>
          <a:ln/>
        </p:spPr>
        <p:txBody>
          <a:bodyPr wrap="square" lIns="0" tIns="0" rIns="0" bIns="0" rtlCol="0" anchor="ctr"/>
          <a:lstStyle/>
          <a:p>
            <a:pPr indent="0" marL="0">
              <a:buNone/>
            </a:pPr>
            <a:r>
              <a:rPr lang="en-US" sz="1200" b="1" dirty="0">
                <a:solidFill>
                  <a:srgbClr val="21295C"/>
                </a:solidFill>
                <a:latin typeface="Meiryo" pitchFamily="34" charset="0"/>
                <a:ea typeface="Meiryo" pitchFamily="34" charset="-122"/>
                <a:cs typeface="Meiryo" pitchFamily="34" charset="-120"/>
              </a:rPr>
              <a:t>事実と意見を分ける・数字で書く</a:t>
            </a:r>
            <a:endParaRPr lang="en-US" sz="1200" dirty="0"/>
          </a:p>
        </p:txBody>
      </p:sp>
      <p:sp>
        <p:nvSpPr>
          <p:cNvPr id="18" name="Shape 14"/>
          <p:cNvSpPr/>
          <p:nvPr/>
        </p:nvSpPr>
        <p:spPr>
          <a:xfrm>
            <a:off x="9006840" y="4251960"/>
            <a:ext cx="2606040" cy="914400"/>
          </a:xfrm>
          <a:prstGeom prst="roundRect">
            <a:avLst>
              <a:gd name="adj" fmla="val 12000"/>
            </a:avLst>
          </a:prstGeom>
          <a:solidFill>
            <a:srgbClr val="E6F1F7"/>
          </a:solidFill>
          <a:ln w="12700">
            <a:solidFill>
              <a:srgbClr val="E6F1F7"/>
            </a:solidFill>
            <a:prstDash val="solid"/>
          </a:ln>
        </p:spPr>
      </p:sp>
      <p:sp>
        <p:nvSpPr>
          <p:cNvPr id="19" name="Shape 15"/>
          <p:cNvSpPr/>
          <p:nvPr/>
        </p:nvSpPr>
        <p:spPr>
          <a:xfrm>
            <a:off x="9144000" y="4453128"/>
            <a:ext cx="502920" cy="502920"/>
          </a:xfrm>
          <a:prstGeom prst="ellipse">
            <a:avLst/>
          </a:prstGeom>
          <a:solidFill>
            <a:srgbClr val="065A82"/>
          </a:solidFill>
          <a:ln w="12700">
            <a:solidFill>
              <a:srgbClr val="065A82"/>
            </a:solidFill>
            <a:prstDash val="solid"/>
          </a:ln>
        </p:spPr>
      </p:sp>
      <p:sp>
        <p:nvSpPr>
          <p:cNvPr id="20" name="Text 16"/>
          <p:cNvSpPr txBox="1"/>
          <p:nvPr/>
        </p:nvSpPr>
        <p:spPr>
          <a:xfrm>
            <a:off x="9144000" y="44531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1" name="Text 17"/>
          <p:cNvSpPr txBox="1"/>
          <p:nvPr/>
        </p:nvSpPr>
        <p:spPr>
          <a:xfrm>
            <a:off x="9756648" y="4325112"/>
            <a:ext cx="1764792" cy="768096"/>
          </a:xfrm>
          <a:prstGeom prst="rect">
            <a:avLst/>
          </a:prstGeom>
          <a:noFill/>
          <a:ln/>
        </p:spPr>
        <p:txBody>
          <a:bodyPr wrap="square" lIns="0" tIns="0" rIns="0" bIns="0" rtlCol="0" anchor="ctr"/>
          <a:lstStyle/>
          <a:p>
            <a:pPr indent="0" marL="0">
              <a:buNone/>
            </a:pPr>
            <a:r>
              <a:rPr lang="en-US" sz="1200" b="1" dirty="0">
                <a:solidFill>
                  <a:srgbClr val="21295C"/>
                </a:solidFill>
                <a:latin typeface="Meiryo" pitchFamily="34" charset="0"/>
                <a:ea typeface="Meiryo" pitchFamily="34" charset="-122"/>
                <a:cs typeface="Meiryo" pitchFamily="34" charset="-120"/>
              </a:rPr>
              <a:t>文書の型と構造：報告・連絡</a:t>
            </a:r>
            <a:endParaRPr lang="en-US" sz="1200" dirty="0"/>
          </a:p>
        </p:txBody>
      </p:sp>
      <p:sp>
        <p:nvSpPr>
          <p:cNvPr id="22" name="Shape 18"/>
          <p:cNvSpPr/>
          <p:nvPr/>
        </p:nvSpPr>
        <p:spPr>
          <a:xfrm>
            <a:off x="548640" y="5303520"/>
            <a:ext cx="2606040" cy="914400"/>
          </a:xfrm>
          <a:prstGeom prst="roundRect">
            <a:avLst>
              <a:gd name="adj" fmla="val 12000"/>
            </a:avLst>
          </a:prstGeom>
          <a:solidFill>
            <a:srgbClr val="E6F1F7"/>
          </a:solidFill>
          <a:ln w="12700">
            <a:solidFill>
              <a:srgbClr val="E6F1F7"/>
            </a:solidFill>
            <a:prstDash val="solid"/>
          </a:ln>
        </p:spPr>
      </p:sp>
      <p:sp>
        <p:nvSpPr>
          <p:cNvPr id="23" name="Shape 19"/>
          <p:cNvSpPr/>
          <p:nvPr/>
        </p:nvSpPr>
        <p:spPr>
          <a:xfrm>
            <a:off x="685800" y="5504688"/>
            <a:ext cx="502920" cy="502920"/>
          </a:xfrm>
          <a:prstGeom prst="ellipse">
            <a:avLst/>
          </a:prstGeom>
          <a:solidFill>
            <a:srgbClr val="065A82"/>
          </a:solidFill>
          <a:ln w="12700">
            <a:solidFill>
              <a:srgbClr val="065A82"/>
            </a:solidFill>
            <a:prstDash val="solid"/>
          </a:ln>
        </p:spPr>
      </p:sp>
      <p:sp>
        <p:nvSpPr>
          <p:cNvPr id="24" name="Text 20"/>
          <p:cNvSpPr txBox="1"/>
          <p:nvPr/>
        </p:nvSpPr>
        <p:spPr>
          <a:xfrm>
            <a:off x="685800" y="55046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5</a:t>
            </a:r>
            <a:endParaRPr lang="en-US" sz="1600" dirty="0"/>
          </a:p>
        </p:txBody>
      </p:sp>
      <p:sp>
        <p:nvSpPr>
          <p:cNvPr id="25" name="Text 21"/>
          <p:cNvSpPr txBox="1"/>
          <p:nvPr/>
        </p:nvSpPr>
        <p:spPr>
          <a:xfrm>
            <a:off x="1298448" y="5376672"/>
            <a:ext cx="1764792" cy="768096"/>
          </a:xfrm>
          <a:prstGeom prst="rect">
            <a:avLst/>
          </a:prstGeom>
          <a:noFill/>
          <a:ln/>
        </p:spPr>
        <p:txBody>
          <a:bodyPr wrap="square" lIns="0" tIns="0" rIns="0" bIns="0" rtlCol="0" anchor="ctr"/>
          <a:lstStyle/>
          <a:p>
            <a:pPr indent="0" marL="0">
              <a:buNone/>
            </a:pPr>
            <a:r>
              <a:rPr lang="en-US" sz="1200" b="1" dirty="0">
                <a:solidFill>
                  <a:srgbClr val="21295C"/>
                </a:solidFill>
                <a:latin typeface="Meiryo" pitchFamily="34" charset="0"/>
                <a:ea typeface="Meiryo" pitchFamily="34" charset="-122"/>
                <a:cs typeface="Meiryo" pitchFamily="34" charset="-120"/>
              </a:rPr>
              <a:t>仮説入り相談とサポート依頼</a:t>
            </a:r>
            <a:endParaRPr lang="en-US" sz="1200" dirty="0"/>
          </a:p>
        </p:txBody>
      </p:sp>
      <p:sp>
        <p:nvSpPr>
          <p:cNvPr id="26" name="Shape 22"/>
          <p:cNvSpPr/>
          <p:nvPr/>
        </p:nvSpPr>
        <p:spPr>
          <a:xfrm>
            <a:off x="3368040" y="5303520"/>
            <a:ext cx="2606040" cy="914400"/>
          </a:xfrm>
          <a:prstGeom prst="roundRect">
            <a:avLst>
              <a:gd name="adj" fmla="val 12000"/>
            </a:avLst>
          </a:prstGeom>
          <a:solidFill>
            <a:srgbClr val="E6F1F7"/>
          </a:solidFill>
          <a:ln w="12700">
            <a:solidFill>
              <a:srgbClr val="E6F1F7"/>
            </a:solidFill>
            <a:prstDash val="solid"/>
          </a:ln>
        </p:spPr>
      </p:sp>
      <p:sp>
        <p:nvSpPr>
          <p:cNvPr id="27" name="Shape 23"/>
          <p:cNvSpPr/>
          <p:nvPr/>
        </p:nvSpPr>
        <p:spPr>
          <a:xfrm>
            <a:off x="3505200" y="5504688"/>
            <a:ext cx="502920" cy="502920"/>
          </a:xfrm>
          <a:prstGeom prst="ellipse">
            <a:avLst/>
          </a:prstGeom>
          <a:solidFill>
            <a:srgbClr val="065A82"/>
          </a:solidFill>
          <a:ln w="12700">
            <a:solidFill>
              <a:srgbClr val="065A82"/>
            </a:solidFill>
            <a:prstDash val="solid"/>
          </a:ln>
        </p:spPr>
      </p:sp>
      <p:sp>
        <p:nvSpPr>
          <p:cNvPr id="28" name="Text 24"/>
          <p:cNvSpPr txBox="1"/>
          <p:nvPr/>
        </p:nvSpPr>
        <p:spPr>
          <a:xfrm>
            <a:off x="3505200" y="55046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6</a:t>
            </a:r>
            <a:endParaRPr lang="en-US" sz="1600" dirty="0"/>
          </a:p>
        </p:txBody>
      </p:sp>
      <p:sp>
        <p:nvSpPr>
          <p:cNvPr id="29" name="Text 25"/>
          <p:cNvSpPr txBox="1"/>
          <p:nvPr/>
        </p:nvSpPr>
        <p:spPr>
          <a:xfrm>
            <a:off x="4117848" y="5376672"/>
            <a:ext cx="1764792" cy="768096"/>
          </a:xfrm>
          <a:prstGeom prst="rect">
            <a:avLst/>
          </a:prstGeom>
          <a:noFill/>
          <a:ln/>
        </p:spPr>
        <p:txBody>
          <a:bodyPr wrap="square" lIns="0" tIns="0" rIns="0" bIns="0" rtlCol="0" anchor="ctr"/>
          <a:lstStyle/>
          <a:p>
            <a:pPr indent="0" marL="0">
              <a:buNone/>
            </a:pPr>
            <a:r>
              <a:rPr lang="en-US" sz="1200" b="1" dirty="0">
                <a:solidFill>
                  <a:srgbClr val="21295C"/>
                </a:solidFill>
                <a:latin typeface="Meiryo" pitchFamily="34" charset="0"/>
                <a:ea typeface="Meiryo" pitchFamily="34" charset="-122"/>
                <a:cs typeface="Meiryo" pitchFamily="34" charset="-120"/>
              </a:rPr>
              <a:t>進捗報告と日報</a:t>
            </a:r>
            <a:endParaRPr lang="en-US" sz="1200" dirty="0"/>
          </a:p>
        </p:txBody>
      </p:sp>
      <p:sp>
        <p:nvSpPr>
          <p:cNvPr id="30" name="Shape 26"/>
          <p:cNvSpPr/>
          <p:nvPr/>
        </p:nvSpPr>
        <p:spPr>
          <a:xfrm>
            <a:off x="6187440" y="5303520"/>
            <a:ext cx="2606040" cy="914400"/>
          </a:xfrm>
          <a:prstGeom prst="roundRect">
            <a:avLst>
              <a:gd name="adj" fmla="val 12000"/>
            </a:avLst>
          </a:prstGeom>
          <a:solidFill>
            <a:srgbClr val="FDEBDD"/>
          </a:solidFill>
          <a:ln w="12700">
            <a:solidFill>
              <a:srgbClr val="FDEBDD"/>
            </a:solidFill>
            <a:prstDash val="solid"/>
          </a:ln>
        </p:spPr>
      </p:sp>
      <p:sp>
        <p:nvSpPr>
          <p:cNvPr id="31" name="Shape 27"/>
          <p:cNvSpPr/>
          <p:nvPr/>
        </p:nvSpPr>
        <p:spPr>
          <a:xfrm>
            <a:off x="6324600" y="5504688"/>
            <a:ext cx="502920" cy="502920"/>
          </a:xfrm>
          <a:prstGeom prst="ellipse">
            <a:avLst/>
          </a:prstGeom>
          <a:solidFill>
            <a:srgbClr val="F2994A"/>
          </a:solidFill>
          <a:ln w="12700">
            <a:solidFill>
              <a:srgbClr val="F2994A"/>
            </a:solidFill>
            <a:prstDash val="solid"/>
          </a:ln>
        </p:spPr>
      </p:sp>
      <p:sp>
        <p:nvSpPr>
          <p:cNvPr id="32" name="Text 28"/>
          <p:cNvSpPr txBox="1"/>
          <p:nvPr/>
        </p:nvSpPr>
        <p:spPr>
          <a:xfrm>
            <a:off x="6324600" y="55046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7</a:t>
            </a:r>
            <a:endParaRPr lang="en-US" sz="1600" dirty="0"/>
          </a:p>
        </p:txBody>
      </p:sp>
      <p:sp>
        <p:nvSpPr>
          <p:cNvPr id="33" name="Text 29"/>
          <p:cNvSpPr txBox="1"/>
          <p:nvPr/>
        </p:nvSpPr>
        <p:spPr>
          <a:xfrm>
            <a:off x="6937248" y="5376672"/>
            <a:ext cx="1764792" cy="768096"/>
          </a:xfrm>
          <a:prstGeom prst="rect">
            <a:avLst/>
          </a:prstGeom>
          <a:noFill/>
          <a:ln/>
        </p:spPr>
        <p:txBody>
          <a:bodyPr wrap="square" lIns="0" tIns="0" rIns="0" bIns="0" rtlCol="0" anchor="ctr"/>
          <a:lstStyle/>
          <a:p>
            <a:pPr indent="0" marL="0">
              <a:buNone/>
            </a:pPr>
            <a:r>
              <a:rPr lang="en-US" sz="1200" b="1" dirty="0">
                <a:solidFill>
                  <a:srgbClr val="21295C"/>
                </a:solidFill>
                <a:latin typeface="Meiryo" pitchFamily="34" charset="0"/>
                <a:ea typeface="Meiryo" pitchFamily="34" charset="-122"/>
                <a:cs typeface="Meiryo" pitchFamily="34" charset="-120"/>
              </a:rPr>
              <a:t>山場：場面判断と書き直し演習</a:t>
            </a:r>
            <a:endParaRPr lang="en-US" sz="1200" dirty="0"/>
          </a:p>
        </p:txBody>
      </p:sp>
      <p:sp>
        <p:nvSpPr>
          <p:cNvPr id="34" name="Shape 30"/>
          <p:cNvSpPr/>
          <p:nvPr/>
        </p:nvSpPr>
        <p:spPr>
          <a:xfrm>
            <a:off x="9006840" y="5303520"/>
            <a:ext cx="2606040" cy="914400"/>
          </a:xfrm>
          <a:prstGeom prst="roundRect">
            <a:avLst>
              <a:gd name="adj" fmla="val 12000"/>
            </a:avLst>
          </a:prstGeom>
          <a:solidFill>
            <a:srgbClr val="E6F1F7"/>
          </a:solidFill>
          <a:ln w="12700">
            <a:solidFill>
              <a:srgbClr val="E6F1F7"/>
            </a:solidFill>
            <a:prstDash val="solid"/>
          </a:ln>
        </p:spPr>
      </p:sp>
      <p:sp>
        <p:nvSpPr>
          <p:cNvPr id="35" name="Shape 31"/>
          <p:cNvSpPr/>
          <p:nvPr/>
        </p:nvSpPr>
        <p:spPr>
          <a:xfrm>
            <a:off x="9144000" y="5504688"/>
            <a:ext cx="502920" cy="502920"/>
          </a:xfrm>
          <a:prstGeom prst="ellipse">
            <a:avLst/>
          </a:prstGeom>
          <a:solidFill>
            <a:srgbClr val="065A82"/>
          </a:solidFill>
          <a:ln w="12700">
            <a:solidFill>
              <a:srgbClr val="065A82"/>
            </a:solidFill>
            <a:prstDash val="solid"/>
          </a:ln>
        </p:spPr>
      </p:sp>
      <p:sp>
        <p:nvSpPr>
          <p:cNvPr id="36" name="Text 32"/>
          <p:cNvSpPr txBox="1"/>
          <p:nvPr/>
        </p:nvSpPr>
        <p:spPr>
          <a:xfrm>
            <a:off x="9144000" y="55046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8</a:t>
            </a:r>
            <a:endParaRPr lang="en-US" sz="1600" dirty="0"/>
          </a:p>
        </p:txBody>
      </p:sp>
      <p:sp>
        <p:nvSpPr>
          <p:cNvPr id="37" name="Text 33"/>
          <p:cNvSpPr txBox="1"/>
          <p:nvPr/>
        </p:nvSpPr>
        <p:spPr>
          <a:xfrm>
            <a:off x="9756648" y="5376672"/>
            <a:ext cx="1764792" cy="768096"/>
          </a:xfrm>
          <a:prstGeom prst="rect">
            <a:avLst/>
          </a:prstGeom>
          <a:noFill/>
          <a:ln/>
        </p:spPr>
        <p:txBody>
          <a:bodyPr wrap="square" lIns="0" tIns="0" rIns="0" bIns="0" rtlCol="0" anchor="ctr"/>
          <a:lstStyle/>
          <a:p>
            <a:pPr indent="0" marL="0">
              <a:buNone/>
            </a:pPr>
            <a:r>
              <a:rPr lang="en-US" sz="1200" b="1" dirty="0">
                <a:solidFill>
                  <a:srgbClr val="21295C"/>
                </a:solidFill>
                <a:latin typeface="Meiryo" pitchFamily="34" charset="0"/>
                <a:ea typeface="Meiryo" pitchFamily="34" charset="-122"/>
                <a:cs typeface="Meiryo" pitchFamily="34" charset="-120"/>
              </a:rPr>
              <a:t>仕上げ：セルフチェックと次の一歩</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STEP1｜なぜ書き方で伝わり方が変わる？</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2926080" cy="4663440"/>
          </a:xfrm>
          <a:prstGeom prst="roundRect">
            <a:avLst>
              <a:gd name="adj" fmla="val 3750"/>
            </a:avLst>
          </a:prstGeom>
          <a:solidFill>
            <a:srgbClr val="21295C"/>
          </a:solidFill>
          <a:ln w="12700">
            <a:solidFill>
              <a:srgbClr val="21295C"/>
            </a:solidFill>
            <a:prstDash val="solid"/>
          </a:ln>
        </p:spPr>
      </p:sp>
      <p:sp>
        <p:nvSpPr>
          <p:cNvPr id="6" name="Text 3"/>
          <p:cNvSpPr txBox="1"/>
          <p:nvPr/>
        </p:nvSpPr>
        <p:spPr>
          <a:xfrm>
            <a:off x="548640" y="1554480"/>
            <a:ext cx="2926080" cy="365760"/>
          </a:xfrm>
          <a:prstGeom prst="rect">
            <a:avLst/>
          </a:prstGeom>
          <a:noFill/>
          <a:ln/>
        </p:spPr>
        <p:txBody>
          <a:bodyPr wrap="square" lIns="0" tIns="0" rIns="0" bIns="0" rtlCol="0" anchor="t"/>
          <a:lstStyle/>
          <a:p>
            <a:pPr algn="ctr" indent="0" marL="0">
              <a:buNone/>
            </a:pPr>
            <a:r>
              <a:rPr lang="en-US" sz="1600" dirty="0">
                <a:solidFill>
                  <a:srgbClr val="BFE3F0"/>
                </a:solidFill>
                <a:latin typeface="Meiryo" pitchFamily="34" charset="0"/>
                <a:ea typeface="Meiryo" pitchFamily="34" charset="-122"/>
                <a:cs typeface="Meiryo" pitchFamily="34" charset="-120"/>
              </a:rPr>
              <a:t>STEP</a:t>
            </a:r>
            <a:endParaRPr lang="en-US" sz="1600" dirty="0"/>
          </a:p>
        </p:txBody>
      </p:sp>
      <p:sp>
        <p:nvSpPr>
          <p:cNvPr id="7" name="Text 4"/>
          <p:cNvSpPr txBox="1"/>
          <p:nvPr/>
        </p:nvSpPr>
        <p:spPr>
          <a:xfrm>
            <a:off x="548640" y="1920240"/>
            <a:ext cx="2926080" cy="1188720"/>
          </a:xfrm>
          <a:prstGeom prst="rect">
            <a:avLst/>
          </a:prstGeom>
          <a:noFill/>
          <a:ln/>
        </p:spPr>
        <p:txBody>
          <a:bodyPr wrap="square" lIns="0" tIns="0" rIns="0" bIns="0" rtlCol="0" anchor="t"/>
          <a:lstStyle/>
          <a:p>
            <a:pPr algn="ctr" indent="0" marL="0">
              <a:buNone/>
            </a:pPr>
            <a:r>
              <a:rPr lang="en-US" sz="7200" b="1" dirty="0">
                <a:solidFill>
                  <a:srgbClr val="FFFFFF"/>
                </a:solidFill>
                <a:latin typeface="Meiryo" pitchFamily="34" charset="0"/>
                <a:ea typeface="Meiryo" pitchFamily="34" charset="-122"/>
                <a:cs typeface="Meiryo" pitchFamily="34" charset="-120"/>
              </a:rPr>
              <a:t>1</a:t>
            </a:r>
            <a:endParaRPr lang="en-US" sz="7200" dirty="0"/>
          </a:p>
        </p:txBody>
      </p:sp>
      <p:sp>
        <p:nvSpPr>
          <p:cNvPr id="8" name="Text 5"/>
          <p:cNvSpPr txBox="1"/>
          <p:nvPr/>
        </p:nvSpPr>
        <p:spPr>
          <a:xfrm>
            <a:off x="548640" y="3291840"/>
            <a:ext cx="292608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Meiryo" pitchFamily="34" charset="0"/>
                <a:ea typeface="Meiryo" pitchFamily="34" charset="-122"/>
                <a:cs typeface="Meiryo" pitchFamily="34" charset="-120"/>
              </a:rPr>
              <a:t>難易度 1 / 9</a:t>
            </a:r>
            <a:endParaRPr lang="en-US" sz="1600" dirty="0"/>
          </a:p>
        </p:txBody>
      </p:sp>
      <p:sp>
        <p:nvSpPr>
          <p:cNvPr id="9" name="Shape 6"/>
          <p:cNvSpPr/>
          <p:nvPr/>
        </p:nvSpPr>
        <p:spPr>
          <a:xfrm>
            <a:off x="868680" y="3794760"/>
            <a:ext cx="182880" cy="182880"/>
          </a:xfrm>
          <a:prstGeom prst="ellipse">
            <a:avLst/>
          </a:prstGeom>
          <a:solidFill>
            <a:srgbClr val="065A82"/>
          </a:solidFill>
          <a:ln w="12700">
            <a:solidFill>
              <a:srgbClr val="065A82"/>
            </a:solidFill>
            <a:prstDash val="solid"/>
          </a:ln>
        </p:spPr>
      </p:sp>
      <p:sp>
        <p:nvSpPr>
          <p:cNvPr id="10" name="Shape 7"/>
          <p:cNvSpPr/>
          <p:nvPr/>
        </p:nvSpPr>
        <p:spPr>
          <a:xfrm>
            <a:off x="1115568" y="3794760"/>
            <a:ext cx="182880" cy="182880"/>
          </a:xfrm>
          <a:prstGeom prst="ellipse">
            <a:avLst/>
          </a:prstGeom>
          <a:solidFill>
            <a:srgbClr val="4B5A86"/>
          </a:solidFill>
          <a:ln w="12700">
            <a:solidFill>
              <a:srgbClr val="4B5A86"/>
            </a:solidFill>
            <a:prstDash val="solid"/>
          </a:ln>
        </p:spPr>
      </p:sp>
      <p:sp>
        <p:nvSpPr>
          <p:cNvPr id="11" name="Shape 8"/>
          <p:cNvSpPr/>
          <p:nvPr/>
        </p:nvSpPr>
        <p:spPr>
          <a:xfrm>
            <a:off x="1362456" y="3794760"/>
            <a:ext cx="182880" cy="182880"/>
          </a:xfrm>
          <a:prstGeom prst="ellipse">
            <a:avLst/>
          </a:prstGeom>
          <a:solidFill>
            <a:srgbClr val="4B5A86"/>
          </a:solidFill>
          <a:ln w="12700">
            <a:solidFill>
              <a:srgbClr val="4B5A86"/>
            </a:solidFill>
            <a:prstDash val="solid"/>
          </a:ln>
        </p:spPr>
      </p:sp>
      <p:sp>
        <p:nvSpPr>
          <p:cNvPr id="12" name="Shape 9"/>
          <p:cNvSpPr/>
          <p:nvPr/>
        </p:nvSpPr>
        <p:spPr>
          <a:xfrm>
            <a:off x="1609344" y="3794760"/>
            <a:ext cx="182880" cy="182880"/>
          </a:xfrm>
          <a:prstGeom prst="ellipse">
            <a:avLst/>
          </a:prstGeom>
          <a:solidFill>
            <a:srgbClr val="4B5A86"/>
          </a:solidFill>
          <a:ln w="12700">
            <a:solidFill>
              <a:srgbClr val="4B5A86"/>
            </a:solidFill>
            <a:prstDash val="solid"/>
          </a:ln>
        </p:spPr>
      </p:sp>
      <p:sp>
        <p:nvSpPr>
          <p:cNvPr id="13" name="Shape 10"/>
          <p:cNvSpPr/>
          <p:nvPr/>
        </p:nvSpPr>
        <p:spPr>
          <a:xfrm>
            <a:off x="1856232" y="3794760"/>
            <a:ext cx="182880" cy="182880"/>
          </a:xfrm>
          <a:prstGeom prst="ellipse">
            <a:avLst/>
          </a:prstGeom>
          <a:solidFill>
            <a:srgbClr val="4B5A86"/>
          </a:solidFill>
          <a:ln w="12700">
            <a:solidFill>
              <a:srgbClr val="4B5A86"/>
            </a:solidFill>
            <a:prstDash val="solid"/>
          </a:ln>
        </p:spPr>
      </p:sp>
      <p:sp>
        <p:nvSpPr>
          <p:cNvPr id="14" name="Shape 11"/>
          <p:cNvSpPr/>
          <p:nvPr/>
        </p:nvSpPr>
        <p:spPr>
          <a:xfrm>
            <a:off x="2103120" y="3794760"/>
            <a:ext cx="182880" cy="182880"/>
          </a:xfrm>
          <a:prstGeom prst="ellipse">
            <a:avLst/>
          </a:prstGeom>
          <a:solidFill>
            <a:srgbClr val="4B5A86"/>
          </a:solidFill>
          <a:ln w="12700">
            <a:solidFill>
              <a:srgbClr val="4B5A86"/>
            </a:solidFill>
            <a:prstDash val="solid"/>
          </a:ln>
        </p:spPr>
      </p:sp>
      <p:sp>
        <p:nvSpPr>
          <p:cNvPr id="15" name="Shape 12"/>
          <p:cNvSpPr/>
          <p:nvPr/>
        </p:nvSpPr>
        <p:spPr>
          <a:xfrm>
            <a:off x="2350008" y="3794760"/>
            <a:ext cx="182880" cy="182880"/>
          </a:xfrm>
          <a:prstGeom prst="ellipse">
            <a:avLst/>
          </a:prstGeom>
          <a:solidFill>
            <a:srgbClr val="4B5A86"/>
          </a:solidFill>
          <a:ln w="12700">
            <a:solidFill>
              <a:srgbClr val="4B5A86"/>
            </a:solidFill>
            <a:prstDash val="solid"/>
          </a:ln>
        </p:spPr>
      </p:sp>
      <p:sp>
        <p:nvSpPr>
          <p:cNvPr id="16" name="Shape 13"/>
          <p:cNvSpPr/>
          <p:nvPr/>
        </p:nvSpPr>
        <p:spPr>
          <a:xfrm>
            <a:off x="2596896" y="3794760"/>
            <a:ext cx="182880" cy="182880"/>
          </a:xfrm>
          <a:prstGeom prst="ellipse">
            <a:avLst/>
          </a:prstGeom>
          <a:solidFill>
            <a:srgbClr val="4B5A86"/>
          </a:solidFill>
          <a:ln w="12700">
            <a:solidFill>
              <a:srgbClr val="4B5A86"/>
            </a:solidFill>
            <a:prstDash val="solid"/>
          </a:ln>
        </p:spPr>
      </p:sp>
      <p:sp>
        <p:nvSpPr>
          <p:cNvPr id="17" name="Shape 14"/>
          <p:cNvSpPr/>
          <p:nvPr/>
        </p:nvSpPr>
        <p:spPr>
          <a:xfrm>
            <a:off x="2843784" y="3794760"/>
            <a:ext cx="182880" cy="182880"/>
          </a:xfrm>
          <a:prstGeom prst="ellipse">
            <a:avLst/>
          </a:prstGeom>
          <a:solidFill>
            <a:srgbClr val="4B5A86"/>
          </a:solidFill>
          <a:ln w="12700">
            <a:solidFill>
              <a:srgbClr val="4B5A86"/>
            </a:solidFill>
            <a:prstDash val="solid"/>
          </a:ln>
        </p:spPr>
      </p:sp>
      <p:sp>
        <p:nvSpPr>
          <p:cNvPr id="18" name="Text 15"/>
          <p:cNvSpPr txBox="1"/>
          <p:nvPr/>
        </p:nvSpPr>
        <p:spPr>
          <a:xfrm>
            <a:off x="548640" y="4297680"/>
            <a:ext cx="2926080" cy="365760"/>
          </a:xfrm>
          <a:prstGeom prst="rect">
            <a:avLst/>
          </a:prstGeom>
          <a:noFill/>
          <a:ln/>
        </p:spPr>
        <p:txBody>
          <a:bodyPr wrap="square" lIns="0" tIns="0" rIns="0" bIns="0" rtlCol="0" anchor="t"/>
          <a:lstStyle/>
          <a:p>
            <a:pPr algn="ctr" indent="0" marL="0">
              <a:buNone/>
            </a:pPr>
            <a:r>
              <a:rPr lang="en-US" sz="1400" dirty="0">
                <a:solidFill>
                  <a:srgbClr val="BFE3F0"/>
                </a:solidFill>
                <a:latin typeface="Meiryo" pitchFamily="34" charset="0"/>
                <a:ea typeface="Meiryo" pitchFamily="34" charset="-122"/>
                <a:cs typeface="Meiryo" pitchFamily="34" charset="-120"/>
              </a:rPr>
              <a:t>動画の目安：約8分</a:t>
            </a:r>
            <a:endParaRPr lang="en-US" sz="1400" dirty="0"/>
          </a:p>
        </p:txBody>
      </p:sp>
      <p:sp>
        <p:nvSpPr>
          <p:cNvPr id="19" name="Shape 16"/>
          <p:cNvSpPr/>
          <p:nvPr/>
        </p:nvSpPr>
        <p:spPr>
          <a:xfrm>
            <a:off x="3749040" y="1371600"/>
            <a:ext cx="7863840" cy="2240280"/>
          </a:xfrm>
          <a:prstGeom prst="roundRect">
            <a:avLst>
              <a:gd name="adj" fmla="val 4898"/>
            </a:avLst>
          </a:prstGeom>
          <a:solidFill>
            <a:srgbClr val="E6F1F7"/>
          </a:solidFill>
          <a:ln w="12700">
            <a:solidFill>
              <a:srgbClr val="E6F1F7"/>
            </a:solidFill>
            <a:prstDash val="solid"/>
          </a:ln>
        </p:spPr>
      </p:sp>
      <p:sp>
        <p:nvSpPr>
          <p:cNvPr id="20" name="Text 17"/>
          <p:cNvSpPr txBox="1"/>
          <p:nvPr/>
        </p:nvSpPr>
        <p:spPr>
          <a:xfrm>
            <a:off x="4023360" y="1508760"/>
            <a:ext cx="7315200" cy="365760"/>
          </a:xfrm>
          <a:prstGeom prst="rect">
            <a:avLst/>
          </a:prstGeom>
          <a:noFill/>
          <a:ln/>
        </p:spPr>
        <p:txBody>
          <a:bodyPr wrap="square" lIns="0" tIns="0" rIns="0" bIns="0" rtlCol="0" anchor="t"/>
          <a:lstStyle/>
          <a:p>
            <a:pPr indent="0" marL="0">
              <a:buNone/>
            </a:pPr>
            <a:r>
              <a:rPr lang="en-US" sz="1600" b="1" dirty="0">
                <a:solidFill>
                  <a:srgbClr val="065A82"/>
                </a:solidFill>
                <a:latin typeface="Meiryo" pitchFamily="34" charset="0"/>
                <a:ea typeface="Meiryo" pitchFamily="34" charset="-122"/>
                <a:cs typeface="Meiryo" pitchFamily="34" charset="-120"/>
              </a:rPr>
              <a:t>学ぶこと</a:t>
            </a:r>
            <a:endParaRPr lang="en-US" sz="1600" dirty="0"/>
          </a:p>
        </p:txBody>
      </p:sp>
      <p:sp>
        <p:nvSpPr>
          <p:cNvPr id="21" name="Text 18"/>
          <p:cNvSpPr txBox="1"/>
          <p:nvPr/>
        </p:nvSpPr>
        <p:spPr>
          <a:xfrm>
            <a:off x="4023360" y="1965960"/>
            <a:ext cx="731520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伝わらない原因は、内容より「順番」と「書き方」にある</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よくある4つの原因を知る</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Before→Afterで、差を体感する</a:t>
            </a:r>
            <a:endParaRPr lang="en-US" sz="1500" dirty="0"/>
          </a:p>
        </p:txBody>
      </p:sp>
      <p:sp>
        <p:nvSpPr>
          <p:cNvPr id="22" name="Shape 19"/>
          <p:cNvSpPr/>
          <p:nvPr/>
        </p:nvSpPr>
        <p:spPr>
          <a:xfrm>
            <a:off x="3749040" y="3749040"/>
            <a:ext cx="7863840" cy="1097280"/>
          </a:xfrm>
          <a:prstGeom prst="roundRect">
            <a:avLst>
              <a:gd name="adj" fmla="val 10000"/>
            </a:avLst>
          </a:prstGeom>
          <a:solidFill>
            <a:srgbClr val="EEF3F6"/>
          </a:solidFill>
          <a:ln w="12700">
            <a:solidFill>
              <a:srgbClr val="EEF3F6"/>
            </a:solidFill>
            <a:prstDash val="solid"/>
          </a:ln>
        </p:spPr>
      </p:sp>
      <p:sp>
        <p:nvSpPr>
          <p:cNvPr id="23" name="Text 20"/>
          <p:cNvSpPr txBox="1"/>
          <p:nvPr/>
        </p:nvSpPr>
        <p:spPr>
          <a:xfrm>
            <a:off x="4023360" y="384048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やってみよう</a:t>
            </a:r>
            <a:endParaRPr lang="en-US" sz="1400" dirty="0"/>
          </a:p>
        </p:txBody>
      </p:sp>
      <p:sp>
        <p:nvSpPr>
          <p:cNvPr id="24" name="Text 21"/>
          <p:cNvSpPr txBox="1"/>
          <p:nvPr/>
        </p:nvSpPr>
        <p:spPr>
          <a:xfrm>
            <a:off x="4023360" y="4206240"/>
            <a:ext cx="7315200" cy="59436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最近書いた報告を1つ選び、4つの原因に当てはまるか確認する</a:t>
            </a:r>
            <a:endParaRPr lang="en-US" sz="1500" dirty="0"/>
          </a:p>
        </p:txBody>
      </p:sp>
      <p:sp>
        <p:nvSpPr>
          <p:cNvPr id="25" name="Shape 22"/>
          <p:cNvSpPr/>
          <p:nvPr/>
        </p:nvSpPr>
        <p:spPr>
          <a:xfrm>
            <a:off x="3749040" y="4983480"/>
            <a:ext cx="7863840" cy="1051560"/>
          </a:xfrm>
          <a:prstGeom prst="roundRect">
            <a:avLst>
              <a:gd name="adj" fmla="val 10435"/>
            </a:avLst>
          </a:prstGeom>
          <a:solidFill>
            <a:srgbClr val="EEF3F6"/>
          </a:solidFill>
          <a:ln w="12700">
            <a:solidFill>
              <a:srgbClr val="EEF3F6"/>
            </a:solidFill>
            <a:prstDash val="solid"/>
          </a:ln>
        </p:spPr>
      </p:sp>
      <p:sp>
        <p:nvSpPr>
          <p:cNvPr id="26" name="Text 23"/>
          <p:cNvSpPr txBox="1"/>
          <p:nvPr/>
        </p:nvSpPr>
        <p:spPr>
          <a:xfrm>
            <a:off x="4023360" y="507492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できたかな？</a:t>
            </a:r>
            <a:endParaRPr lang="en-US" sz="1400" dirty="0"/>
          </a:p>
        </p:txBody>
      </p:sp>
      <p:sp>
        <p:nvSpPr>
          <p:cNvPr id="27" name="Text 24"/>
          <p:cNvSpPr txBox="1"/>
          <p:nvPr/>
        </p:nvSpPr>
        <p:spPr>
          <a:xfrm>
            <a:off x="4023360" y="5440680"/>
            <a:ext cx="7315200" cy="548640"/>
          </a:xfrm>
          <a:prstGeom prst="rect">
            <a:avLst/>
          </a:prstGeom>
          <a:noFill/>
          <a:ln/>
        </p:spPr>
        <p:txBody>
          <a:bodyPr wrap="square" lIns="0" tIns="0" rIns="0" bIns="0" rtlCol="0" anchor="t"/>
          <a:lstStyle/>
          <a:p>
            <a:pPr indent="0" marL="0">
              <a:buNone/>
            </a:pPr>
            <a:r>
              <a:rPr lang="en-US" sz="1500" b="1" dirty="0">
                <a:solidFill>
                  <a:srgbClr val="21295C"/>
                </a:solidFill>
                <a:latin typeface="Meiryo" pitchFamily="34" charset="0"/>
                <a:ea typeface="Meiryo" pitchFamily="34" charset="-122"/>
                <a:cs typeface="Meiryo" pitchFamily="34" charset="-120"/>
              </a:rPr>
              <a:t>伝わらない4つの原因を説明できる</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伝わらない4つの理由</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5394960" cy="1828800"/>
          </a:xfrm>
          <a:prstGeom prst="roundRect">
            <a:avLst>
              <a:gd name="adj" fmla="val 6000"/>
            </a:avLst>
          </a:prstGeom>
          <a:solidFill>
            <a:srgbClr val="E6F1F7"/>
          </a:solidFill>
          <a:ln w="12700">
            <a:solidFill>
              <a:srgbClr val="E6F1F7"/>
            </a:solidFill>
            <a:prstDash val="solid"/>
          </a:ln>
        </p:spPr>
      </p:sp>
      <p:sp>
        <p:nvSpPr>
          <p:cNvPr id="6" name="Shape 3"/>
          <p:cNvSpPr/>
          <p:nvPr/>
        </p:nvSpPr>
        <p:spPr>
          <a:xfrm>
            <a:off x="777240" y="1572768"/>
            <a:ext cx="502920" cy="502920"/>
          </a:xfrm>
          <a:prstGeom prst="ellipse">
            <a:avLst/>
          </a:prstGeom>
          <a:solidFill>
            <a:srgbClr val="065A82"/>
          </a:solidFill>
          <a:ln w="12700">
            <a:solidFill>
              <a:srgbClr val="065A82"/>
            </a:solidFill>
            <a:prstDash val="solid"/>
          </a:ln>
        </p:spPr>
      </p:sp>
      <p:sp>
        <p:nvSpPr>
          <p:cNvPr id="7" name="Text 4"/>
          <p:cNvSpPr txBox="1"/>
          <p:nvPr/>
        </p:nvSpPr>
        <p:spPr>
          <a:xfrm>
            <a:off x="77724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8" name="Text 5"/>
          <p:cNvSpPr txBox="1"/>
          <p:nvPr/>
        </p:nvSpPr>
        <p:spPr>
          <a:xfrm>
            <a:off x="1417320" y="1508760"/>
            <a:ext cx="4297680" cy="640080"/>
          </a:xfrm>
          <a:prstGeom prst="rect">
            <a:avLst/>
          </a:prstGeom>
          <a:noFill/>
          <a:ln/>
        </p:spPr>
        <p:txBody>
          <a:bodyPr wrap="square" lIns="0" tIns="0" rIns="0" bIns="0" rtlCol="0" anchor="ctr"/>
          <a:lstStyle/>
          <a:p>
            <a:pPr indent="0" marL="0">
              <a:buNone/>
            </a:pPr>
            <a:r>
              <a:rPr lang="en-US" sz="1800" b="1" dirty="0">
                <a:solidFill>
                  <a:srgbClr val="21295C"/>
                </a:solidFill>
                <a:latin typeface="Meiryo" pitchFamily="34" charset="0"/>
                <a:ea typeface="Meiryo" pitchFamily="34" charset="-122"/>
                <a:cs typeface="Meiryo" pitchFamily="34" charset="-120"/>
              </a:rPr>
              <a:t>結論が最後に来ている</a:t>
            </a:r>
            <a:endParaRPr lang="en-US" sz="1800" dirty="0"/>
          </a:p>
        </p:txBody>
      </p:sp>
      <p:sp>
        <p:nvSpPr>
          <p:cNvPr id="9" name="Text 6"/>
          <p:cNvSpPr txBox="1"/>
          <p:nvPr/>
        </p:nvSpPr>
        <p:spPr>
          <a:xfrm>
            <a:off x="822960" y="2240280"/>
            <a:ext cx="4846320" cy="86868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上司が途中で読むのをやめると、要点が伝わらない</a:t>
            </a:r>
            <a:endParaRPr lang="en-US" sz="1500" dirty="0"/>
          </a:p>
        </p:txBody>
      </p:sp>
      <p:sp>
        <p:nvSpPr>
          <p:cNvPr id="10" name="Shape 7"/>
          <p:cNvSpPr/>
          <p:nvPr/>
        </p:nvSpPr>
        <p:spPr>
          <a:xfrm>
            <a:off x="6217920" y="1371600"/>
            <a:ext cx="5394960" cy="1828800"/>
          </a:xfrm>
          <a:prstGeom prst="roundRect">
            <a:avLst>
              <a:gd name="adj" fmla="val 6000"/>
            </a:avLst>
          </a:prstGeom>
          <a:solidFill>
            <a:srgbClr val="E6F1F7"/>
          </a:solidFill>
          <a:ln w="12700">
            <a:solidFill>
              <a:srgbClr val="E6F1F7"/>
            </a:solidFill>
            <a:prstDash val="solid"/>
          </a:ln>
        </p:spPr>
      </p:sp>
      <p:sp>
        <p:nvSpPr>
          <p:cNvPr id="11" name="Shape 8"/>
          <p:cNvSpPr/>
          <p:nvPr/>
        </p:nvSpPr>
        <p:spPr>
          <a:xfrm>
            <a:off x="6446520" y="1572768"/>
            <a:ext cx="502920" cy="502920"/>
          </a:xfrm>
          <a:prstGeom prst="ellipse">
            <a:avLst/>
          </a:prstGeom>
          <a:solidFill>
            <a:srgbClr val="065A82"/>
          </a:solidFill>
          <a:ln w="12700">
            <a:solidFill>
              <a:srgbClr val="065A82"/>
            </a:solidFill>
            <a:prstDash val="solid"/>
          </a:ln>
        </p:spPr>
      </p:sp>
      <p:sp>
        <p:nvSpPr>
          <p:cNvPr id="12" name="Text 9"/>
          <p:cNvSpPr txBox="1"/>
          <p:nvPr/>
        </p:nvSpPr>
        <p:spPr>
          <a:xfrm>
            <a:off x="644652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3" name="Text 10"/>
          <p:cNvSpPr txBox="1"/>
          <p:nvPr/>
        </p:nvSpPr>
        <p:spPr>
          <a:xfrm>
            <a:off x="7086600" y="1508760"/>
            <a:ext cx="4297680" cy="640080"/>
          </a:xfrm>
          <a:prstGeom prst="rect">
            <a:avLst/>
          </a:prstGeom>
          <a:noFill/>
          <a:ln/>
        </p:spPr>
        <p:txBody>
          <a:bodyPr wrap="square" lIns="0" tIns="0" rIns="0" bIns="0" rtlCol="0" anchor="ctr"/>
          <a:lstStyle/>
          <a:p>
            <a:pPr indent="0" marL="0">
              <a:buNone/>
            </a:pPr>
            <a:r>
              <a:rPr lang="en-US" sz="1800" b="1" dirty="0">
                <a:solidFill>
                  <a:srgbClr val="21295C"/>
                </a:solidFill>
                <a:latin typeface="Meiryo" pitchFamily="34" charset="0"/>
                <a:ea typeface="Meiryo" pitchFamily="34" charset="-122"/>
                <a:cs typeface="Meiryo" pitchFamily="34" charset="-120"/>
              </a:rPr>
              <a:t>事実と推測が混ざっている</a:t>
            </a:r>
            <a:endParaRPr lang="en-US" sz="1800" dirty="0"/>
          </a:p>
        </p:txBody>
      </p:sp>
      <p:sp>
        <p:nvSpPr>
          <p:cNvPr id="14" name="Text 11"/>
          <p:cNvSpPr txBox="1"/>
          <p:nvPr/>
        </p:nvSpPr>
        <p:spPr>
          <a:xfrm>
            <a:off x="6492240" y="2240280"/>
            <a:ext cx="4846320" cy="86868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確認できることと、思っていることの区別がつかない</a:t>
            </a:r>
            <a:endParaRPr lang="en-US" sz="1500" dirty="0"/>
          </a:p>
        </p:txBody>
      </p:sp>
      <p:sp>
        <p:nvSpPr>
          <p:cNvPr id="15" name="Shape 12"/>
          <p:cNvSpPr/>
          <p:nvPr/>
        </p:nvSpPr>
        <p:spPr>
          <a:xfrm>
            <a:off x="548640" y="3474720"/>
            <a:ext cx="5394960" cy="1828800"/>
          </a:xfrm>
          <a:prstGeom prst="roundRect">
            <a:avLst>
              <a:gd name="adj" fmla="val 6000"/>
            </a:avLst>
          </a:prstGeom>
          <a:solidFill>
            <a:srgbClr val="E6F1F7"/>
          </a:solidFill>
          <a:ln w="12700">
            <a:solidFill>
              <a:srgbClr val="E6F1F7"/>
            </a:solidFill>
            <a:prstDash val="solid"/>
          </a:ln>
        </p:spPr>
      </p:sp>
      <p:sp>
        <p:nvSpPr>
          <p:cNvPr id="16" name="Shape 13"/>
          <p:cNvSpPr/>
          <p:nvPr/>
        </p:nvSpPr>
        <p:spPr>
          <a:xfrm>
            <a:off x="777240" y="3675888"/>
            <a:ext cx="502920" cy="502920"/>
          </a:xfrm>
          <a:prstGeom prst="ellipse">
            <a:avLst/>
          </a:prstGeom>
          <a:solidFill>
            <a:srgbClr val="065A82"/>
          </a:solidFill>
          <a:ln w="12700">
            <a:solidFill>
              <a:srgbClr val="065A82"/>
            </a:solidFill>
            <a:prstDash val="solid"/>
          </a:ln>
        </p:spPr>
      </p:sp>
      <p:sp>
        <p:nvSpPr>
          <p:cNvPr id="17" name="Text 14"/>
          <p:cNvSpPr txBox="1"/>
          <p:nvPr/>
        </p:nvSpPr>
        <p:spPr>
          <a:xfrm>
            <a:off x="777240" y="36758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8" name="Text 15"/>
          <p:cNvSpPr txBox="1"/>
          <p:nvPr/>
        </p:nvSpPr>
        <p:spPr>
          <a:xfrm>
            <a:off x="1417320" y="3611880"/>
            <a:ext cx="4297680" cy="640080"/>
          </a:xfrm>
          <a:prstGeom prst="rect">
            <a:avLst/>
          </a:prstGeom>
          <a:noFill/>
          <a:ln/>
        </p:spPr>
        <p:txBody>
          <a:bodyPr wrap="square" lIns="0" tIns="0" rIns="0" bIns="0" rtlCol="0" anchor="ctr"/>
          <a:lstStyle/>
          <a:p>
            <a:pPr indent="0" marL="0">
              <a:buNone/>
            </a:pPr>
            <a:r>
              <a:rPr lang="en-US" sz="1800" b="1" dirty="0">
                <a:solidFill>
                  <a:srgbClr val="21295C"/>
                </a:solidFill>
                <a:latin typeface="Meiryo" pitchFamily="34" charset="0"/>
                <a:ea typeface="Meiryo" pitchFamily="34" charset="-122"/>
                <a:cs typeface="Meiryo" pitchFamily="34" charset="-120"/>
              </a:rPr>
              <a:t>してほしいことが書かれていない</a:t>
            </a:r>
            <a:endParaRPr lang="en-US" sz="1800" dirty="0"/>
          </a:p>
        </p:txBody>
      </p:sp>
      <p:sp>
        <p:nvSpPr>
          <p:cNvPr id="19" name="Text 16"/>
          <p:cNvSpPr txBox="1"/>
          <p:nvPr/>
        </p:nvSpPr>
        <p:spPr>
          <a:xfrm>
            <a:off x="822960" y="4343400"/>
            <a:ext cx="4846320" cy="86868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承認なのか、確認だけなのかが分からない</a:t>
            </a:r>
            <a:endParaRPr lang="en-US" sz="1500" dirty="0"/>
          </a:p>
        </p:txBody>
      </p:sp>
      <p:sp>
        <p:nvSpPr>
          <p:cNvPr id="20" name="Shape 17"/>
          <p:cNvSpPr/>
          <p:nvPr/>
        </p:nvSpPr>
        <p:spPr>
          <a:xfrm>
            <a:off x="6217920" y="3474720"/>
            <a:ext cx="5394960" cy="1828800"/>
          </a:xfrm>
          <a:prstGeom prst="roundRect">
            <a:avLst>
              <a:gd name="adj" fmla="val 6000"/>
            </a:avLst>
          </a:prstGeom>
          <a:solidFill>
            <a:srgbClr val="E6F1F7"/>
          </a:solidFill>
          <a:ln w="12700">
            <a:solidFill>
              <a:srgbClr val="E6F1F7"/>
            </a:solidFill>
            <a:prstDash val="solid"/>
          </a:ln>
        </p:spPr>
      </p:sp>
      <p:sp>
        <p:nvSpPr>
          <p:cNvPr id="21" name="Shape 18"/>
          <p:cNvSpPr/>
          <p:nvPr/>
        </p:nvSpPr>
        <p:spPr>
          <a:xfrm>
            <a:off x="6446520" y="3675888"/>
            <a:ext cx="502920" cy="502920"/>
          </a:xfrm>
          <a:prstGeom prst="ellipse">
            <a:avLst/>
          </a:prstGeom>
          <a:solidFill>
            <a:srgbClr val="065A82"/>
          </a:solidFill>
          <a:ln w="12700">
            <a:solidFill>
              <a:srgbClr val="065A82"/>
            </a:solidFill>
            <a:prstDash val="solid"/>
          </a:ln>
        </p:spPr>
      </p:sp>
      <p:sp>
        <p:nvSpPr>
          <p:cNvPr id="22" name="Text 19"/>
          <p:cNvSpPr txBox="1"/>
          <p:nvPr/>
        </p:nvSpPr>
        <p:spPr>
          <a:xfrm>
            <a:off x="6446520" y="36758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3" name="Text 20"/>
          <p:cNvSpPr txBox="1"/>
          <p:nvPr/>
        </p:nvSpPr>
        <p:spPr>
          <a:xfrm>
            <a:off x="7086600" y="3611880"/>
            <a:ext cx="4297680" cy="640080"/>
          </a:xfrm>
          <a:prstGeom prst="rect">
            <a:avLst/>
          </a:prstGeom>
          <a:noFill/>
          <a:ln/>
        </p:spPr>
        <p:txBody>
          <a:bodyPr wrap="square" lIns="0" tIns="0" rIns="0" bIns="0" rtlCol="0" anchor="ctr"/>
          <a:lstStyle/>
          <a:p>
            <a:pPr indent="0" marL="0">
              <a:buNone/>
            </a:pPr>
            <a:r>
              <a:rPr lang="en-US" sz="1800" b="1" dirty="0">
                <a:solidFill>
                  <a:srgbClr val="21295C"/>
                </a:solidFill>
                <a:latin typeface="Meiryo" pitchFamily="34" charset="0"/>
                <a:ea typeface="Meiryo" pitchFamily="34" charset="-122"/>
                <a:cs typeface="Meiryo" pitchFamily="34" charset="-120"/>
              </a:rPr>
              <a:t>曖昧な言葉が入っている</a:t>
            </a:r>
            <a:endParaRPr lang="en-US" sz="1800" dirty="0"/>
          </a:p>
        </p:txBody>
      </p:sp>
      <p:sp>
        <p:nvSpPr>
          <p:cNvPr id="24" name="Text 21"/>
          <p:cNvSpPr txBox="1"/>
          <p:nvPr/>
        </p:nvSpPr>
        <p:spPr>
          <a:xfrm>
            <a:off x="6492240" y="4343400"/>
            <a:ext cx="4846320" cy="86868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「すぐ」「かなり」「だいたい」は、数字の代わりにならない</a:t>
            </a:r>
            <a:endParaRPr lang="en-US" sz="1500" dirty="0"/>
          </a:p>
        </p:txBody>
      </p:sp>
      <p:sp>
        <p:nvSpPr>
          <p:cNvPr id="25" name="Shape 22"/>
          <p:cNvSpPr/>
          <p:nvPr/>
        </p:nvSpPr>
        <p:spPr>
          <a:xfrm>
            <a:off x="548640" y="5486400"/>
            <a:ext cx="11064240" cy="731520"/>
          </a:xfrm>
          <a:prstGeom prst="roundRect">
            <a:avLst>
              <a:gd name="adj" fmla="val 15000"/>
            </a:avLst>
          </a:prstGeom>
          <a:solidFill>
            <a:srgbClr val="21295C"/>
          </a:solidFill>
          <a:ln w="12700">
            <a:solidFill>
              <a:srgbClr val="21295C"/>
            </a:solidFill>
            <a:prstDash val="solid"/>
          </a:ln>
        </p:spPr>
      </p:sp>
      <p:sp>
        <p:nvSpPr>
          <p:cNvPr id="26" name="Text 23"/>
          <p:cNvSpPr txBox="1"/>
          <p:nvPr/>
        </p:nvSpPr>
        <p:spPr>
          <a:xfrm>
            <a:off x="548640" y="5486400"/>
            <a:ext cx="1106424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内容が足りないのではなく、「順番」と「書き方」の問題です</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Before → After：同じ内容でも、伝わり方が違う</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5394960" cy="3383280"/>
          </a:xfrm>
          <a:prstGeom prst="roundRect">
            <a:avLst>
              <a:gd name="adj" fmla="val 3243"/>
            </a:avLst>
          </a:prstGeom>
          <a:solidFill>
            <a:srgbClr val="FCE9E9"/>
          </a:solidFill>
          <a:ln w="12700">
            <a:solidFill>
              <a:srgbClr val="FCE9E9"/>
            </a:solidFill>
            <a:prstDash val="solid"/>
          </a:ln>
        </p:spPr>
      </p:sp>
      <p:sp>
        <p:nvSpPr>
          <p:cNvPr id="6" name="Text 3"/>
          <p:cNvSpPr txBox="1"/>
          <p:nvPr/>
        </p:nvSpPr>
        <p:spPr>
          <a:xfrm>
            <a:off x="822960" y="1508760"/>
            <a:ext cx="4846320" cy="365760"/>
          </a:xfrm>
          <a:prstGeom prst="rect">
            <a:avLst/>
          </a:prstGeom>
          <a:noFill/>
          <a:ln/>
        </p:spPr>
        <p:txBody>
          <a:bodyPr wrap="square" lIns="0" tIns="0" rIns="0" bIns="0" rtlCol="0" anchor="t"/>
          <a:lstStyle/>
          <a:p>
            <a:pPr indent="0" marL="0">
              <a:buNone/>
            </a:pPr>
            <a:r>
              <a:rPr lang="en-US" sz="1600" b="1" dirty="0">
                <a:solidFill>
                  <a:srgbClr val="D64545"/>
                </a:solidFill>
                <a:latin typeface="Meiryo" pitchFamily="34" charset="0"/>
                <a:ea typeface="Meiryo" pitchFamily="34" charset="-122"/>
                <a:cs typeface="Meiryo" pitchFamily="34" charset="-120"/>
              </a:rPr>
              <a:t>Bad（冗長・分かりにくい）</a:t>
            </a:r>
            <a:endParaRPr lang="en-US" sz="1600" dirty="0"/>
          </a:p>
        </p:txBody>
      </p:sp>
      <p:sp>
        <p:nvSpPr>
          <p:cNvPr id="7" name="Text 4"/>
          <p:cNvSpPr txBox="1"/>
          <p:nvPr/>
        </p:nvSpPr>
        <p:spPr>
          <a:xfrm>
            <a:off x="822960" y="1965960"/>
            <a:ext cx="4846320" cy="2651760"/>
          </a:xfrm>
          <a:prstGeom prst="rect">
            <a:avLst/>
          </a:prstGeom>
          <a:noFill/>
          <a:ln/>
        </p:spPr>
        <p:txBody>
          <a:bodyPr wrap="square" lIns="0" tIns="0" rIns="0" bIns="0" rtlCol="0" anchor="t"/>
          <a:lstStyle/>
          <a:p>
            <a:pPr indent="0" marL="0">
              <a:buNone/>
            </a:pPr>
            <a:r>
              <a:rPr lang="en-US" sz="1600" dirty="0">
                <a:solidFill>
                  <a:srgbClr val="1F2937"/>
                </a:solidFill>
                <a:latin typeface="Meiryo" pitchFamily="34" charset="0"/>
                <a:ea typeface="Meiryo" pitchFamily="34" charset="-122"/>
                <a:cs typeface="Meiryo" pitchFamily="34" charset="-120"/>
              </a:rPr>
              <a:t>昨日テストを行ったところ、ちょっとエラーが多く出てしまい、原因を調べてみたら以前の変更が影響しているようでした。工数は少しかかりますが、しっかり直したほうがいいと思うので修正の許可をいただけますでしょうか。</a:t>
            </a:r>
            <a:endParaRPr lang="en-US" sz="1600" dirty="0"/>
          </a:p>
        </p:txBody>
      </p:sp>
      <p:sp>
        <p:nvSpPr>
          <p:cNvPr id="8" name="Shape 5"/>
          <p:cNvSpPr/>
          <p:nvPr/>
        </p:nvSpPr>
        <p:spPr>
          <a:xfrm>
            <a:off x="6217920" y="1371600"/>
            <a:ext cx="5394960" cy="3383280"/>
          </a:xfrm>
          <a:prstGeom prst="roundRect">
            <a:avLst>
              <a:gd name="adj" fmla="val 3243"/>
            </a:avLst>
          </a:prstGeom>
          <a:solidFill>
            <a:srgbClr val="E6F6EF"/>
          </a:solidFill>
          <a:ln w="12700">
            <a:solidFill>
              <a:srgbClr val="E6F6EF"/>
            </a:solidFill>
            <a:prstDash val="solid"/>
          </a:ln>
        </p:spPr>
      </p:sp>
      <p:sp>
        <p:nvSpPr>
          <p:cNvPr id="9" name="Text 6"/>
          <p:cNvSpPr txBox="1"/>
          <p:nvPr/>
        </p:nvSpPr>
        <p:spPr>
          <a:xfrm>
            <a:off x="6492240" y="1508760"/>
            <a:ext cx="4846320" cy="365760"/>
          </a:xfrm>
          <a:prstGeom prst="rect">
            <a:avLst/>
          </a:prstGeom>
          <a:noFill/>
          <a:ln/>
        </p:spPr>
        <p:txBody>
          <a:bodyPr wrap="square" lIns="0" tIns="0" rIns="0" bIns="0" rtlCol="0" anchor="t"/>
          <a:lstStyle/>
          <a:p>
            <a:pPr indent="0" marL="0">
              <a:buNone/>
            </a:pPr>
            <a:r>
              <a:rPr lang="en-US" sz="1600" b="1" dirty="0">
                <a:solidFill>
                  <a:srgbClr val="1E9E6A"/>
                </a:solidFill>
                <a:latin typeface="Meiryo" pitchFamily="34" charset="0"/>
                <a:ea typeface="Meiryo" pitchFamily="34" charset="-122"/>
                <a:cs typeface="Meiryo" pitchFamily="34" charset="-120"/>
              </a:rPr>
              <a:t>Good（論理的・端的）</a:t>
            </a:r>
            <a:endParaRPr lang="en-US" sz="1600" dirty="0"/>
          </a:p>
        </p:txBody>
      </p:sp>
      <p:sp>
        <p:nvSpPr>
          <p:cNvPr id="10" name="Text 7"/>
          <p:cNvSpPr txBox="1"/>
          <p:nvPr/>
        </p:nvSpPr>
        <p:spPr>
          <a:xfrm>
            <a:off x="6492240" y="1965960"/>
            <a:ext cx="4846320" cy="2651760"/>
          </a:xfrm>
          <a:prstGeom prst="rect">
            <a:avLst/>
          </a:prstGeom>
          <a:noFill/>
          <a:ln/>
        </p:spPr>
        <p:txBody>
          <a:bodyPr wrap="square" lIns="0" tIns="0" rIns="0" bIns="0" rtlCol="0" anchor="t"/>
          <a:lstStyle/>
          <a:p>
            <a:pPr indent="0" marL="0">
              <a:buNone/>
            </a:pPr>
            <a:r>
              <a:rPr lang="en-US" sz="1600" dirty="0">
                <a:solidFill>
                  <a:srgbClr val="1F2937"/>
                </a:solidFill>
                <a:latin typeface="Meiryo" pitchFamily="34" charset="0"/>
                <a:ea typeface="Meiryo" pitchFamily="34" charset="-122"/>
                <a:cs typeface="Meiryo" pitchFamily="34" charset="-120"/>
              </a:rPr>
              <a:t>【件名：◯◯テスト不具合に伴う修正作業の承認依頼】</a:t>
            </a:r>
            <a:endParaRPr lang="en-US" sz="1600" dirty="0"/>
          </a:p>
          <a:p>
            <a:pPr indent="0" marL="0">
              <a:buNone/>
            </a:pPr>
            <a:r>
              <a:rPr lang="en-US" sz="1600" dirty="0">
                <a:solidFill>
                  <a:srgbClr val="1F2937"/>
                </a:solidFill>
                <a:latin typeface="Meiryo" pitchFamily="34" charset="0"/>
                <a:ea typeface="Meiryo" pitchFamily="34" charset="-122"/>
                <a:cs typeface="Meiryo" pitchFamily="34" charset="-120"/>
              </a:rPr>
              <a:t>昨日のテストにてエラーが15件発生いたしました。原因は前回仕様変更による処理干渉です。</a:t>
            </a:r>
            <a:endParaRPr lang="en-US" sz="1600" dirty="0"/>
          </a:p>
          <a:p>
            <a:pPr indent="0" marL="0">
              <a:buNone/>
            </a:pPr>
            <a:r>
              <a:rPr lang="en-US" sz="1600" dirty="0">
                <a:solidFill>
                  <a:srgbClr val="1F2937"/>
                </a:solidFill>
                <a:latin typeface="Meiryo" pitchFamily="34" charset="0"/>
                <a:ea typeface="Meiryo" pitchFamily="34" charset="-122"/>
                <a:cs typeface="Meiryo" pitchFamily="34" charset="-120"/>
              </a:rPr>
              <a:t>根本修正のため2人日の追加工数を頂戴したく存じます。本日17時までのご承認をお願いいたします。</a:t>
            </a:r>
            <a:endParaRPr lang="en-US" sz="1600" dirty="0"/>
          </a:p>
        </p:txBody>
      </p:sp>
      <p:sp>
        <p:nvSpPr>
          <p:cNvPr id="11" name="Text 8"/>
          <p:cNvSpPr txBox="1"/>
          <p:nvPr/>
        </p:nvSpPr>
        <p:spPr>
          <a:xfrm>
            <a:off x="548640" y="4937760"/>
            <a:ext cx="2743200" cy="365760"/>
          </a:xfrm>
          <a:prstGeom prst="rect">
            <a:avLst/>
          </a:prstGeom>
          <a:noFill/>
          <a:ln/>
        </p:spPr>
        <p:txBody>
          <a:bodyPr wrap="square" lIns="0" tIns="0" rIns="0" bIns="0" rtlCol="0" anchor="t"/>
          <a:lstStyle/>
          <a:p>
            <a:pPr indent="0" marL="0">
              <a:buNone/>
            </a:pPr>
            <a:r>
              <a:rPr lang="en-US" sz="1500" b="1" dirty="0">
                <a:solidFill>
                  <a:srgbClr val="065A82"/>
                </a:solidFill>
                <a:latin typeface="Meiryo" pitchFamily="34" charset="0"/>
                <a:ea typeface="Meiryo" pitchFamily="34" charset="-122"/>
                <a:cs typeface="Meiryo" pitchFamily="34" charset="-120"/>
              </a:rPr>
              <a:t>Goodで増えた4つ</a:t>
            </a:r>
            <a:endParaRPr lang="en-US" sz="1500" dirty="0"/>
          </a:p>
        </p:txBody>
      </p:sp>
      <p:sp>
        <p:nvSpPr>
          <p:cNvPr id="12" name="Shape 9"/>
          <p:cNvSpPr/>
          <p:nvPr/>
        </p:nvSpPr>
        <p:spPr>
          <a:xfrm>
            <a:off x="548640" y="5349240"/>
            <a:ext cx="2651760" cy="777240"/>
          </a:xfrm>
          <a:prstGeom prst="roundRect">
            <a:avLst>
              <a:gd name="adj" fmla="val 14118"/>
            </a:avLst>
          </a:prstGeom>
          <a:solidFill>
            <a:srgbClr val="E6F1F7"/>
          </a:solidFill>
          <a:ln w="12700">
            <a:solidFill>
              <a:srgbClr val="E6F1F7"/>
            </a:solidFill>
            <a:prstDash val="solid"/>
          </a:ln>
        </p:spPr>
      </p:sp>
      <p:sp>
        <p:nvSpPr>
          <p:cNvPr id="13" name="Text 10"/>
          <p:cNvSpPr txBox="1"/>
          <p:nvPr/>
        </p:nvSpPr>
        <p:spPr>
          <a:xfrm>
            <a:off x="548640" y="5349240"/>
            <a:ext cx="2651760" cy="777240"/>
          </a:xfrm>
          <a:prstGeom prst="rect">
            <a:avLst/>
          </a:prstGeom>
          <a:noFill/>
          <a:ln/>
        </p:spPr>
        <p:txBody>
          <a:bodyPr wrap="square" lIns="0" tIns="0" rIns="0" bIns="0" rtlCol="0" anchor="ctr"/>
          <a:lstStyle/>
          <a:p>
            <a:pPr algn="ctr" indent="0" marL="0">
              <a:buNone/>
            </a:pPr>
            <a:r>
              <a:rPr lang="en-US" sz="1400" b="1" dirty="0">
                <a:solidFill>
                  <a:srgbClr val="21295C"/>
                </a:solidFill>
                <a:latin typeface="Meiryo" pitchFamily="34" charset="0"/>
                <a:ea typeface="Meiryo" pitchFamily="34" charset="-122"/>
                <a:cs typeface="Meiryo" pitchFamily="34" charset="-120"/>
              </a:rPr>
              <a:t>件数（15件）</a:t>
            </a:r>
            <a:endParaRPr lang="en-US" sz="1400" dirty="0"/>
          </a:p>
        </p:txBody>
      </p:sp>
      <p:sp>
        <p:nvSpPr>
          <p:cNvPr id="14" name="Shape 11"/>
          <p:cNvSpPr/>
          <p:nvPr/>
        </p:nvSpPr>
        <p:spPr>
          <a:xfrm>
            <a:off x="3383280" y="5349240"/>
            <a:ext cx="2651760" cy="777240"/>
          </a:xfrm>
          <a:prstGeom prst="roundRect">
            <a:avLst>
              <a:gd name="adj" fmla="val 14118"/>
            </a:avLst>
          </a:prstGeom>
          <a:solidFill>
            <a:srgbClr val="E6F1F7"/>
          </a:solidFill>
          <a:ln w="12700">
            <a:solidFill>
              <a:srgbClr val="E6F1F7"/>
            </a:solidFill>
            <a:prstDash val="solid"/>
          </a:ln>
        </p:spPr>
      </p:sp>
      <p:sp>
        <p:nvSpPr>
          <p:cNvPr id="15" name="Text 12"/>
          <p:cNvSpPr txBox="1"/>
          <p:nvPr/>
        </p:nvSpPr>
        <p:spPr>
          <a:xfrm>
            <a:off x="3383280" y="5349240"/>
            <a:ext cx="2651760" cy="777240"/>
          </a:xfrm>
          <a:prstGeom prst="rect">
            <a:avLst/>
          </a:prstGeom>
          <a:noFill/>
          <a:ln/>
        </p:spPr>
        <p:txBody>
          <a:bodyPr wrap="square" lIns="0" tIns="0" rIns="0" bIns="0" rtlCol="0" anchor="ctr"/>
          <a:lstStyle/>
          <a:p>
            <a:pPr algn="ctr" indent="0" marL="0">
              <a:buNone/>
            </a:pPr>
            <a:r>
              <a:rPr lang="en-US" sz="1400" b="1" dirty="0">
                <a:solidFill>
                  <a:srgbClr val="21295C"/>
                </a:solidFill>
                <a:latin typeface="Meiryo" pitchFamily="34" charset="0"/>
                <a:ea typeface="Meiryo" pitchFamily="34" charset="-122"/>
                <a:cs typeface="Meiryo" pitchFamily="34" charset="-120"/>
              </a:rPr>
              <a:t>原因（仕様変更の干渉）</a:t>
            </a:r>
            <a:endParaRPr lang="en-US" sz="1400" dirty="0"/>
          </a:p>
        </p:txBody>
      </p:sp>
      <p:sp>
        <p:nvSpPr>
          <p:cNvPr id="16" name="Shape 13"/>
          <p:cNvSpPr/>
          <p:nvPr/>
        </p:nvSpPr>
        <p:spPr>
          <a:xfrm>
            <a:off x="6217920" y="5349240"/>
            <a:ext cx="2651760" cy="777240"/>
          </a:xfrm>
          <a:prstGeom prst="roundRect">
            <a:avLst>
              <a:gd name="adj" fmla="val 14118"/>
            </a:avLst>
          </a:prstGeom>
          <a:solidFill>
            <a:srgbClr val="E6F1F7"/>
          </a:solidFill>
          <a:ln w="12700">
            <a:solidFill>
              <a:srgbClr val="E6F1F7"/>
            </a:solidFill>
            <a:prstDash val="solid"/>
          </a:ln>
        </p:spPr>
      </p:sp>
      <p:sp>
        <p:nvSpPr>
          <p:cNvPr id="17" name="Text 14"/>
          <p:cNvSpPr txBox="1"/>
          <p:nvPr/>
        </p:nvSpPr>
        <p:spPr>
          <a:xfrm>
            <a:off x="6217920" y="5349240"/>
            <a:ext cx="2651760" cy="777240"/>
          </a:xfrm>
          <a:prstGeom prst="rect">
            <a:avLst/>
          </a:prstGeom>
          <a:noFill/>
          <a:ln/>
        </p:spPr>
        <p:txBody>
          <a:bodyPr wrap="square" lIns="0" tIns="0" rIns="0" bIns="0" rtlCol="0" anchor="ctr"/>
          <a:lstStyle/>
          <a:p>
            <a:pPr algn="ctr" indent="0" marL="0">
              <a:buNone/>
            </a:pPr>
            <a:r>
              <a:rPr lang="en-US" sz="1400" b="1" dirty="0">
                <a:solidFill>
                  <a:srgbClr val="21295C"/>
                </a:solidFill>
                <a:latin typeface="Meiryo" pitchFamily="34" charset="0"/>
                <a:ea typeface="Meiryo" pitchFamily="34" charset="-122"/>
                <a:cs typeface="Meiryo" pitchFamily="34" charset="-120"/>
              </a:rPr>
              <a:t>依頼（2人日の承認）</a:t>
            </a:r>
            <a:endParaRPr lang="en-US" sz="1400" dirty="0"/>
          </a:p>
        </p:txBody>
      </p:sp>
      <p:sp>
        <p:nvSpPr>
          <p:cNvPr id="18" name="Shape 15"/>
          <p:cNvSpPr/>
          <p:nvPr/>
        </p:nvSpPr>
        <p:spPr>
          <a:xfrm>
            <a:off x="9052560" y="5349240"/>
            <a:ext cx="2651760" cy="777240"/>
          </a:xfrm>
          <a:prstGeom prst="roundRect">
            <a:avLst>
              <a:gd name="adj" fmla="val 14118"/>
            </a:avLst>
          </a:prstGeom>
          <a:solidFill>
            <a:srgbClr val="E6F1F7"/>
          </a:solidFill>
          <a:ln w="12700">
            <a:solidFill>
              <a:srgbClr val="E6F1F7"/>
            </a:solidFill>
            <a:prstDash val="solid"/>
          </a:ln>
        </p:spPr>
      </p:sp>
      <p:sp>
        <p:nvSpPr>
          <p:cNvPr id="19" name="Text 16"/>
          <p:cNvSpPr txBox="1"/>
          <p:nvPr/>
        </p:nvSpPr>
        <p:spPr>
          <a:xfrm>
            <a:off x="9052560" y="5349240"/>
            <a:ext cx="2651760" cy="777240"/>
          </a:xfrm>
          <a:prstGeom prst="rect">
            <a:avLst/>
          </a:prstGeom>
          <a:noFill/>
          <a:ln/>
        </p:spPr>
        <p:txBody>
          <a:bodyPr wrap="square" lIns="0" tIns="0" rIns="0" bIns="0" rtlCol="0" anchor="ctr"/>
          <a:lstStyle/>
          <a:p>
            <a:pPr algn="ctr" indent="0" marL="0">
              <a:buNone/>
            </a:pPr>
            <a:r>
              <a:rPr lang="en-US" sz="1400" b="1" dirty="0">
                <a:solidFill>
                  <a:srgbClr val="21295C"/>
                </a:solidFill>
                <a:latin typeface="Meiryo" pitchFamily="34" charset="0"/>
                <a:ea typeface="Meiryo" pitchFamily="34" charset="-122"/>
                <a:cs typeface="Meiryo" pitchFamily="34" charset="-120"/>
              </a:rPr>
              <a:t>期限（本日17時）</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STEP2｜基本の型：PREPと3原則</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2926080" cy="4663440"/>
          </a:xfrm>
          <a:prstGeom prst="roundRect">
            <a:avLst>
              <a:gd name="adj" fmla="val 3750"/>
            </a:avLst>
          </a:prstGeom>
          <a:solidFill>
            <a:srgbClr val="21295C"/>
          </a:solidFill>
          <a:ln w="12700">
            <a:solidFill>
              <a:srgbClr val="21295C"/>
            </a:solidFill>
            <a:prstDash val="solid"/>
          </a:ln>
        </p:spPr>
      </p:sp>
      <p:sp>
        <p:nvSpPr>
          <p:cNvPr id="6" name="Text 3"/>
          <p:cNvSpPr txBox="1"/>
          <p:nvPr/>
        </p:nvSpPr>
        <p:spPr>
          <a:xfrm>
            <a:off x="548640" y="1554480"/>
            <a:ext cx="2926080" cy="365760"/>
          </a:xfrm>
          <a:prstGeom prst="rect">
            <a:avLst/>
          </a:prstGeom>
          <a:noFill/>
          <a:ln/>
        </p:spPr>
        <p:txBody>
          <a:bodyPr wrap="square" lIns="0" tIns="0" rIns="0" bIns="0" rtlCol="0" anchor="t"/>
          <a:lstStyle/>
          <a:p>
            <a:pPr algn="ctr" indent="0" marL="0">
              <a:buNone/>
            </a:pPr>
            <a:r>
              <a:rPr lang="en-US" sz="1600" dirty="0">
                <a:solidFill>
                  <a:srgbClr val="BFE3F0"/>
                </a:solidFill>
                <a:latin typeface="Meiryo" pitchFamily="34" charset="0"/>
                <a:ea typeface="Meiryo" pitchFamily="34" charset="-122"/>
                <a:cs typeface="Meiryo" pitchFamily="34" charset="-120"/>
              </a:rPr>
              <a:t>STEP</a:t>
            </a:r>
            <a:endParaRPr lang="en-US" sz="1600" dirty="0"/>
          </a:p>
        </p:txBody>
      </p:sp>
      <p:sp>
        <p:nvSpPr>
          <p:cNvPr id="7" name="Text 4"/>
          <p:cNvSpPr txBox="1"/>
          <p:nvPr/>
        </p:nvSpPr>
        <p:spPr>
          <a:xfrm>
            <a:off x="548640" y="1920240"/>
            <a:ext cx="2926080" cy="1188720"/>
          </a:xfrm>
          <a:prstGeom prst="rect">
            <a:avLst/>
          </a:prstGeom>
          <a:noFill/>
          <a:ln/>
        </p:spPr>
        <p:txBody>
          <a:bodyPr wrap="square" lIns="0" tIns="0" rIns="0" bIns="0" rtlCol="0" anchor="t"/>
          <a:lstStyle/>
          <a:p>
            <a:pPr algn="ctr" indent="0" marL="0">
              <a:buNone/>
            </a:pPr>
            <a:r>
              <a:rPr lang="en-US" sz="7200" b="1" dirty="0">
                <a:solidFill>
                  <a:srgbClr val="FFFFFF"/>
                </a:solidFill>
                <a:latin typeface="Meiryo" pitchFamily="34" charset="0"/>
                <a:ea typeface="Meiryo" pitchFamily="34" charset="-122"/>
                <a:cs typeface="Meiryo" pitchFamily="34" charset="-120"/>
              </a:rPr>
              <a:t>2</a:t>
            </a:r>
            <a:endParaRPr lang="en-US" sz="7200" dirty="0"/>
          </a:p>
        </p:txBody>
      </p:sp>
      <p:sp>
        <p:nvSpPr>
          <p:cNvPr id="8" name="Text 5"/>
          <p:cNvSpPr txBox="1"/>
          <p:nvPr/>
        </p:nvSpPr>
        <p:spPr>
          <a:xfrm>
            <a:off x="548640" y="3291840"/>
            <a:ext cx="292608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Meiryo" pitchFamily="34" charset="0"/>
                <a:ea typeface="Meiryo" pitchFamily="34" charset="-122"/>
                <a:cs typeface="Meiryo" pitchFamily="34" charset="-120"/>
              </a:rPr>
              <a:t>難易度 2〜3 / 9</a:t>
            </a:r>
            <a:endParaRPr lang="en-US" sz="1600" dirty="0"/>
          </a:p>
        </p:txBody>
      </p:sp>
      <p:sp>
        <p:nvSpPr>
          <p:cNvPr id="9" name="Shape 6"/>
          <p:cNvSpPr/>
          <p:nvPr/>
        </p:nvSpPr>
        <p:spPr>
          <a:xfrm>
            <a:off x="868680" y="3794760"/>
            <a:ext cx="182880" cy="182880"/>
          </a:xfrm>
          <a:prstGeom prst="ellipse">
            <a:avLst/>
          </a:prstGeom>
          <a:solidFill>
            <a:srgbClr val="065A82"/>
          </a:solidFill>
          <a:ln w="12700">
            <a:solidFill>
              <a:srgbClr val="065A82"/>
            </a:solidFill>
            <a:prstDash val="solid"/>
          </a:ln>
        </p:spPr>
      </p:sp>
      <p:sp>
        <p:nvSpPr>
          <p:cNvPr id="10" name="Shape 7"/>
          <p:cNvSpPr/>
          <p:nvPr/>
        </p:nvSpPr>
        <p:spPr>
          <a:xfrm>
            <a:off x="1115568" y="3794760"/>
            <a:ext cx="182880" cy="182880"/>
          </a:xfrm>
          <a:prstGeom prst="ellipse">
            <a:avLst/>
          </a:prstGeom>
          <a:solidFill>
            <a:srgbClr val="065A82"/>
          </a:solidFill>
          <a:ln w="12700">
            <a:solidFill>
              <a:srgbClr val="065A82"/>
            </a:solidFill>
            <a:prstDash val="solid"/>
          </a:ln>
        </p:spPr>
      </p:sp>
      <p:sp>
        <p:nvSpPr>
          <p:cNvPr id="11" name="Shape 8"/>
          <p:cNvSpPr/>
          <p:nvPr/>
        </p:nvSpPr>
        <p:spPr>
          <a:xfrm>
            <a:off x="1362456" y="3794760"/>
            <a:ext cx="182880" cy="182880"/>
          </a:xfrm>
          <a:prstGeom prst="ellipse">
            <a:avLst/>
          </a:prstGeom>
          <a:solidFill>
            <a:srgbClr val="065A82"/>
          </a:solidFill>
          <a:ln w="12700">
            <a:solidFill>
              <a:srgbClr val="065A82"/>
            </a:solidFill>
            <a:prstDash val="solid"/>
          </a:ln>
        </p:spPr>
      </p:sp>
      <p:sp>
        <p:nvSpPr>
          <p:cNvPr id="12" name="Shape 9"/>
          <p:cNvSpPr/>
          <p:nvPr/>
        </p:nvSpPr>
        <p:spPr>
          <a:xfrm>
            <a:off x="1609344" y="3794760"/>
            <a:ext cx="182880" cy="182880"/>
          </a:xfrm>
          <a:prstGeom prst="ellipse">
            <a:avLst/>
          </a:prstGeom>
          <a:solidFill>
            <a:srgbClr val="4B5A86"/>
          </a:solidFill>
          <a:ln w="12700">
            <a:solidFill>
              <a:srgbClr val="4B5A86"/>
            </a:solidFill>
            <a:prstDash val="solid"/>
          </a:ln>
        </p:spPr>
      </p:sp>
      <p:sp>
        <p:nvSpPr>
          <p:cNvPr id="13" name="Shape 10"/>
          <p:cNvSpPr/>
          <p:nvPr/>
        </p:nvSpPr>
        <p:spPr>
          <a:xfrm>
            <a:off x="1856232" y="3794760"/>
            <a:ext cx="182880" cy="182880"/>
          </a:xfrm>
          <a:prstGeom prst="ellipse">
            <a:avLst/>
          </a:prstGeom>
          <a:solidFill>
            <a:srgbClr val="4B5A86"/>
          </a:solidFill>
          <a:ln w="12700">
            <a:solidFill>
              <a:srgbClr val="4B5A86"/>
            </a:solidFill>
            <a:prstDash val="solid"/>
          </a:ln>
        </p:spPr>
      </p:sp>
      <p:sp>
        <p:nvSpPr>
          <p:cNvPr id="14" name="Shape 11"/>
          <p:cNvSpPr/>
          <p:nvPr/>
        </p:nvSpPr>
        <p:spPr>
          <a:xfrm>
            <a:off x="2103120" y="3794760"/>
            <a:ext cx="182880" cy="182880"/>
          </a:xfrm>
          <a:prstGeom prst="ellipse">
            <a:avLst/>
          </a:prstGeom>
          <a:solidFill>
            <a:srgbClr val="4B5A86"/>
          </a:solidFill>
          <a:ln w="12700">
            <a:solidFill>
              <a:srgbClr val="4B5A86"/>
            </a:solidFill>
            <a:prstDash val="solid"/>
          </a:ln>
        </p:spPr>
      </p:sp>
      <p:sp>
        <p:nvSpPr>
          <p:cNvPr id="15" name="Shape 12"/>
          <p:cNvSpPr/>
          <p:nvPr/>
        </p:nvSpPr>
        <p:spPr>
          <a:xfrm>
            <a:off x="2350008" y="3794760"/>
            <a:ext cx="182880" cy="182880"/>
          </a:xfrm>
          <a:prstGeom prst="ellipse">
            <a:avLst/>
          </a:prstGeom>
          <a:solidFill>
            <a:srgbClr val="4B5A86"/>
          </a:solidFill>
          <a:ln w="12700">
            <a:solidFill>
              <a:srgbClr val="4B5A86"/>
            </a:solidFill>
            <a:prstDash val="solid"/>
          </a:ln>
        </p:spPr>
      </p:sp>
      <p:sp>
        <p:nvSpPr>
          <p:cNvPr id="16" name="Shape 13"/>
          <p:cNvSpPr/>
          <p:nvPr/>
        </p:nvSpPr>
        <p:spPr>
          <a:xfrm>
            <a:off x="2596896" y="3794760"/>
            <a:ext cx="182880" cy="182880"/>
          </a:xfrm>
          <a:prstGeom prst="ellipse">
            <a:avLst/>
          </a:prstGeom>
          <a:solidFill>
            <a:srgbClr val="4B5A86"/>
          </a:solidFill>
          <a:ln w="12700">
            <a:solidFill>
              <a:srgbClr val="4B5A86"/>
            </a:solidFill>
            <a:prstDash val="solid"/>
          </a:ln>
        </p:spPr>
      </p:sp>
      <p:sp>
        <p:nvSpPr>
          <p:cNvPr id="17" name="Shape 14"/>
          <p:cNvSpPr/>
          <p:nvPr/>
        </p:nvSpPr>
        <p:spPr>
          <a:xfrm>
            <a:off x="2843784" y="3794760"/>
            <a:ext cx="182880" cy="182880"/>
          </a:xfrm>
          <a:prstGeom prst="ellipse">
            <a:avLst/>
          </a:prstGeom>
          <a:solidFill>
            <a:srgbClr val="4B5A86"/>
          </a:solidFill>
          <a:ln w="12700">
            <a:solidFill>
              <a:srgbClr val="4B5A86"/>
            </a:solidFill>
            <a:prstDash val="solid"/>
          </a:ln>
        </p:spPr>
      </p:sp>
      <p:sp>
        <p:nvSpPr>
          <p:cNvPr id="18" name="Text 15"/>
          <p:cNvSpPr txBox="1"/>
          <p:nvPr/>
        </p:nvSpPr>
        <p:spPr>
          <a:xfrm>
            <a:off x="548640" y="4297680"/>
            <a:ext cx="2926080" cy="365760"/>
          </a:xfrm>
          <a:prstGeom prst="rect">
            <a:avLst/>
          </a:prstGeom>
          <a:noFill/>
          <a:ln/>
        </p:spPr>
        <p:txBody>
          <a:bodyPr wrap="square" lIns="0" tIns="0" rIns="0" bIns="0" rtlCol="0" anchor="t"/>
          <a:lstStyle/>
          <a:p>
            <a:pPr algn="ctr" indent="0" marL="0">
              <a:buNone/>
            </a:pPr>
            <a:r>
              <a:rPr lang="en-US" sz="1400" dirty="0">
                <a:solidFill>
                  <a:srgbClr val="BFE3F0"/>
                </a:solidFill>
                <a:latin typeface="Meiryo" pitchFamily="34" charset="0"/>
                <a:ea typeface="Meiryo" pitchFamily="34" charset="-122"/>
                <a:cs typeface="Meiryo" pitchFamily="34" charset="-120"/>
              </a:rPr>
              <a:t>動画の目安：約10分</a:t>
            </a:r>
            <a:endParaRPr lang="en-US" sz="1400" dirty="0"/>
          </a:p>
        </p:txBody>
      </p:sp>
      <p:sp>
        <p:nvSpPr>
          <p:cNvPr id="19" name="Shape 16"/>
          <p:cNvSpPr/>
          <p:nvPr/>
        </p:nvSpPr>
        <p:spPr>
          <a:xfrm>
            <a:off x="3749040" y="1371600"/>
            <a:ext cx="7863840" cy="2240280"/>
          </a:xfrm>
          <a:prstGeom prst="roundRect">
            <a:avLst>
              <a:gd name="adj" fmla="val 4898"/>
            </a:avLst>
          </a:prstGeom>
          <a:solidFill>
            <a:srgbClr val="E6F1F7"/>
          </a:solidFill>
          <a:ln w="12700">
            <a:solidFill>
              <a:srgbClr val="E6F1F7"/>
            </a:solidFill>
            <a:prstDash val="solid"/>
          </a:ln>
        </p:spPr>
      </p:sp>
      <p:sp>
        <p:nvSpPr>
          <p:cNvPr id="20" name="Text 17"/>
          <p:cNvSpPr txBox="1"/>
          <p:nvPr/>
        </p:nvSpPr>
        <p:spPr>
          <a:xfrm>
            <a:off x="4023360" y="1508760"/>
            <a:ext cx="7315200" cy="365760"/>
          </a:xfrm>
          <a:prstGeom prst="rect">
            <a:avLst/>
          </a:prstGeom>
          <a:noFill/>
          <a:ln/>
        </p:spPr>
        <p:txBody>
          <a:bodyPr wrap="square" lIns="0" tIns="0" rIns="0" bIns="0" rtlCol="0" anchor="t"/>
          <a:lstStyle/>
          <a:p>
            <a:pPr indent="0" marL="0">
              <a:buNone/>
            </a:pPr>
            <a:r>
              <a:rPr lang="en-US" sz="1600" b="1" dirty="0">
                <a:solidFill>
                  <a:srgbClr val="065A82"/>
                </a:solidFill>
                <a:latin typeface="Meiryo" pitchFamily="34" charset="0"/>
                <a:ea typeface="Meiryo" pitchFamily="34" charset="-122"/>
                <a:cs typeface="Meiryo" pitchFamily="34" charset="-120"/>
              </a:rPr>
              <a:t>学ぶこと</a:t>
            </a:r>
            <a:endParaRPr lang="en-US" sz="1600" dirty="0"/>
          </a:p>
        </p:txBody>
      </p:sp>
      <p:sp>
        <p:nvSpPr>
          <p:cNvPr id="21" name="Text 18"/>
          <p:cNvSpPr txBox="1"/>
          <p:nvPr/>
        </p:nvSpPr>
        <p:spPr>
          <a:xfrm>
            <a:off x="4023360" y="1965960"/>
            <a:ext cx="731520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PREP法：結論→理由→事実・具体例→まとめ・依頼</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3原則：結論ファースト／数字で書く／5秒で全体像</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冒頭3行で、結論と依頼が分かるようにする</a:t>
            </a:r>
            <a:endParaRPr lang="en-US" sz="1500" dirty="0"/>
          </a:p>
        </p:txBody>
      </p:sp>
      <p:sp>
        <p:nvSpPr>
          <p:cNvPr id="22" name="Shape 19"/>
          <p:cNvSpPr/>
          <p:nvPr/>
        </p:nvSpPr>
        <p:spPr>
          <a:xfrm>
            <a:off x="3749040" y="3749040"/>
            <a:ext cx="7863840" cy="1097280"/>
          </a:xfrm>
          <a:prstGeom prst="roundRect">
            <a:avLst>
              <a:gd name="adj" fmla="val 10000"/>
            </a:avLst>
          </a:prstGeom>
          <a:solidFill>
            <a:srgbClr val="EEF3F6"/>
          </a:solidFill>
          <a:ln w="12700">
            <a:solidFill>
              <a:srgbClr val="EEF3F6"/>
            </a:solidFill>
            <a:prstDash val="solid"/>
          </a:ln>
        </p:spPr>
      </p:sp>
      <p:sp>
        <p:nvSpPr>
          <p:cNvPr id="23" name="Text 20"/>
          <p:cNvSpPr txBox="1"/>
          <p:nvPr/>
        </p:nvSpPr>
        <p:spPr>
          <a:xfrm>
            <a:off x="4023360" y="384048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やってみよう</a:t>
            </a:r>
            <a:endParaRPr lang="en-US" sz="1400" dirty="0"/>
          </a:p>
        </p:txBody>
      </p:sp>
      <p:sp>
        <p:nvSpPr>
          <p:cNvPr id="24" name="Text 21"/>
          <p:cNvSpPr txBox="1"/>
          <p:nvPr/>
        </p:nvSpPr>
        <p:spPr>
          <a:xfrm>
            <a:off x="4023360" y="4206240"/>
            <a:ext cx="7315200" cy="59436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最近の報告をPREPの順に並べ替える</a:t>
            </a:r>
            <a:endParaRPr lang="en-US" sz="1500" dirty="0"/>
          </a:p>
        </p:txBody>
      </p:sp>
      <p:sp>
        <p:nvSpPr>
          <p:cNvPr id="25" name="Shape 22"/>
          <p:cNvSpPr/>
          <p:nvPr/>
        </p:nvSpPr>
        <p:spPr>
          <a:xfrm>
            <a:off x="3749040" y="4983480"/>
            <a:ext cx="7863840" cy="1051560"/>
          </a:xfrm>
          <a:prstGeom prst="roundRect">
            <a:avLst>
              <a:gd name="adj" fmla="val 10435"/>
            </a:avLst>
          </a:prstGeom>
          <a:solidFill>
            <a:srgbClr val="EEF3F6"/>
          </a:solidFill>
          <a:ln w="12700">
            <a:solidFill>
              <a:srgbClr val="EEF3F6"/>
            </a:solidFill>
            <a:prstDash val="solid"/>
          </a:ln>
        </p:spPr>
      </p:sp>
      <p:sp>
        <p:nvSpPr>
          <p:cNvPr id="26" name="Text 23"/>
          <p:cNvSpPr txBox="1"/>
          <p:nvPr/>
        </p:nvSpPr>
        <p:spPr>
          <a:xfrm>
            <a:off x="4023360" y="507492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できたかな？</a:t>
            </a:r>
            <a:endParaRPr lang="en-US" sz="1400" dirty="0"/>
          </a:p>
        </p:txBody>
      </p:sp>
      <p:sp>
        <p:nvSpPr>
          <p:cNvPr id="27" name="Text 24"/>
          <p:cNvSpPr txBox="1"/>
          <p:nvPr/>
        </p:nvSpPr>
        <p:spPr>
          <a:xfrm>
            <a:off x="4023360" y="5440680"/>
            <a:ext cx="7315200" cy="548640"/>
          </a:xfrm>
          <a:prstGeom prst="rect">
            <a:avLst/>
          </a:prstGeom>
          <a:noFill/>
          <a:ln/>
        </p:spPr>
        <p:txBody>
          <a:bodyPr wrap="square" lIns="0" tIns="0" rIns="0" bIns="0" rtlCol="0" anchor="t"/>
          <a:lstStyle/>
          <a:p>
            <a:pPr indent="0" marL="0">
              <a:buNone/>
            </a:pPr>
            <a:r>
              <a:rPr lang="en-US" sz="1500" b="1" dirty="0">
                <a:solidFill>
                  <a:srgbClr val="21295C"/>
                </a:solidFill>
                <a:latin typeface="Meiryo" pitchFamily="34" charset="0"/>
                <a:ea typeface="Meiryo" pitchFamily="34" charset="-122"/>
                <a:cs typeface="Meiryo" pitchFamily="34" charset="-120"/>
              </a:rPr>
              <a:t>冒頭3行で、結論と依頼を書ける</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PREP法：結論から書く4ステップ</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377440"/>
                <a:gridCol w="2560320"/>
                <a:gridCol w="6126480"/>
              </a:tblGrid>
              <a:tr h="658368">
                <a:tc>
                  <a:txBody>
                    <a:bodyPr/>
                    <a:lstStyle/>
                    <a:p>
                      <a:pPr indent="0" marL="0">
                        <a:buNone/>
                      </a:pPr>
                      <a:r>
                        <a:rPr lang="en-US" sz="1600" b="1" dirty="0">
                          <a:solidFill>
                            <a:srgbClr val="FFFFFF"/>
                          </a:solidFill>
                          <a:latin typeface="Meiryo" pitchFamily="34" charset="0"/>
                          <a:ea typeface="Meiryo" pitchFamily="34" charset="-122"/>
                          <a:cs typeface="Meiryo" pitchFamily="34" charset="-120"/>
                        </a:rPr>
                        <a:t>順番</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600" b="1" dirty="0">
                          <a:solidFill>
                            <a:srgbClr val="FFFFFF"/>
                          </a:solidFill>
                          <a:latin typeface="Meiryo" pitchFamily="34" charset="0"/>
                          <a:ea typeface="Meiryo" pitchFamily="34" charset="-122"/>
                          <a:cs typeface="Meiryo" pitchFamily="34" charset="-120"/>
                        </a:rPr>
                        <a:t>内容</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600" b="1" dirty="0">
                          <a:solidFill>
                            <a:srgbClr val="FFFFFF"/>
                          </a:solidFill>
                          <a:latin typeface="Meiryo" pitchFamily="34" charset="0"/>
                          <a:ea typeface="Meiryo" pitchFamily="34" charset="-122"/>
                          <a:cs typeface="Meiryo" pitchFamily="34" charset="-120"/>
                        </a:rPr>
                        <a:t>書き出しの例</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r>
              <a:tr h="658368">
                <a:tc>
                  <a:txBody>
                    <a:bodyPr/>
                    <a:lstStyle/>
                    <a:p>
                      <a:pPr indent="0" marL="0">
                        <a:buNone/>
                      </a:pPr>
                      <a:r>
                        <a:rPr lang="en-US" sz="1600" dirty="0">
                          <a:solidFill>
                            <a:srgbClr val="1F2937"/>
                          </a:solidFill>
                          <a:latin typeface="Meiryo" pitchFamily="34" charset="0"/>
                          <a:ea typeface="Meiryo" pitchFamily="34" charset="-122"/>
                          <a:cs typeface="Meiryo" pitchFamily="34" charset="-120"/>
                        </a:rPr>
                        <a:t>P：Point</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結論</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「〇〇の承認をお願いします」</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F2937"/>
                          </a:solidFill>
                          <a:latin typeface="Meiryo" pitchFamily="34" charset="0"/>
                          <a:ea typeface="Meiryo" pitchFamily="34" charset="-122"/>
                          <a:cs typeface="Meiryo" pitchFamily="34" charset="-120"/>
                        </a:rPr>
                        <a:t>R：Reason</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理由</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「理由は2点あります」</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r h="658368">
                <a:tc>
                  <a:txBody>
                    <a:bodyPr/>
                    <a:lstStyle/>
                    <a:p>
                      <a:pPr indent="0" marL="0">
                        <a:buNone/>
                      </a:pPr>
                      <a:r>
                        <a:rPr lang="en-US" sz="1600" dirty="0">
                          <a:solidFill>
                            <a:srgbClr val="1F2937"/>
                          </a:solidFill>
                          <a:latin typeface="Meiryo" pitchFamily="34" charset="0"/>
                          <a:ea typeface="Meiryo" pitchFamily="34" charset="-122"/>
                          <a:cs typeface="Meiryo" pitchFamily="34" charset="-120"/>
                        </a:rPr>
                        <a:t>E：Example</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事実・具体例</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「具体的には、〇月〇日のテストで〜」</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F2937"/>
                          </a:solidFill>
                          <a:latin typeface="Meiryo" pitchFamily="34" charset="0"/>
                          <a:ea typeface="Meiryo" pitchFamily="34" charset="-122"/>
                          <a:cs typeface="Meiryo" pitchFamily="34" charset="-120"/>
                        </a:rPr>
                        <a:t>P：Point</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まとめ・依頼</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「本日17時までにご判断をお願いします」</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bl>
          </a:graphicData>
        </a:graphic>
      </p:graphicFrame>
      <p:sp>
        <p:nvSpPr>
          <p:cNvPr id="6" name="Shape 2"/>
          <p:cNvSpPr/>
          <p:nvPr/>
        </p:nvSpPr>
        <p:spPr>
          <a:xfrm>
            <a:off x="548640" y="5029200"/>
            <a:ext cx="11064240" cy="1005840"/>
          </a:xfrm>
          <a:prstGeom prst="roundRect">
            <a:avLst>
              <a:gd name="adj" fmla="val 10909"/>
            </a:avLst>
          </a:prstGeom>
          <a:solidFill>
            <a:srgbClr val="FDEBDD"/>
          </a:solidFill>
          <a:ln w="12700">
            <a:solidFill>
              <a:srgbClr val="FDEBDD"/>
            </a:solidFill>
            <a:prstDash val="solid"/>
          </a:ln>
        </p:spPr>
      </p:sp>
      <p:sp>
        <p:nvSpPr>
          <p:cNvPr id="7" name="Text 3"/>
          <p:cNvSpPr txBox="1"/>
          <p:nvPr/>
        </p:nvSpPr>
        <p:spPr>
          <a:xfrm>
            <a:off x="822960" y="5029200"/>
            <a:ext cx="10515600" cy="100584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最初の1〜2行で、結論と依頼が分かるように書く。途中で読むのをやめられても、要点が伝わります。</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テクニカルライティングの3原則</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3505200" cy="3017520"/>
          </a:xfrm>
          <a:prstGeom prst="roundRect">
            <a:avLst>
              <a:gd name="adj" fmla="val 3636"/>
            </a:avLst>
          </a:prstGeom>
          <a:solidFill>
            <a:srgbClr val="E6F1F7"/>
          </a:solidFill>
          <a:ln w="12700">
            <a:solidFill>
              <a:srgbClr val="E6F1F7"/>
            </a:solidFill>
            <a:prstDash val="solid"/>
          </a:ln>
        </p:spPr>
      </p:sp>
      <p:sp>
        <p:nvSpPr>
          <p:cNvPr id="6" name="Shape 3"/>
          <p:cNvSpPr/>
          <p:nvPr/>
        </p:nvSpPr>
        <p:spPr>
          <a:xfrm>
            <a:off x="777240" y="1572768"/>
            <a:ext cx="502920" cy="502920"/>
          </a:xfrm>
          <a:prstGeom prst="ellipse">
            <a:avLst/>
          </a:prstGeom>
          <a:solidFill>
            <a:srgbClr val="065A82"/>
          </a:solidFill>
          <a:ln w="12700">
            <a:solidFill>
              <a:srgbClr val="065A82"/>
            </a:solidFill>
            <a:prstDash val="solid"/>
          </a:ln>
        </p:spPr>
      </p:sp>
      <p:sp>
        <p:nvSpPr>
          <p:cNvPr id="7" name="Text 4"/>
          <p:cNvSpPr txBox="1"/>
          <p:nvPr/>
        </p:nvSpPr>
        <p:spPr>
          <a:xfrm>
            <a:off x="77724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8" name="Text 5"/>
          <p:cNvSpPr txBox="1"/>
          <p:nvPr/>
        </p:nvSpPr>
        <p:spPr>
          <a:xfrm>
            <a:off x="1417320" y="1508760"/>
            <a:ext cx="2407920" cy="64008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結論ファースト</a:t>
            </a:r>
            <a:endParaRPr lang="en-US" sz="1700" dirty="0"/>
          </a:p>
        </p:txBody>
      </p:sp>
      <p:sp>
        <p:nvSpPr>
          <p:cNvPr id="9" name="Text 6"/>
          <p:cNvSpPr txBox="1"/>
          <p:nvPr/>
        </p:nvSpPr>
        <p:spPr>
          <a:xfrm>
            <a:off x="822960" y="2240280"/>
            <a:ext cx="2956560" cy="205740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結論・判断・次のアクションを、最初の1〜2行に書く</a:t>
            </a:r>
            <a:endParaRPr lang="en-US" sz="1500" dirty="0"/>
          </a:p>
        </p:txBody>
      </p:sp>
      <p:sp>
        <p:nvSpPr>
          <p:cNvPr id="10" name="Shape 7"/>
          <p:cNvSpPr/>
          <p:nvPr/>
        </p:nvSpPr>
        <p:spPr>
          <a:xfrm>
            <a:off x="4328160" y="1371600"/>
            <a:ext cx="3505200" cy="3017520"/>
          </a:xfrm>
          <a:prstGeom prst="roundRect">
            <a:avLst>
              <a:gd name="adj" fmla="val 3636"/>
            </a:avLst>
          </a:prstGeom>
          <a:solidFill>
            <a:srgbClr val="E6F1F7"/>
          </a:solidFill>
          <a:ln w="12700">
            <a:solidFill>
              <a:srgbClr val="E6F1F7"/>
            </a:solidFill>
            <a:prstDash val="solid"/>
          </a:ln>
        </p:spPr>
      </p:sp>
      <p:sp>
        <p:nvSpPr>
          <p:cNvPr id="11" name="Shape 8"/>
          <p:cNvSpPr/>
          <p:nvPr/>
        </p:nvSpPr>
        <p:spPr>
          <a:xfrm>
            <a:off x="4556760" y="1572768"/>
            <a:ext cx="502920" cy="502920"/>
          </a:xfrm>
          <a:prstGeom prst="ellipse">
            <a:avLst/>
          </a:prstGeom>
          <a:solidFill>
            <a:srgbClr val="065A82"/>
          </a:solidFill>
          <a:ln w="12700">
            <a:solidFill>
              <a:srgbClr val="065A82"/>
            </a:solidFill>
            <a:prstDash val="solid"/>
          </a:ln>
        </p:spPr>
      </p:sp>
      <p:sp>
        <p:nvSpPr>
          <p:cNvPr id="12" name="Text 9"/>
          <p:cNvSpPr txBox="1"/>
          <p:nvPr/>
        </p:nvSpPr>
        <p:spPr>
          <a:xfrm>
            <a:off x="455676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3" name="Text 10"/>
          <p:cNvSpPr txBox="1"/>
          <p:nvPr/>
        </p:nvSpPr>
        <p:spPr>
          <a:xfrm>
            <a:off x="5196840" y="1508760"/>
            <a:ext cx="2407920" cy="64008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数字で書く（主観を排除）</a:t>
            </a:r>
            <a:endParaRPr lang="en-US" sz="1700" dirty="0"/>
          </a:p>
        </p:txBody>
      </p:sp>
      <p:sp>
        <p:nvSpPr>
          <p:cNvPr id="14" name="Text 11"/>
          <p:cNvSpPr txBox="1"/>
          <p:nvPr/>
        </p:nvSpPr>
        <p:spPr>
          <a:xfrm>
            <a:off x="4602480" y="2240280"/>
            <a:ext cx="2956560" cy="205740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「すぐに」ではなく「15分以内」。具体的な数字と事実で示す</a:t>
            </a:r>
            <a:endParaRPr lang="en-US" sz="1500" dirty="0"/>
          </a:p>
        </p:txBody>
      </p:sp>
      <p:sp>
        <p:nvSpPr>
          <p:cNvPr id="15" name="Shape 12"/>
          <p:cNvSpPr/>
          <p:nvPr/>
        </p:nvSpPr>
        <p:spPr>
          <a:xfrm>
            <a:off x="8107680" y="1371600"/>
            <a:ext cx="3505200" cy="3017520"/>
          </a:xfrm>
          <a:prstGeom prst="roundRect">
            <a:avLst>
              <a:gd name="adj" fmla="val 3636"/>
            </a:avLst>
          </a:prstGeom>
          <a:solidFill>
            <a:srgbClr val="E6F1F7"/>
          </a:solidFill>
          <a:ln w="12700">
            <a:solidFill>
              <a:srgbClr val="E6F1F7"/>
            </a:solidFill>
            <a:prstDash val="solid"/>
          </a:ln>
        </p:spPr>
      </p:sp>
      <p:sp>
        <p:nvSpPr>
          <p:cNvPr id="16" name="Shape 13"/>
          <p:cNvSpPr/>
          <p:nvPr/>
        </p:nvSpPr>
        <p:spPr>
          <a:xfrm>
            <a:off x="8336280" y="1572768"/>
            <a:ext cx="502920" cy="502920"/>
          </a:xfrm>
          <a:prstGeom prst="ellipse">
            <a:avLst/>
          </a:prstGeom>
          <a:solidFill>
            <a:srgbClr val="065A82"/>
          </a:solidFill>
          <a:ln w="12700">
            <a:solidFill>
              <a:srgbClr val="065A82"/>
            </a:solidFill>
            <a:prstDash val="solid"/>
          </a:ln>
        </p:spPr>
      </p:sp>
      <p:sp>
        <p:nvSpPr>
          <p:cNvPr id="17" name="Text 14"/>
          <p:cNvSpPr txBox="1"/>
          <p:nvPr/>
        </p:nvSpPr>
        <p:spPr>
          <a:xfrm>
            <a:off x="833628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8" name="Text 15"/>
          <p:cNvSpPr txBox="1"/>
          <p:nvPr/>
        </p:nvSpPr>
        <p:spPr>
          <a:xfrm>
            <a:off x="8976360" y="1508760"/>
            <a:ext cx="2407920" cy="64008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5秒で全体像（スキャナビリティ）</a:t>
            </a:r>
            <a:endParaRPr lang="en-US" sz="1700" dirty="0"/>
          </a:p>
        </p:txBody>
      </p:sp>
      <p:sp>
        <p:nvSpPr>
          <p:cNvPr id="19" name="Text 16"/>
          <p:cNvSpPr txBox="1"/>
          <p:nvPr/>
        </p:nvSpPr>
        <p:spPr>
          <a:xfrm>
            <a:off x="8382000" y="2240280"/>
            <a:ext cx="2956560" cy="205740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見出し・箇条書き・太字で、パッと見て分かるようにする</a:t>
            </a:r>
            <a:endParaRPr lang="en-US" sz="1500" dirty="0"/>
          </a:p>
        </p:txBody>
      </p:sp>
      <p:sp>
        <p:nvSpPr>
          <p:cNvPr id="20" name="Text 17"/>
          <p:cNvSpPr txBox="1"/>
          <p:nvPr/>
        </p:nvSpPr>
        <p:spPr>
          <a:xfrm>
            <a:off x="548640" y="4937760"/>
            <a:ext cx="11064240" cy="1097280"/>
          </a:xfrm>
          <a:prstGeom prst="rect">
            <a:avLst/>
          </a:prstGeom>
          <a:noFill/>
          <a:ln/>
        </p:spPr>
        <p:txBody>
          <a:bodyPr wrap="square" lIns="0" tIns="0" rIns="0" bIns="0" rtlCol="0" anchor="t"/>
          <a:lstStyle/>
          <a:p>
            <a:pPr indent="0" marL="0">
              <a:buNone/>
            </a:pPr>
            <a:r>
              <a:rPr lang="en-US" sz="1400" dirty="0">
                <a:solidFill>
                  <a:srgbClr val="6B7280"/>
                </a:solidFill>
                <a:latin typeface="Meiryo" pitchFamily="34" charset="0"/>
                <a:ea typeface="Meiryo" pitchFamily="34" charset="-122"/>
                <a:cs typeface="Meiryo" pitchFamily="34" charset="-120"/>
              </a:rPr>
              <a:t>※ ISO 20607・ISO 82079-1は、取扱説明書など利用者向け情報の作り方の規格です。「正確・明確・簡潔・論理的」という考え方を、報告に応用しています。報告書そのものを規定する規格ではありません。</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STEP3｜事実と意見を分ける・数字で書く</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2926080" cy="4663440"/>
          </a:xfrm>
          <a:prstGeom prst="roundRect">
            <a:avLst>
              <a:gd name="adj" fmla="val 3750"/>
            </a:avLst>
          </a:prstGeom>
          <a:solidFill>
            <a:srgbClr val="21295C"/>
          </a:solidFill>
          <a:ln w="12700">
            <a:solidFill>
              <a:srgbClr val="21295C"/>
            </a:solidFill>
            <a:prstDash val="solid"/>
          </a:ln>
        </p:spPr>
      </p:sp>
      <p:sp>
        <p:nvSpPr>
          <p:cNvPr id="6" name="Text 3"/>
          <p:cNvSpPr txBox="1"/>
          <p:nvPr/>
        </p:nvSpPr>
        <p:spPr>
          <a:xfrm>
            <a:off x="548640" y="1554480"/>
            <a:ext cx="2926080" cy="365760"/>
          </a:xfrm>
          <a:prstGeom prst="rect">
            <a:avLst/>
          </a:prstGeom>
          <a:noFill/>
          <a:ln/>
        </p:spPr>
        <p:txBody>
          <a:bodyPr wrap="square" lIns="0" tIns="0" rIns="0" bIns="0" rtlCol="0" anchor="t"/>
          <a:lstStyle/>
          <a:p>
            <a:pPr algn="ctr" indent="0" marL="0">
              <a:buNone/>
            </a:pPr>
            <a:r>
              <a:rPr lang="en-US" sz="1600" dirty="0">
                <a:solidFill>
                  <a:srgbClr val="BFE3F0"/>
                </a:solidFill>
                <a:latin typeface="Meiryo" pitchFamily="34" charset="0"/>
                <a:ea typeface="Meiryo" pitchFamily="34" charset="-122"/>
                <a:cs typeface="Meiryo" pitchFamily="34" charset="-120"/>
              </a:rPr>
              <a:t>STEP</a:t>
            </a:r>
            <a:endParaRPr lang="en-US" sz="1600" dirty="0"/>
          </a:p>
        </p:txBody>
      </p:sp>
      <p:sp>
        <p:nvSpPr>
          <p:cNvPr id="7" name="Text 4"/>
          <p:cNvSpPr txBox="1"/>
          <p:nvPr/>
        </p:nvSpPr>
        <p:spPr>
          <a:xfrm>
            <a:off x="548640" y="1920240"/>
            <a:ext cx="2926080" cy="1188720"/>
          </a:xfrm>
          <a:prstGeom prst="rect">
            <a:avLst/>
          </a:prstGeom>
          <a:noFill/>
          <a:ln/>
        </p:spPr>
        <p:txBody>
          <a:bodyPr wrap="square" lIns="0" tIns="0" rIns="0" bIns="0" rtlCol="0" anchor="t"/>
          <a:lstStyle/>
          <a:p>
            <a:pPr algn="ctr" indent="0" marL="0">
              <a:buNone/>
            </a:pPr>
            <a:r>
              <a:rPr lang="en-US" sz="7200" b="1" dirty="0">
                <a:solidFill>
                  <a:srgbClr val="FFFFFF"/>
                </a:solidFill>
                <a:latin typeface="Meiryo" pitchFamily="34" charset="0"/>
                <a:ea typeface="Meiryo" pitchFamily="34" charset="-122"/>
                <a:cs typeface="Meiryo" pitchFamily="34" charset="-120"/>
              </a:rPr>
              <a:t>3</a:t>
            </a:r>
            <a:endParaRPr lang="en-US" sz="7200" dirty="0"/>
          </a:p>
        </p:txBody>
      </p:sp>
      <p:sp>
        <p:nvSpPr>
          <p:cNvPr id="8" name="Text 5"/>
          <p:cNvSpPr txBox="1"/>
          <p:nvPr/>
        </p:nvSpPr>
        <p:spPr>
          <a:xfrm>
            <a:off x="548640" y="3291840"/>
            <a:ext cx="292608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Meiryo" pitchFamily="34" charset="0"/>
                <a:ea typeface="Meiryo" pitchFamily="34" charset="-122"/>
                <a:cs typeface="Meiryo" pitchFamily="34" charset="-120"/>
              </a:rPr>
              <a:t>難易度 4 / 9</a:t>
            </a:r>
            <a:endParaRPr lang="en-US" sz="1600" dirty="0"/>
          </a:p>
        </p:txBody>
      </p:sp>
      <p:sp>
        <p:nvSpPr>
          <p:cNvPr id="9" name="Shape 6"/>
          <p:cNvSpPr/>
          <p:nvPr/>
        </p:nvSpPr>
        <p:spPr>
          <a:xfrm>
            <a:off x="868680" y="3794760"/>
            <a:ext cx="182880" cy="182880"/>
          </a:xfrm>
          <a:prstGeom prst="ellipse">
            <a:avLst/>
          </a:prstGeom>
          <a:solidFill>
            <a:srgbClr val="065A82"/>
          </a:solidFill>
          <a:ln w="12700">
            <a:solidFill>
              <a:srgbClr val="065A82"/>
            </a:solidFill>
            <a:prstDash val="solid"/>
          </a:ln>
        </p:spPr>
      </p:sp>
      <p:sp>
        <p:nvSpPr>
          <p:cNvPr id="10" name="Shape 7"/>
          <p:cNvSpPr/>
          <p:nvPr/>
        </p:nvSpPr>
        <p:spPr>
          <a:xfrm>
            <a:off x="1115568" y="3794760"/>
            <a:ext cx="182880" cy="182880"/>
          </a:xfrm>
          <a:prstGeom prst="ellipse">
            <a:avLst/>
          </a:prstGeom>
          <a:solidFill>
            <a:srgbClr val="065A82"/>
          </a:solidFill>
          <a:ln w="12700">
            <a:solidFill>
              <a:srgbClr val="065A82"/>
            </a:solidFill>
            <a:prstDash val="solid"/>
          </a:ln>
        </p:spPr>
      </p:sp>
      <p:sp>
        <p:nvSpPr>
          <p:cNvPr id="11" name="Shape 8"/>
          <p:cNvSpPr/>
          <p:nvPr/>
        </p:nvSpPr>
        <p:spPr>
          <a:xfrm>
            <a:off x="1362456" y="3794760"/>
            <a:ext cx="182880" cy="182880"/>
          </a:xfrm>
          <a:prstGeom prst="ellipse">
            <a:avLst/>
          </a:prstGeom>
          <a:solidFill>
            <a:srgbClr val="065A82"/>
          </a:solidFill>
          <a:ln w="12700">
            <a:solidFill>
              <a:srgbClr val="065A82"/>
            </a:solidFill>
            <a:prstDash val="solid"/>
          </a:ln>
        </p:spPr>
      </p:sp>
      <p:sp>
        <p:nvSpPr>
          <p:cNvPr id="12" name="Shape 9"/>
          <p:cNvSpPr/>
          <p:nvPr/>
        </p:nvSpPr>
        <p:spPr>
          <a:xfrm>
            <a:off x="1609344" y="3794760"/>
            <a:ext cx="182880" cy="182880"/>
          </a:xfrm>
          <a:prstGeom prst="ellipse">
            <a:avLst/>
          </a:prstGeom>
          <a:solidFill>
            <a:srgbClr val="065A82"/>
          </a:solidFill>
          <a:ln w="12700">
            <a:solidFill>
              <a:srgbClr val="065A82"/>
            </a:solidFill>
            <a:prstDash val="solid"/>
          </a:ln>
        </p:spPr>
      </p:sp>
      <p:sp>
        <p:nvSpPr>
          <p:cNvPr id="13" name="Shape 10"/>
          <p:cNvSpPr/>
          <p:nvPr/>
        </p:nvSpPr>
        <p:spPr>
          <a:xfrm>
            <a:off x="1856232" y="3794760"/>
            <a:ext cx="182880" cy="182880"/>
          </a:xfrm>
          <a:prstGeom prst="ellipse">
            <a:avLst/>
          </a:prstGeom>
          <a:solidFill>
            <a:srgbClr val="4B5A86"/>
          </a:solidFill>
          <a:ln w="12700">
            <a:solidFill>
              <a:srgbClr val="4B5A86"/>
            </a:solidFill>
            <a:prstDash val="solid"/>
          </a:ln>
        </p:spPr>
      </p:sp>
      <p:sp>
        <p:nvSpPr>
          <p:cNvPr id="14" name="Shape 11"/>
          <p:cNvSpPr/>
          <p:nvPr/>
        </p:nvSpPr>
        <p:spPr>
          <a:xfrm>
            <a:off x="2103120" y="3794760"/>
            <a:ext cx="182880" cy="182880"/>
          </a:xfrm>
          <a:prstGeom prst="ellipse">
            <a:avLst/>
          </a:prstGeom>
          <a:solidFill>
            <a:srgbClr val="4B5A86"/>
          </a:solidFill>
          <a:ln w="12700">
            <a:solidFill>
              <a:srgbClr val="4B5A86"/>
            </a:solidFill>
            <a:prstDash val="solid"/>
          </a:ln>
        </p:spPr>
      </p:sp>
      <p:sp>
        <p:nvSpPr>
          <p:cNvPr id="15" name="Shape 12"/>
          <p:cNvSpPr/>
          <p:nvPr/>
        </p:nvSpPr>
        <p:spPr>
          <a:xfrm>
            <a:off x="2350008" y="3794760"/>
            <a:ext cx="182880" cy="182880"/>
          </a:xfrm>
          <a:prstGeom prst="ellipse">
            <a:avLst/>
          </a:prstGeom>
          <a:solidFill>
            <a:srgbClr val="4B5A86"/>
          </a:solidFill>
          <a:ln w="12700">
            <a:solidFill>
              <a:srgbClr val="4B5A86"/>
            </a:solidFill>
            <a:prstDash val="solid"/>
          </a:ln>
        </p:spPr>
      </p:sp>
      <p:sp>
        <p:nvSpPr>
          <p:cNvPr id="16" name="Shape 13"/>
          <p:cNvSpPr/>
          <p:nvPr/>
        </p:nvSpPr>
        <p:spPr>
          <a:xfrm>
            <a:off x="2596896" y="3794760"/>
            <a:ext cx="182880" cy="182880"/>
          </a:xfrm>
          <a:prstGeom prst="ellipse">
            <a:avLst/>
          </a:prstGeom>
          <a:solidFill>
            <a:srgbClr val="4B5A86"/>
          </a:solidFill>
          <a:ln w="12700">
            <a:solidFill>
              <a:srgbClr val="4B5A86"/>
            </a:solidFill>
            <a:prstDash val="solid"/>
          </a:ln>
        </p:spPr>
      </p:sp>
      <p:sp>
        <p:nvSpPr>
          <p:cNvPr id="17" name="Shape 14"/>
          <p:cNvSpPr/>
          <p:nvPr/>
        </p:nvSpPr>
        <p:spPr>
          <a:xfrm>
            <a:off x="2843784" y="3794760"/>
            <a:ext cx="182880" cy="182880"/>
          </a:xfrm>
          <a:prstGeom prst="ellipse">
            <a:avLst/>
          </a:prstGeom>
          <a:solidFill>
            <a:srgbClr val="4B5A86"/>
          </a:solidFill>
          <a:ln w="12700">
            <a:solidFill>
              <a:srgbClr val="4B5A86"/>
            </a:solidFill>
            <a:prstDash val="solid"/>
          </a:ln>
        </p:spPr>
      </p:sp>
      <p:sp>
        <p:nvSpPr>
          <p:cNvPr id="18" name="Text 15"/>
          <p:cNvSpPr txBox="1"/>
          <p:nvPr/>
        </p:nvSpPr>
        <p:spPr>
          <a:xfrm>
            <a:off x="548640" y="4297680"/>
            <a:ext cx="2926080" cy="365760"/>
          </a:xfrm>
          <a:prstGeom prst="rect">
            <a:avLst/>
          </a:prstGeom>
          <a:noFill/>
          <a:ln/>
        </p:spPr>
        <p:txBody>
          <a:bodyPr wrap="square" lIns="0" tIns="0" rIns="0" bIns="0" rtlCol="0" anchor="t"/>
          <a:lstStyle/>
          <a:p>
            <a:pPr algn="ctr" indent="0" marL="0">
              <a:buNone/>
            </a:pPr>
            <a:r>
              <a:rPr lang="en-US" sz="1400" dirty="0">
                <a:solidFill>
                  <a:srgbClr val="BFE3F0"/>
                </a:solidFill>
                <a:latin typeface="Meiryo" pitchFamily="34" charset="0"/>
                <a:ea typeface="Meiryo" pitchFamily="34" charset="-122"/>
                <a:cs typeface="Meiryo" pitchFamily="34" charset="-120"/>
              </a:rPr>
              <a:t>動画の目安：約12分</a:t>
            </a:r>
            <a:endParaRPr lang="en-US" sz="1400" dirty="0"/>
          </a:p>
        </p:txBody>
      </p:sp>
      <p:sp>
        <p:nvSpPr>
          <p:cNvPr id="19" name="Shape 16"/>
          <p:cNvSpPr/>
          <p:nvPr/>
        </p:nvSpPr>
        <p:spPr>
          <a:xfrm>
            <a:off x="3749040" y="1371600"/>
            <a:ext cx="7863840" cy="2240280"/>
          </a:xfrm>
          <a:prstGeom prst="roundRect">
            <a:avLst>
              <a:gd name="adj" fmla="val 4898"/>
            </a:avLst>
          </a:prstGeom>
          <a:solidFill>
            <a:srgbClr val="E6F1F7"/>
          </a:solidFill>
          <a:ln w="12700">
            <a:solidFill>
              <a:srgbClr val="E6F1F7"/>
            </a:solidFill>
            <a:prstDash val="solid"/>
          </a:ln>
        </p:spPr>
      </p:sp>
      <p:sp>
        <p:nvSpPr>
          <p:cNvPr id="20" name="Text 17"/>
          <p:cNvSpPr txBox="1"/>
          <p:nvPr/>
        </p:nvSpPr>
        <p:spPr>
          <a:xfrm>
            <a:off x="4023360" y="1508760"/>
            <a:ext cx="7315200" cy="365760"/>
          </a:xfrm>
          <a:prstGeom prst="rect">
            <a:avLst/>
          </a:prstGeom>
          <a:noFill/>
          <a:ln/>
        </p:spPr>
        <p:txBody>
          <a:bodyPr wrap="square" lIns="0" tIns="0" rIns="0" bIns="0" rtlCol="0" anchor="t"/>
          <a:lstStyle/>
          <a:p>
            <a:pPr indent="0" marL="0">
              <a:buNone/>
            </a:pPr>
            <a:r>
              <a:rPr lang="en-US" sz="1600" b="1" dirty="0">
                <a:solidFill>
                  <a:srgbClr val="065A82"/>
                </a:solidFill>
                <a:latin typeface="Meiryo" pitchFamily="34" charset="0"/>
                <a:ea typeface="Meiryo" pitchFamily="34" charset="-122"/>
                <a:cs typeface="Meiryo" pitchFamily="34" charset="-120"/>
              </a:rPr>
              <a:t>学ぶこと</a:t>
            </a:r>
            <a:endParaRPr lang="en-US" sz="1600" dirty="0"/>
          </a:p>
        </p:txBody>
      </p:sp>
      <p:sp>
        <p:nvSpPr>
          <p:cNvPr id="21" name="Text 18"/>
          <p:cNvSpPr txBox="1"/>
          <p:nvPr/>
        </p:nvSpPr>
        <p:spPr>
          <a:xfrm>
            <a:off x="4023360" y="1965960"/>
            <a:ext cx="731520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事実は確認できるもの、意見は推測と提案</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「すぐ」「かなり」「だいたい」は数字に置き換える</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【事実】【意見】のラベルで見分けやすくする</a:t>
            </a:r>
            <a:endParaRPr lang="en-US" sz="1500" dirty="0"/>
          </a:p>
        </p:txBody>
      </p:sp>
      <p:sp>
        <p:nvSpPr>
          <p:cNvPr id="22" name="Shape 19"/>
          <p:cNvSpPr/>
          <p:nvPr/>
        </p:nvSpPr>
        <p:spPr>
          <a:xfrm>
            <a:off x="3749040" y="3749040"/>
            <a:ext cx="7863840" cy="1097280"/>
          </a:xfrm>
          <a:prstGeom prst="roundRect">
            <a:avLst>
              <a:gd name="adj" fmla="val 10000"/>
            </a:avLst>
          </a:prstGeom>
          <a:solidFill>
            <a:srgbClr val="EEF3F6"/>
          </a:solidFill>
          <a:ln w="12700">
            <a:solidFill>
              <a:srgbClr val="EEF3F6"/>
            </a:solidFill>
            <a:prstDash val="solid"/>
          </a:ln>
        </p:spPr>
      </p:sp>
      <p:sp>
        <p:nvSpPr>
          <p:cNvPr id="23" name="Text 20"/>
          <p:cNvSpPr txBox="1"/>
          <p:nvPr/>
        </p:nvSpPr>
        <p:spPr>
          <a:xfrm>
            <a:off x="4023360" y="384048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やってみよう</a:t>
            </a:r>
            <a:endParaRPr lang="en-US" sz="1400" dirty="0"/>
          </a:p>
        </p:txBody>
      </p:sp>
      <p:sp>
        <p:nvSpPr>
          <p:cNvPr id="24" name="Text 21"/>
          <p:cNvSpPr txBox="1"/>
          <p:nvPr/>
        </p:nvSpPr>
        <p:spPr>
          <a:xfrm>
            <a:off x="4023360" y="4206240"/>
            <a:ext cx="7315200" cy="59436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ワークブックの曖昧な文5つを、数字入りに書き換える</a:t>
            </a:r>
            <a:endParaRPr lang="en-US" sz="1500" dirty="0"/>
          </a:p>
        </p:txBody>
      </p:sp>
      <p:sp>
        <p:nvSpPr>
          <p:cNvPr id="25" name="Shape 22"/>
          <p:cNvSpPr/>
          <p:nvPr/>
        </p:nvSpPr>
        <p:spPr>
          <a:xfrm>
            <a:off x="3749040" y="4983480"/>
            <a:ext cx="7863840" cy="1051560"/>
          </a:xfrm>
          <a:prstGeom prst="roundRect">
            <a:avLst>
              <a:gd name="adj" fmla="val 10435"/>
            </a:avLst>
          </a:prstGeom>
          <a:solidFill>
            <a:srgbClr val="EEF3F6"/>
          </a:solidFill>
          <a:ln w="12700">
            <a:solidFill>
              <a:srgbClr val="EEF3F6"/>
            </a:solidFill>
            <a:prstDash val="solid"/>
          </a:ln>
        </p:spPr>
      </p:sp>
      <p:sp>
        <p:nvSpPr>
          <p:cNvPr id="26" name="Text 23"/>
          <p:cNvSpPr txBox="1"/>
          <p:nvPr/>
        </p:nvSpPr>
        <p:spPr>
          <a:xfrm>
            <a:off x="4023360" y="507492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できたかな？</a:t>
            </a:r>
            <a:endParaRPr lang="en-US" sz="1400" dirty="0"/>
          </a:p>
        </p:txBody>
      </p:sp>
      <p:sp>
        <p:nvSpPr>
          <p:cNvPr id="27" name="Text 24"/>
          <p:cNvSpPr txBox="1"/>
          <p:nvPr/>
        </p:nvSpPr>
        <p:spPr>
          <a:xfrm>
            <a:off x="4023360" y="5440680"/>
            <a:ext cx="7315200" cy="548640"/>
          </a:xfrm>
          <a:prstGeom prst="rect">
            <a:avLst/>
          </a:prstGeom>
          <a:noFill/>
          <a:ln/>
        </p:spPr>
        <p:txBody>
          <a:bodyPr wrap="square" lIns="0" tIns="0" rIns="0" bIns="0" rtlCol="0" anchor="t"/>
          <a:lstStyle/>
          <a:p>
            <a:pPr indent="0" marL="0">
              <a:buNone/>
            </a:pPr>
            <a:r>
              <a:rPr lang="en-US" sz="1500" b="1" dirty="0">
                <a:solidFill>
                  <a:srgbClr val="21295C"/>
                </a:solidFill>
                <a:latin typeface="Meiryo" pitchFamily="34" charset="0"/>
                <a:ea typeface="Meiryo" pitchFamily="34" charset="-122"/>
                <a:cs typeface="Meiryo" pitchFamily="34" charset="-120"/>
              </a:rPr>
              <a:t>事実と意見を分けて書け、曖昧語を数字にできる</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事実（Fact）と意見（Opinion）を分ける</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5394960" cy="2194560"/>
          </a:xfrm>
          <a:prstGeom prst="roundRect">
            <a:avLst>
              <a:gd name="adj" fmla="val 5000"/>
            </a:avLst>
          </a:prstGeom>
          <a:solidFill>
            <a:srgbClr val="E6F1F7"/>
          </a:solidFill>
          <a:ln w="12700">
            <a:solidFill>
              <a:srgbClr val="E6F1F7"/>
            </a:solidFill>
            <a:prstDash val="solid"/>
          </a:ln>
        </p:spPr>
      </p:sp>
      <p:sp>
        <p:nvSpPr>
          <p:cNvPr id="6" name="Text 3"/>
          <p:cNvSpPr txBox="1"/>
          <p:nvPr/>
        </p:nvSpPr>
        <p:spPr>
          <a:xfrm>
            <a:off x="822960" y="1508760"/>
            <a:ext cx="4846320" cy="365760"/>
          </a:xfrm>
          <a:prstGeom prst="rect">
            <a:avLst/>
          </a:prstGeom>
          <a:noFill/>
          <a:ln/>
        </p:spPr>
        <p:txBody>
          <a:bodyPr wrap="square" lIns="0" tIns="0" rIns="0" bIns="0" rtlCol="0" anchor="t"/>
          <a:lstStyle/>
          <a:p>
            <a:pPr indent="0" marL="0">
              <a:buNone/>
            </a:pPr>
            <a:r>
              <a:rPr lang="en-US" sz="1800" b="1" dirty="0">
                <a:solidFill>
                  <a:srgbClr val="065A82"/>
                </a:solidFill>
                <a:latin typeface="Meiryo" pitchFamily="34" charset="0"/>
                <a:ea typeface="Meiryo" pitchFamily="34" charset="-122"/>
                <a:cs typeface="Meiryo" pitchFamily="34" charset="-120"/>
              </a:rPr>
              <a:t>事実（Fact）</a:t>
            </a:r>
            <a:endParaRPr lang="en-US" sz="1800" dirty="0"/>
          </a:p>
        </p:txBody>
      </p:sp>
      <p:sp>
        <p:nvSpPr>
          <p:cNvPr id="7" name="Text 4"/>
          <p:cNvSpPr txBox="1"/>
          <p:nvPr/>
        </p:nvSpPr>
        <p:spPr>
          <a:xfrm>
            <a:off x="822960" y="2011680"/>
            <a:ext cx="4846320" cy="146304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確認できるもの：日時・数値・ログ</a:t>
            </a:r>
            <a:endParaRPr lang="en-US" sz="1500" dirty="0"/>
          </a:p>
          <a:p>
            <a:pPr indent="0" marL="0">
              <a:buNone/>
            </a:pPr>
            <a:r>
              <a:rPr lang="en-US" sz="1500" dirty="0">
                <a:solidFill>
                  <a:srgbClr val="1F2937"/>
                </a:solidFill>
                <a:latin typeface="Meiryo" pitchFamily="34" charset="0"/>
                <a:ea typeface="Meiryo" pitchFamily="34" charset="-122"/>
                <a:cs typeface="Meiryo" pitchFamily="34" charset="-120"/>
              </a:rPr>
              <a:t>例：ログに接続エラーが15件発生している</a:t>
            </a:r>
            <a:endParaRPr lang="en-US" sz="1500" dirty="0"/>
          </a:p>
        </p:txBody>
      </p:sp>
      <p:sp>
        <p:nvSpPr>
          <p:cNvPr id="8" name="Shape 5"/>
          <p:cNvSpPr/>
          <p:nvPr/>
        </p:nvSpPr>
        <p:spPr>
          <a:xfrm>
            <a:off x="6217920" y="1371600"/>
            <a:ext cx="5394960" cy="2194560"/>
          </a:xfrm>
          <a:prstGeom prst="roundRect">
            <a:avLst>
              <a:gd name="adj" fmla="val 5000"/>
            </a:avLst>
          </a:prstGeom>
          <a:solidFill>
            <a:srgbClr val="FDEBDD"/>
          </a:solidFill>
          <a:ln w="12700">
            <a:solidFill>
              <a:srgbClr val="FDEBDD"/>
            </a:solidFill>
            <a:prstDash val="solid"/>
          </a:ln>
        </p:spPr>
      </p:sp>
      <p:sp>
        <p:nvSpPr>
          <p:cNvPr id="9" name="Text 6"/>
          <p:cNvSpPr txBox="1"/>
          <p:nvPr/>
        </p:nvSpPr>
        <p:spPr>
          <a:xfrm>
            <a:off x="6492240" y="1508760"/>
            <a:ext cx="4846320" cy="365760"/>
          </a:xfrm>
          <a:prstGeom prst="rect">
            <a:avLst/>
          </a:prstGeom>
          <a:noFill/>
          <a:ln/>
        </p:spPr>
        <p:txBody>
          <a:bodyPr wrap="square" lIns="0" tIns="0" rIns="0" bIns="0" rtlCol="0" anchor="t"/>
          <a:lstStyle/>
          <a:p>
            <a:pPr indent="0" marL="0">
              <a:buNone/>
            </a:pPr>
            <a:r>
              <a:rPr lang="en-US" sz="1800" b="1" dirty="0">
                <a:solidFill>
                  <a:srgbClr val="F2994A"/>
                </a:solidFill>
                <a:latin typeface="Meiryo" pitchFamily="34" charset="0"/>
                <a:ea typeface="Meiryo" pitchFamily="34" charset="-122"/>
                <a:cs typeface="Meiryo" pitchFamily="34" charset="-120"/>
              </a:rPr>
              <a:t>意見（Opinion）</a:t>
            </a:r>
            <a:endParaRPr lang="en-US" sz="1800" dirty="0"/>
          </a:p>
        </p:txBody>
      </p:sp>
      <p:sp>
        <p:nvSpPr>
          <p:cNvPr id="10" name="Text 7"/>
          <p:cNvSpPr txBox="1"/>
          <p:nvPr/>
        </p:nvSpPr>
        <p:spPr>
          <a:xfrm>
            <a:off x="6492240" y="2011680"/>
            <a:ext cx="4846320" cy="146304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原因の推測や提案</a:t>
            </a:r>
            <a:endParaRPr lang="en-US" sz="1500" dirty="0"/>
          </a:p>
          <a:p>
            <a:pPr indent="0" marL="0">
              <a:buNone/>
            </a:pPr>
            <a:r>
              <a:rPr lang="en-US" sz="1500" dirty="0">
                <a:solidFill>
                  <a:srgbClr val="1F2937"/>
                </a:solidFill>
                <a:latin typeface="Meiryo" pitchFamily="34" charset="0"/>
                <a:ea typeface="Meiryo" pitchFamily="34" charset="-122"/>
                <a:cs typeface="Meiryo" pitchFamily="34" charset="-120"/>
              </a:rPr>
              <a:t>例：メモリ不足が原因と思われる</a:t>
            </a:r>
            <a:endParaRPr lang="en-US" sz="1500" dirty="0"/>
          </a:p>
        </p:txBody>
      </p:sp>
      <p:sp>
        <p:nvSpPr>
          <p:cNvPr id="11" name="Shape 8"/>
          <p:cNvSpPr/>
          <p:nvPr/>
        </p:nvSpPr>
        <p:spPr>
          <a:xfrm>
            <a:off x="548640" y="3794760"/>
            <a:ext cx="11064240" cy="914400"/>
          </a:xfrm>
          <a:prstGeom prst="roundRect">
            <a:avLst>
              <a:gd name="adj" fmla="val 12000"/>
            </a:avLst>
          </a:prstGeom>
          <a:solidFill>
            <a:srgbClr val="FCE9E9"/>
          </a:solidFill>
          <a:ln w="12700">
            <a:solidFill>
              <a:srgbClr val="FCE9E9"/>
            </a:solidFill>
            <a:prstDash val="solid"/>
          </a:ln>
        </p:spPr>
      </p:sp>
      <p:sp>
        <p:nvSpPr>
          <p:cNvPr id="12" name="Text 9"/>
          <p:cNvSpPr txBox="1"/>
          <p:nvPr/>
        </p:nvSpPr>
        <p:spPr>
          <a:xfrm>
            <a:off x="822960" y="3794760"/>
            <a:ext cx="10515600" cy="914400"/>
          </a:xfrm>
          <a:prstGeom prst="rect">
            <a:avLst/>
          </a:prstGeom>
          <a:noFill/>
          <a:ln/>
        </p:spPr>
        <p:txBody>
          <a:bodyPr wrap="square" lIns="0" tIns="0" rIns="0" bIns="0" rtlCol="0" anchor="ctr"/>
          <a:lstStyle/>
          <a:p>
            <a:pPr indent="0" marL="0">
              <a:buNone/>
            </a:pPr>
            <a:r>
              <a:rPr lang="en-US" sz="1700" dirty="0">
                <a:solidFill>
                  <a:srgbClr val="1F2937"/>
                </a:solidFill>
                <a:latin typeface="Meiryo" pitchFamily="34" charset="0"/>
                <a:ea typeface="Meiryo" pitchFamily="34" charset="-122"/>
                <a:cs typeface="Meiryo" pitchFamily="34" charset="-120"/>
              </a:rPr>
              <a:t>❌  「設定ミスだと思います」</a:t>
            </a:r>
            <a:endParaRPr lang="en-US" sz="1700" dirty="0"/>
          </a:p>
        </p:txBody>
      </p:sp>
      <p:sp>
        <p:nvSpPr>
          <p:cNvPr id="13" name="Shape 10"/>
          <p:cNvSpPr/>
          <p:nvPr/>
        </p:nvSpPr>
        <p:spPr>
          <a:xfrm>
            <a:off x="548640" y="4846320"/>
            <a:ext cx="11064240" cy="1188720"/>
          </a:xfrm>
          <a:prstGeom prst="roundRect">
            <a:avLst>
              <a:gd name="adj" fmla="val 9231"/>
            </a:avLst>
          </a:prstGeom>
          <a:solidFill>
            <a:srgbClr val="E6F6EF"/>
          </a:solidFill>
          <a:ln w="12700">
            <a:solidFill>
              <a:srgbClr val="E6F6EF"/>
            </a:solidFill>
            <a:prstDash val="solid"/>
          </a:ln>
        </p:spPr>
      </p:sp>
      <p:sp>
        <p:nvSpPr>
          <p:cNvPr id="14" name="Text 11"/>
          <p:cNvSpPr txBox="1"/>
          <p:nvPr/>
        </p:nvSpPr>
        <p:spPr>
          <a:xfrm>
            <a:off x="822960" y="4846320"/>
            <a:ext cx="10515600" cy="118872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  「【事実】接続エラーが15件発生。【意見】設定の記述ミスの可能性が高いと考えています」</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曖昧な言葉を、数字に置き換える</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931920"/>
                <a:gridCol w="7132320"/>
              </a:tblGrid>
              <a:tr h="640080">
                <a:tc>
                  <a:txBody>
                    <a:bodyPr/>
                    <a:lstStyle/>
                    <a:p>
                      <a:pPr indent="0" marL="0">
                        <a:buNone/>
                      </a:pPr>
                      <a:r>
                        <a:rPr lang="en-US" sz="1600" b="1" dirty="0">
                          <a:solidFill>
                            <a:srgbClr val="FFFFFF"/>
                          </a:solidFill>
                          <a:latin typeface="Meiryo" pitchFamily="34" charset="0"/>
                          <a:ea typeface="Meiryo" pitchFamily="34" charset="-122"/>
                          <a:cs typeface="Meiryo" pitchFamily="34" charset="-120"/>
                        </a:rPr>
                        <a:t>曖昧（避ける）</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600" b="1" dirty="0">
                          <a:solidFill>
                            <a:srgbClr val="FFFFFF"/>
                          </a:solidFill>
                          <a:latin typeface="Meiryo" pitchFamily="34" charset="0"/>
                          <a:ea typeface="Meiryo" pitchFamily="34" charset="-122"/>
                          <a:cs typeface="Meiryo" pitchFamily="34" charset="-120"/>
                        </a:rPr>
                        <a:t>明確（推奨）</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r>
              <a:tr h="640080">
                <a:tc>
                  <a:txBody>
                    <a:bodyPr/>
                    <a:lstStyle/>
                    <a:p>
                      <a:pPr indent="0" marL="0">
                        <a:buNone/>
                      </a:pPr>
                      <a:r>
                        <a:rPr lang="en-US" sz="1600" dirty="0">
                          <a:solidFill>
                            <a:srgbClr val="1F2937"/>
                          </a:solidFill>
                          <a:latin typeface="Meiryo" pitchFamily="34" charset="0"/>
                          <a:ea typeface="Meiryo" pitchFamily="34" charset="-122"/>
                          <a:cs typeface="Meiryo" pitchFamily="34" charset="-120"/>
                        </a:rPr>
                        <a:t>すぐに対応します</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本日17:00までに対応します</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1F2937"/>
                          </a:solidFill>
                          <a:latin typeface="Meiryo" pitchFamily="34" charset="0"/>
                          <a:ea typeface="Meiryo" pitchFamily="34" charset="-122"/>
                          <a:cs typeface="Meiryo" pitchFamily="34" charset="-120"/>
                        </a:rPr>
                        <a:t>かなり遅い</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処理時間が従来の2.5倍（15秒）です</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r h="640080">
                <a:tc>
                  <a:txBody>
                    <a:bodyPr/>
                    <a:lstStyle/>
                    <a:p>
                      <a:pPr indent="0" marL="0">
                        <a:buNone/>
                      </a:pPr>
                      <a:r>
                        <a:rPr lang="en-US" sz="1600" dirty="0">
                          <a:solidFill>
                            <a:srgbClr val="1F2937"/>
                          </a:solidFill>
                          <a:latin typeface="Meiryo" pitchFamily="34" charset="0"/>
                          <a:ea typeface="Meiryo" pitchFamily="34" charset="-122"/>
                          <a:cs typeface="Meiryo" pitchFamily="34" charset="-120"/>
                        </a:rPr>
                        <a:t>だいたい完了</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テストケース10件中8件完了（進捗率80%）</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1F2937"/>
                          </a:solidFill>
                          <a:latin typeface="Meiryo" pitchFamily="34" charset="0"/>
                          <a:ea typeface="Meiryo" pitchFamily="34" charset="-122"/>
                          <a:cs typeface="Meiryo" pitchFamily="34" charset="-120"/>
                        </a:rPr>
                        <a:t>特になし</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予定どおり進行しており、阻害要因はありません</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r h="640080">
                <a:tc>
                  <a:txBody>
                    <a:bodyPr/>
                    <a:lstStyle/>
                    <a:p>
                      <a:pPr indent="0" marL="0">
                        <a:buNone/>
                      </a:pPr>
                      <a:r>
                        <a:rPr lang="en-US" sz="1600" dirty="0">
                          <a:solidFill>
                            <a:srgbClr val="1F2937"/>
                          </a:solidFill>
                          <a:latin typeface="Meiryo" pitchFamily="34" charset="0"/>
                          <a:ea typeface="Meiryo" pitchFamily="34" charset="-122"/>
                          <a:cs typeface="Meiryo" pitchFamily="34" charset="-120"/>
                        </a:rPr>
                        <a:t>ごくまれに発生する</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pitchFamily="34" charset="0"/>
                          <a:ea typeface="Meiryo" pitchFamily="34" charset="-122"/>
                          <a:cs typeface="Meiryo" pitchFamily="34" charset="-120"/>
                        </a:rPr>
                        <a:t>1,000回に1回の頻度で発生する（発生率0.1%）</a:t>
                      </a:r>
                      <a:endParaRPr lang="en-US" sz="16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STEP4｜文書の型と構造：報告・連絡</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2926080" cy="4663440"/>
          </a:xfrm>
          <a:prstGeom prst="roundRect">
            <a:avLst>
              <a:gd name="adj" fmla="val 3750"/>
            </a:avLst>
          </a:prstGeom>
          <a:solidFill>
            <a:srgbClr val="21295C"/>
          </a:solidFill>
          <a:ln w="12700">
            <a:solidFill>
              <a:srgbClr val="21295C"/>
            </a:solidFill>
            <a:prstDash val="solid"/>
          </a:ln>
        </p:spPr>
      </p:sp>
      <p:sp>
        <p:nvSpPr>
          <p:cNvPr id="6" name="Text 3"/>
          <p:cNvSpPr txBox="1"/>
          <p:nvPr/>
        </p:nvSpPr>
        <p:spPr>
          <a:xfrm>
            <a:off x="548640" y="1554480"/>
            <a:ext cx="2926080" cy="365760"/>
          </a:xfrm>
          <a:prstGeom prst="rect">
            <a:avLst/>
          </a:prstGeom>
          <a:noFill/>
          <a:ln/>
        </p:spPr>
        <p:txBody>
          <a:bodyPr wrap="square" lIns="0" tIns="0" rIns="0" bIns="0" rtlCol="0" anchor="t"/>
          <a:lstStyle/>
          <a:p>
            <a:pPr algn="ctr" indent="0" marL="0">
              <a:buNone/>
            </a:pPr>
            <a:r>
              <a:rPr lang="en-US" sz="1600" dirty="0">
                <a:solidFill>
                  <a:srgbClr val="BFE3F0"/>
                </a:solidFill>
                <a:latin typeface="Meiryo" pitchFamily="34" charset="0"/>
                <a:ea typeface="Meiryo" pitchFamily="34" charset="-122"/>
                <a:cs typeface="Meiryo" pitchFamily="34" charset="-120"/>
              </a:rPr>
              <a:t>STEP</a:t>
            </a:r>
            <a:endParaRPr lang="en-US" sz="1600" dirty="0"/>
          </a:p>
        </p:txBody>
      </p:sp>
      <p:sp>
        <p:nvSpPr>
          <p:cNvPr id="7" name="Text 4"/>
          <p:cNvSpPr txBox="1"/>
          <p:nvPr/>
        </p:nvSpPr>
        <p:spPr>
          <a:xfrm>
            <a:off x="548640" y="1920240"/>
            <a:ext cx="2926080" cy="1188720"/>
          </a:xfrm>
          <a:prstGeom prst="rect">
            <a:avLst/>
          </a:prstGeom>
          <a:noFill/>
          <a:ln/>
        </p:spPr>
        <p:txBody>
          <a:bodyPr wrap="square" lIns="0" tIns="0" rIns="0" bIns="0" rtlCol="0" anchor="t"/>
          <a:lstStyle/>
          <a:p>
            <a:pPr algn="ctr" indent="0" marL="0">
              <a:buNone/>
            </a:pPr>
            <a:r>
              <a:rPr lang="en-US" sz="7200" b="1" dirty="0">
                <a:solidFill>
                  <a:srgbClr val="FFFFFF"/>
                </a:solidFill>
                <a:latin typeface="Meiryo" pitchFamily="34" charset="0"/>
                <a:ea typeface="Meiryo" pitchFamily="34" charset="-122"/>
                <a:cs typeface="Meiryo" pitchFamily="34" charset="-120"/>
              </a:rPr>
              <a:t>4</a:t>
            </a:r>
            <a:endParaRPr lang="en-US" sz="7200" dirty="0"/>
          </a:p>
        </p:txBody>
      </p:sp>
      <p:sp>
        <p:nvSpPr>
          <p:cNvPr id="8" name="Text 5"/>
          <p:cNvSpPr txBox="1"/>
          <p:nvPr/>
        </p:nvSpPr>
        <p:spPr>
          <a:xfrm>
            <a:off x="548640" y="3291840"/>
            <a:ext cx="292608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Meiryo" pitchFamily="34" charset="0"/>
                <a:ea typeface="Meiryo" pitchFamily="34" charset="-122"/>
                <a:cs typeface="Meiryo" pitchFamily="34" charset="-120"/>
              </a:rPr>
              <a:t>難易度 5 / 9</a:t>
            </a:r>
            <a:endParaRPr lang="en-US" sz="1600" dirty="0"/>
          </a:p>
        </p:txBody>
      </p:sp>
      <p:sp>
        <p:nvSpPr>
          <p:cNvPr id="9" name="Shape 6"/>
          <p:cNvSpPr/>
          <p:nvPr/>
        </p:nvSpPr>
        <p:spPr>
          <a:xfrm>
            <a:off x="868680" y="3794760"/>
            <a:ext cx="182880" cy="182880"/>
          </a:xfrm>
          <a:prstGeom prst="ellipse">
            <a:avLst/>
          </a:prstGeom>
          <a:solidFill>
            <a:srgbClr val="065A82"/>
          </a:solidFill>
          <a:ln w="12700">
            <a:solidFill>
              <a:srgbClr val="065A82"/>
            </a:solidFill>
            <a:prstDash val="solid"/>
          </a:ln>
        </p:spPr>
      </p:sp>
      <p:sp>
        <p:nvSpPr>
          <p:cNvPr id="10" name="Shape 7"/>
          <p:cNvSpPr/>
          <p:nvPr/>
        </p:nvSpPr>
        <p:spPr>
          <a:xfrm>
            <a:off x="1115568" y="3794760"/>
            <a:ext cx="182880" cy="182880"/>
          </a:xfrm>
          <a:prstGeom prst="ellipse">
            <a:avLst/>
          </a:prstGeom>
          <a:solidFill>
            <a:srgbClr val="065A82"/>
          </a:solidFill>
          <a:ln w="12700">
            <a:solidFill>
              <a:srgbClr val="065A82"/>
            </a:solidFill>
            <a:prstDash val="solid"/>
          </a:ln>
        </p:spPr>
      </p:sp>
      <p:sp>
        <p:nvSpPr>
          <p:cNvPr id="11" name="Shape 8"/>
          <p:cNvSpPr/>
          <p:nvPr/>
        </p:nvSpPr>
        <p:spPr>
          <a:xfrm>
            <a:off x="1362456" y="3794760"/>
            <a:ext cx="182880" cy="182880"/>
          </a:xfrm>
          <a:prstGeom prst="ellipse">
            <a:avLst/>
          </a:prstGeom>
          <a:solidFill>
            <a:srgbClr val="065A82"/>
          </a:solidFill>
          <a:ln w="12700">
            <a:solidFill>
              <a:srgbClr val="065A82"/>
            </a:solidFill>
            <a:prstDash val="solid"/>
          </a:ln>
        </p:spPr>
      </p:sp>
      <p:sp>
        <p:nvSpPr>
          <p:cNvPr id="12" name="Shape 9"/>
          <p:cNvSpPr/>
          <p:nvPr/>
        </p:nvSpPr>
        <p:spPr>
          <a:xfrm>
            <a:off x="1609344" y="3794760"/>
            <a:ext cx="182880" cy="182880"/>
          </a:xfrm>
          <a:prstGeom prst="ellipse">
            <a:avLst/>
          </a:prstGeom>
          <a:solidFill>
            <a:srgbClr val="065A82"/>
          </a:solidFill>
          <a:ln w="12700">
            <a:solidFill>
              <a:srgbClr val="065A82"/>
            </a:solidFill>
            <a:prstDash val="solid"/>
          </a:ln>
        </p:spPr>
      </p:sp>
      <p:sp>
        <p:nvSpPr>
          <p:cNvPr id="13" name="Shape 10"/>
          <p:cNvSpPr/>
          <p:nvPr/>
        </p:nvSpPr>
        <p:spPr>
          <a:xfrm>
            <a:off x="1856232" y="3794760"/>
            <a:ext cx="182880" cy="182880"/>
          </a:xfrm>
          <a:prstGeom prst="ellipse">
            <a:avLst/>
          </a:prstGeom>
          <a:solidFill>
            <a:srgbClr val="065A82"/>
          </a:solidFill>
          <a:ln w="12700">
            <a:solidFill>
              <a:srgbClr val="065A82"/>
            </a:solidFill>
            <a:prstDash val="solid"/>
          </a:ln>
        </p:spPr>
      </p:sp>
      <p:sp>
        <p:nvSpPr>
          <p:cNvPr id="14" name="Shape 11"/>
          <p:cNvSpPr/>
          <p:nvPr/>
        </p:nvSpPr>
        <p:spPr>
          <a:xfrm>
            <a:off x="2103120" y="3794760"/>
            <a:ext cx="182880" cy="182880"/>
          </a:xfrm>
          <a:prstGeom prst="ellipse">
            <a:avLst/>
          </a:prstGeom>
          <a:solidFill>
            <a:srgbClr val="4B5A86"/>
          </a:solidFill>
          <a:ln w="12700">
            <a:solidFill>
              <a:srgbClr val="4B5A86"/>
            </a:solidFill>
            <a:prstDash val="solid"/>
          </a:ln>
        </p:spPr>
      </p:sp>
      <p:sp>
        <p:nvSpPr>
          <p:cNvPr id="15" name="Shape 12"/>
          <p:cNvSpPr/>
          <p:nvPr/>
        </p:nvSpPr>
        <p:spPr>
          <a:xfrm>
            <a:off x="2350008" y="3794760"/>
            <a:ext cx="182880" cy="182880"/>
          </a:xfrm>
          <a:prstGeom prst="ellipse">
            <a:avLst/>
          </a:prstGeom>
          <a:solidFill>
            <a:srgbClr val="4B5A86"/>
          </a:solidFill>
          <a:ln w="12700">
            <a:solidFill>
              <a:srgbClr val="4B5A86"/>
            </a:solidFill>
            <a:prstDash val="solid"/>
          </a:ln>
        </p:spPr>
      </p:sp>
      <p:sp>
        <p:nvSpPr>
          <p:cNvPr id="16" name="Shape 13"/>
          <p:cNvSpPr/>
          <p:nvPr/>
        </p:nvSpPr>
        <p:spPr>
          <a:xfrm>
            <a:off x="2596896" y="3794760"/>
            <a:ext cx="182880" cy="182880"/>
          </a:xfrm>
          <a:prstGeom prst="ellipse">
            <a:avLst/>
          </a:prstGeom>
          <a:solidFill>
            <a:srgbClr val="4B5A86"/>
          </a:solidFill>
          <a:ln w="12700">
            <a:solidFill>
              <a:srgbClr val="4B5A86"/>
            </a:solidFill>
            <a:prstDash val="solid"/>
          </a:ln>
        </p:spPr>
      </p:sp>
      <p:sp>
        <p:nvSpPr>
          <p:cNvPr id="17" name="Shape 14"/>
          <p:cNvSpPr/>
          <p:nvPr/>
        </p:nvSpPr>
        <p:spPr>
          <a:xfrm>
            <a:off x="2843784" y="3794760"/>
            <a:ext cx="182880" cy="182880"/>
          </a:xfrm>
          <a:prstGeom prst="ellipse">
            <a:avLst/>
          </a:prstGeom>
          <a:solidFill>
            <a:srgbClr val="4B5A86"/>
          </a:solidFill>
          <a:ln w="12700">
            <a:solidFill>
              <a:srgbClr val="4B5A86"/>
            </a:solidFill>
            <a:prstDash val="solid"/>
          </a:ln>
        </p:spPr>
      </p:sp>
      <p:sp>
        <p:nvSpPr>
          <p:cNvPr id="18" name="Text 15"/>
          <p:cNvSpPr txBox="1"/>
          <p:nvPr/>
        </p:nvSpPr>
        <p:spPr>
          <a:xfrm>
            <a:off x="548640" y="4297680"/>
            <a:ext cx="2926080" cy="365760"/>
          </a:xfrm>
          <a:prstGeom prst="rect">
            <a:avLst/>
          </a:prstGeom>
          <a:noFill/>
          <a:ln/>
        </p:spPr>
        <p:txBody>
          <a:bodyPr wrap="square" lIns="0" tIns="0" rIns="0" bIns="0" rtlCol="0" anchor="t"/>
          <a:lstStyle/>
          <a:p>
            <a:pPr algn="ctr" indent="0" marL="0">
              <a:buNone/>
            </a:pPr>
            <a:r>
              <a:rPr lang="en-US" sz="1400" dirty="0">
                <a:solidFill>
                  <a:srgbClr val="BFE3F0"/>
                </a:solidFill>
                <a:latin typeface="Meiryo" pitchFamily="34" charset="0"/>
                <a:ea typeface="Meiryo" pitchFamily="34" charset="-122"/>
                <a:cs typeface="Meiryo" pitchFamily="34" charset="-120"/>
              </a:rPr>
              <a:t>動画の目安：約15分</a:t>
            </a:r>
            <a:endParaRPr lang="en-US" sz="1400" dirty="0"/>
          </a:p>
        </p:txBody>
      </p:sp>
      <p:sp>
        <p:nvSpPr>
          <p:cNvPr id="19" name="Shape 16"/>
          <p:cNvSpPr/>
          <p:nvPr/>
        </p:nvSpPr>
        <p:spPr>
          <a:xfrm>
            <a:off x="3749040" y="1371600"/>
            <a:ext cx="7863840" cy="2240280"/>
          </a:xfrm>
          <a:prstGeom prst="roundRect">
            <a:avLst>
              <a:gd name="adj" fmla="val 4898"/>
            </a:avLst>
          </a:prstGeom>
          <a:solidFill>
            <a:srgbClr val="E6F1F7"/>
          </a:solidFill>
          <a:ln w="12700">
            <a:solidFill>
              <a:srgbClr val="E6F1F7"/>
            </a:solidFill>
            <a:prstDash val="solid"/>
          </a:ln>
        </p:spPr>
      </p:sp>
      <p:sp>
        <p:nvSpPr>
          <p:cNvPr id="20" name="Text 17"/>
          <p:cNvSpPr txBox="1"/>
          <p:nvPr/>
        </p:nvSpPr>
        <p:spPr>
          <a:xfrm>
            <a:off x="4023360" y="1508760"/>
            <a:ext cx="7315200" cy="365760"/>
          </a:xfrm>
          <a:prstGeom prst="rect">
            <a:avLst/>
          </a:prstGeom>
          <a:noFill/>
          <a:ln/>
        </p:spPr>
        <p:txBody>
          <a:bodyPr wrap="square" lIns="0" tIns="0" rIns="0" bIns="0" rtlCol="0" anchor="t"/>
          <a:lstStyle/>
          <a:p>
            <a:pPr indent="0" marL="0">
              <a:buNone/>
            </a:pPr>
            <a:r>
              <a:rPr lang="en-US" sz="1600" b="1" dirty="0">
                <a:solidFill>
                  <a:srgbClr val="065A82"/>
                </a:solidFill>
                <a:latin typeface="Meiryo" pitchFamily="34" charset="0"/>
                <a:ea typeface="Meiryo" pitchFamily="34" charset="-122"/>
                <a:cs typeface="Meiryo" pitchFamily="34" charset="-120"/>
              </a:rPr>
              <a:t>学ぶこと</a:t>
            </a:r>
            <a:endParaRPr lang="en-US" sz="1600" dirty="0"/>
          </a:p>
        </p:txBody>
      </p:sp>
      <p:sp>
        <p:nvSpPr>
          <p:cNvPr id="21" name="Text 18"/>
          <p:cNvSpPr txBox="1"/>
          <p:nvPr/>
        </p:nvSpPr>
        <p:spPr>
          <a:xfrm>
            <a:off x="4023360" y="1965960"/>
            <a:ext cx="731520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報告と連絡の型（結論→事実→予定／内容→影響→依頼）</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見出し記号と階層は、最大3〜4階層まで</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順序があれば数字リスト、なければ記号</a:t>
            </a:r>
            <a:endParaRPr lang="en-US" sz="1500" dirty="0"/>
          </a:p>
        </p:txBody>
      </p:sp>
      <p:sp>
        <p:nvSpPr>
          <p:cNvPr id="22" name="Shape 19"/>
          <p:cNvSpPr/>
          <p:nvPr/>
        </p:nvSpPr>
        <p:spPr>
          <a:xfrm>
            <a:off x="3749040" y="3749040"/>
            <a:ext cx="7863840" cy="1097280"/>
          </a:xfrm>
          <a:prstGeom prst="roundRect">
            <a:avLst>
              <a:gd name="adj" fmla="val 10000"/>
            </a:avLst>
          </a:prstGeom>
          <a:solidFill>
            <a:srgbClr val="EEF3F6"/>
          </a:solidFill>
          <a:ln w="12700">
            <a:solidFill>
              <a:srgbClr val="EEF3F6"/>
            </a:solidFill>
            <a:prstDash val="solid"/>
          </a:ln>
        </p:spPr>
      </p:sp>
      <p:sp>
        <p:nvSpPr>
          <p:cNvPr id="23" name="Text 20"/>
          <p:cNvSpPr txBox="1"/>
          <p:nvPr/>
        </p:nvSpPr>
        <p:spPr>
          <a:xfrm>
            <a:off x="4023360" y="384048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やってみよう</a:t>
            </a:r>
            <a:endParaRPr lang="en-US" sz="1400" dirty="0"/>
          </a:p>
        </p:txBody>
      </p:sp>
      <p:sp>
        <p:nvSpPr>
          <p:cNvPr id="24" name="Text 21"/>
          <p:cNvSpPr txBox="1"/>
          <p:nvPr/>
        </p:nvSpPr>
        <p:spPr>
          <a:xfrm>
            <a:off x="4023360" y="4206240"/>
            <a:ext cx="7315200" cy="59436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実際の案件を1つ選び、型に沿って報告か連絡を書く</a:t>
            </a:r>
            <a:endParaRPr lang="en-US" sz="1500" dirty="0"/>
          </a:p>
        </p:txBody>
      </p:sp>
      <p:sp>
        <p:nvSpPr>
          <p:cNvPr id="25" name="Shape 22"/>
          <p:cNvSpPr/>
          <p:nvPr/>
        </p:nvSpPr>
        <p:spPr>
          <a:xfrm>
            <a:off x="3749040" y="4983480"/>
            <a:ext cx="7863840" cy="1051560"/>
          </a:xfrm>
          <a:prstGeom prst="roundRect">
            <a:avLst>
              <a:gd name="adj" fmla="val 10435"/>
            </a:avLst>
          </a:prstGeom>
          <a:solidFill>
            <a:srgbClr val="EEF3F6"/>
          </a:solidFill>
          <a:ln w="12700">
            <a:solidFill>
              <a:srgbClr val="EEF3F6"/>
            </a:solidFill>
            <a:prstDash val="solid"/>
          </a:ln>
        </p:spPr>
      </p:sp>
      <p:sp>
        <p:nvSpPr>
          <p:cNvPr id="26" name="Text 23"/>
          <p:cNvSpPr txBox="1"/>
          <p:nvPr/>
        </p:nvSpPr>
        <p:spPr>
          <a:xfrm>
            <a:off x="4023360" y="507492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できたかな？</a:t>
            </a:r>
            <a:endParaRPr lang="en-US" sz="1400" dirty="0"/>
          </a:p>
        </p:txBody>
      </p:sp>
      <p:sp>
        <p:nvSpPr>
          <p:cNvPr id="27" name="Text 24"/>
          <p:cNvSpPr txBox="1"/>
          <p:nvPr/>
        </p:nvSpPr>
        <p:spPr>
          <a:xfrm>
            <a:off x="4023360" y="5440680"/>
            <a:ext cx="7315200" cy="548640"/>
          </a:xfrm>
          <a:prstGeom prst="rect">
            <a:avLst/>
          </a:prstGeom>
          <a:noFill/>
          <a:ln/>
        </p:spPr>
        <p:txBody>
          <a:bodyPr wrap="square" lIns="0" tIns="0" rIns="0" bIns="0" rtlCol="0" anchor="t"/>
          <a:lstStyle/>
          <a:p>
            <a:pPr indent="0" marL="0">
              <a:buNone/>
            </a:pPr>
            <a:r>
              <a:rPr lang="en-US" sz="1500" b="1" dirty="0">
                <a:solidFill>
                  <a:srgbClr val="21295C"/>
                </a:solidFill>
                <a:latin typeface="Meiryo" pitchFamily="34" charset="0"/>
                <a:ea typeface="Meiryo" pitchFamily="34" charset="-122"/>
                <a:cs typeface="Meiryo" pitchFamily="34" charset="-120"/>
              </a:rPr>
              <a:t>5秒で全体像が分かる文書を、型から書ける</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報告と連絡の型</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5394960" cy="4023360"/>
          </a:xfrm>
          <a:prstGeom prst="roundRect">
            <a:avLst>
              <a:gd name="adj" fmla="val 2727"/>
            </a:avLst>
          </a:prstGeom>
          <a:solidFill>
            <a:srgbClr val="F3F7F9"/>
          </a:solidFill>
          <a:ln w="12700">
            <a:solidFill>
              <a:srgbClr val="F3F7F9"/>
            </a:solidFill>
            <a:prstDash val="solid"/>
          </a:ln>
        </p:spPr>
      </p:sp>
      <p:sp>
        <p:nvSpPr>
          <p:cNvPr id="6" name="Text 3"/>
          <p:cNvSpPr txBox="1"/>
          <p:nvPr/>
        </p:nvSpPr>
        <p:spPr>
          <a:xfrm>
            <a:off x="548640" y="1481328"/>
            <a:ext cx="5394960" cy="365760"/>
          </a:xfrm>
          <a:prstGeom prst="rect">
            <a:avLst/>
          </a:prstGeom>
          <a:noFill/>
          <a:ln/>
        </p:spPr>
        <p:txBody>
          <a:bodyPr wrap="square" lIns="0" tIns="0" rIns="0" bIns="0" rtlCol="0" anchor="t"/>
          <a:lstStyle/>
          <a:p>
            <a:pPr algn="ctr" indent="0" marL="0">
              <a:buNone/>
            </a:pPr>
            <a:r>
              <a:rPr lang="en-US" sz="1500" b="1" dirty="0">
                <a:solidFill>
                  <a:srgbClr val="065A82"/>
                </a:solidFill>
                <a:latin typeface="Meiryo" pitchFamily="34" charset="0"/>
                <a:ea typeface="Meiryo" pitchFamily="34" charset="-122"/>
                <a:cs typeface="Meiryo" pitchFamily="34" charset="-120"/>
              </a:rPr>
              <a:t>報告（結果・状況を伝える）</a:t>
            </a:r>
            <a:endParaRPr lang="en-US" sz="1500" dirty="0"/>
          </a:p>
        </p:txBody>
      </p:sp>
      <p:sp>
        <p:nvSpPr>
          <p:cNvPr id="7" name="Text 4"/>
          <p:cNvSpPr txBox="1"/>
          <p:nvPr/>
        </p:nvSpPr>
        <p:spPr>
          <a:xfrm>
            <a:off x="777240" y="1965960"/>
            <a:ext cx="4937760" cy="3337560"/>
          </a:xfrm>
          <a:prstGeom prst="rect">
            <a:avLst/>
          </a:prstGeom>
          <a:noFill/>
          <a:ln/>
        </p:spPr>
        <p:txBody>
          <a:bodyPr wrap="square" lIns="0" tIns="0" rIns="0" bIns="0" rtlCol="0" anchor="t"/>
          <a:lstStyle/>
          <a:p>
            <a:pPr indent="0" marL="0">
              <a:spcAft>
                <a:spcPts val="300"/>
              </a:spcAft>
              <a:buNone/>
            </a:pPr>
            <a:r>
              <a:rPr lang="en-US" sz="1500" dirty="0">
                <a:solidFill>
                  <a:srgbClr val="1F2937"/>
                </a:solidFill>
                <a:latin typeface="Meiryo" pitchFamily="34" charset="0"/>
                <a:ea typeface="Meiryo" pitchFamily="34" charset="-122"/>
                <a:cs typeface="Meiryo" pitchFamily="34" charset="-120"/>
              </a:rPr>
              <a:t>【報告】〇〇について</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結論</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最も伝えたい結果・ステータス</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事実</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いつ／どこで／何が起きたか・数値</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今後の予定</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次に何をするか</a:t>
            </a:r>
            <a:endParaRPr lang="en-US" sz="1500" dirty="0"/>
          </a:p>
        </p:txBody>
      </p:sp>
      <p:sp>
        <p:nvSpPr>
          <p:cNvPr id="8" name="Shape 5"/>
          <p:cNvSpPr/>
          <p:nvPr/>
        </p:nvSpPr>
        <p:spPr>
          <a:xfrm>
            <a:off x="6217920" y="1371600"/>
            <a:ext cx="5394960" cy="4023360"/>
          </a:xfrm>
          <a:prstGeom prst="roundRect">
            <a:avLst>
              <a:gd name="adj" fmla="val 2727"/>
            </a:avLst>
          </a:prstGeom>
          <a:solidFill>
            <a:srgbClr val="F3F7F9"/>
          </a:solidFill>
          <a:ln w="12700">
            <a:solidFill>
              <a:srgbClr val="F3F7F9"/>
            </a:solidFill>
            <a:prstDash val="solid"/>
          </a:ln>
        </p:spPr>
      </p:sp>
      <p:sp>
        <p:nvSpPr>
          <p:cNvPr id="9" name="Text 6"/>
          <p:cNvSpPr txBox="1"/>
          <p:nvPr/>
        </p:nvSpPr>
        <p:spPr>
          <a:xfrm>
            <a:off x="6217920" y="1481328"/>
            <a:ext cx="5394960" cy="365760"/>
          </a:xfrm>
          <a:prstGeom prst="rect">
            <a:avLst/>
          </a:prstGeom>
          <a:noFill/>
          <a:ln/>
        </p:spPr>
        <p:txBody>
          <a:bodyPr wrap="square" lIns="0" tIns="0" rIns="0" bIns="0" rtlCol="0" anchor="t"/>
          <a:lstStyle/>
          <a:p>
            <a:pPr algn="ctr" indent="0" marL="0">
              <a:buNone/>
            </a:pPr>
            <a:r>
              <a:rPr lang="en-US" sz="1500" b="1" dirty="0">
                <a:solidFill>
                  <a:srgbClr val="065A82"/>
                </a:solidFill>
                <a:latin typeface="Meiryo" pitchFamily="34" charset="0"/>
                <a:ea typeface="Meiryo" pitchFamily="34" charset="-122"/>
                <a:cs typeface="Meiryo" pitchFamily="34" charset="-120"/>
              </a:rPr>
              <a:t>連絡（情報を共有する）</a:t>
            </a:r>
            <a:endParaRPr lang="en-US" sz="1500" dirty="0"/>
          </a:p>
        </p:txBody>
      </p:sp>
      <p:sp>
        <p:nvSpPr>
          <p:cNvPr id="10" name="Text 7"/>
          <p:cNvSpPr txBox="1"/>
          <p:nvPr/>
        </p:nvSpPr>
        <p:spPr>
          <a:xfrm>
            <a:off x="6446520" y="1965960"/>
            <a:ext cx="4937760" cy="3337560"/>
          </a:xfrm>
          <a:prstGeom prst="rect">
            <a:avLst/>
          </a:prstGeom>
          <a:noFill/>
          <a:ln/>
        </p:spPr>
        <p:txBody>
          <a:bodyPr wrap="square" lIns="0" tIns="0" rIns="0" bIns="0" rtlCol="0" anchor="t"/>
          <a:lstStyle/>
          <a:p>
            <a:pPr indent="0" marL="0">
              <a:spcAft>
                <a:spcPts val="300"/>
              </a:spcAft>
              <a:buNone/>
            </a:pPr>
            <a:r>
              <a:rPr lang="en-US" sz="1500" dirty="0">
                <a:solidFill>
                  <a:srgbClr val="1F2937"/>
                </a:solidFill>
                <a:latin typeface="Meiryo" pitchFamily="34" charset="0"/>
                <a:ea typeface="Meiryo" pitchFamily="34" charset="-122"/>
                <a:cs typeface="Meiryo" pitchFamily="34" charset="-120"/>
              </a:rPr>
              <a:t>【共有/連絡】〇〇</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内容</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伝えたい情報（短く）</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影響・注意点</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相手に関係する変更点</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対応お願い（ある場合のみ）</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返信不要なら「確認のみで返信不要です」</a:t>
            </a:r>
            <a:endParaRPr lang="en-US" sz="1500" dirty="0"/>
          </a:p>
        </p:txBody>
      </p:sp>
      <p:sp>
        <p:nvSpPr>
          <p:cNvPr id="11" name="Text 8"/>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500" b="1" dirty="0">
                <a:solidFill>
                  <a:srgbClr val="21295C"/>
                </a:solidFill>
                <a:latin typeface="Meiryo" pitchFamily="34" charset="0"/>
                <a:ea typeface="Meiryo" pitchFamily="34" charset="-122"/>
                <a:cs typeface="Meiryo" pitchFamily="34" charset="-120"/>
              </a:rPr>
              <a:t>タグ【 】で種類を示し、■ で区切る。依頼の有無は必ず書く。</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見出し・階層・番号の使い方</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645920"/>
                <a:gridCol w="1463040"/>
                <a:gridCol w="2377440"/>
                <a:gridCol w="5577840"/>
              </a:tblGrid>
              <a:tr h="548640">
                <a:tc>
                  <a:txBody>
                    <a:bodyPr/>
                    <a:lstStyle/>
                    <a:p>
                      <a:pPr indent="0" marL="0">
                        <a:buNone/>
                      </a:pPr>
                      <a:r>
                        <a:rPr lang="en-US" sz="1500" b="1" dirty="0">
                          <a:solidFill>
                            <a:srgbClr val="FFFFFF"/>
                          </a:solidFill>
                          <a:latin typeface="Meiryo" pitchFamily="34" charset="0"/>
                          <a:ea typeface="Meiryo" pitchFamily="34" charset="-122"/>
                          <a:cs typeface="Meiryo" pitchFamily="34" charset="-120"/>
                        </a:rPr>
                        <a:t>階層</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500" b="1" dirty="0">
                          <a:solidFill>
                            <a:srgbClr val="FFFFFF"/>
                          </a:solidFill>
                          <a:latin typeface="Meiryo" pitchFamily="34" charset="0"/>
                          <a:ea typeface="Meiryo" pitchFamily="34" charset="-122"/>
                          <a:cs typeface="Meiryo" pitchFamily="34" charset="-120"/>
                        </a:rPr>
                        <a:t>表記</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500" b="1" dirty="0">
                          <a:solidFill>
                            <a:srgbClr val="FFFFFF"/>
                          </a:solidFill>
                          <a:latin typeface="Meiryo" pitchFamily="34" charset="0"/>
                          <a:ea typeface="Meiryo" pitchFamily="34" charset="-122"/>
                          <a:cs typeface="Meiryo" pitchFamily="34" charset="-120"/>
                        </a:rPr>
                        <a:t>使う目的</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500" b="1" dirty="0">
                          <a:solidFill>
                            <a:srgbClr val="FFFFFF"/>
                          </a:solidFill>
                          <a:latin typeface="Meiryo" pitchFamily="34" charset="0"/>
                          <a:ea typeface="Meiryo" pitchFamily="34" charset="-122"/>
                          <a:cs typeface="Meiryo" pitchFamily="34" charset="-120"/>
                        </a:rPr>
                        <a:t>例</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r>
              <a:tr h="548640">
                <a:tc>
                  <a:txBody>
                    <a:bodyPr/>
                    <a:lstStyle/>
                    <a:p>
                      <a:pPr indent="0" marL="0">
                        <a:buNone/>
                      </a:pPr>
                      <a:r>
                        <a:rPr lang="en-US" sz="1500" dirty="0">
                          <a:solidFill>
                            <a:srgbClr val="1F2937"/>
                          </a:solidFill>
                          <a:latin typeface="Meiryo" pitchFamily="34" charset="0"/>
                          <a:ea typeface="Meiryo" pitchFamily="34" charset="-122"/>
                          <a:cs typeface="Meiryo" pitchFamily="34" charset="-120"/>
                        </a:rPr>
                        <a:t>第1階層</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大見出し</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 1. 概要</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F2937"/>
                          </a:solidFill>
                          <a:latin typeface="Meiryo" pitchFamily="34" charset="0"/>
                          <a:ea typeface="Meiryo" pitchFamily="34" charset="-122"/>
                          <a:cs typeface="Meiryo" pitchFamily="34" charset="-120"/>
                        </a:rPr>
                        <a:t>第2階層</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中見出し</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 1.1 発生要因</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r h="548640">
                <a:tc>
                  <a:txBody>
                    <a:bodyPr/>
                    <a:lstStyle/>
                    <a:p>
                      <a:pPr indent="0" marL="0">
                        <a:buNone/>
                      </a:pPr>
                      <a:r>
                        <a:rPr lang="en-US" sz="1500" dirty="0">
                          <a:solidFill>
                            <a:srgbClr val="1F2937"/>
                          </a:solidFill>
                          <a:latin typeface="Meiryo" pitchFamily="34" charset="0"/>
                          <a:ea typeface="Meiryo" pitchFamily="34" charset="-122"/>
                          <a:cs typeface="Meiryo" pitchFamily="34" charset="-120"/>
                        </a:rPr>
                        <a:t>第3階層</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(1)</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小見出し</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(1) パラメータ設定ミス</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F2937"/>
                          </a:solidFill>
                          <a:latin typeface="Meiryo" pitchFamily="34" charset="0"/>
                          <a:ea typeface="Meiryo" pitchFamily="34" charset="-122"/>
                          <a:cs typeface="Meiryo" pitchFamily="34" charset="-120"/>
                        </a:rPr>
                        <a:t>第4階層</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箇条書き</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・設定値が規定の2倍</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bl>
          </a:graphicData>
        </a:graphic>
      </p:graphicFrame>
      <p:sp>
        <p:nvSpPr>
          <p:cNvPr id="6" name="Shape 2"/>
          <p:cNvSpPr/>
          <p:nvPr/>
        </p:nvSpPr>
        <p:spPr>
          <a:xfrm>
            <a:off x="548640" y="4343400"/>
            <a:ext cx="5394960" cy="1691640"/>
          </a:xfrm>
          <a:prstGeom prst="roundRect">
            <a:avLst>
              <a:gd name="adj" fmla="val 6486"/>
            </a:avLst>
          </a:prstGeom>
          <a:solidFill>
            <a:srgbClr val="E6F1F7"/>
          </a:solidFill>
          <a:ln w="12700">
            <a:solidFill>
              <a:srgbClr val="E6F1F7"/>
            </a:solidFill>
            <a:prstDash val="solid"/>
          </a:ln>
        </p:spPr>
      </p:sp>
      <p:sp>
        <p:nvSpPr>
          <p:cNvPr id="7" name="Text 3"/>
          <p:cNvSpPr txBox="1"/>
          <p:nvPr/>
        </p:nvSpPr>
        <p:spPr>
          <a:xfrm>
            <a:off x="822960" y="4434840"/>
            <a:ext cx="4846320" cy="365760"/>
          </a:xfrm>
          <a:prstGeom prst="rect">
            <a:avLst/>
          </a:prstGeom>
          <a:noFill/>
          <a:ln/>
        </p:spPr>
        <p:txBody>
          <a:bodyPr wrap="square" lIns="0" tIns="0" rIns="0" bIns="0" rtlCol="0" anchor="t"/>
          <a:lstStyle/>
          <a:p>
            <a:pPr indent="0" marL="0">
              <a:buNone/>
            </a:pPr>
            <a:r>
              <a:rPr lang="en-US" sz="1600" b="1" dirty="0">
                <a:solidFill>
                  <a:srgbClr val="065A82"/>
                </a:solidFill>
                <a:latin typeface="Meiryo" pitchFamily="34" charset="0"/>
                <a:ea typeface="Meiryo" pitchFamily="34" charset="-122"/>
                <a:cs typeface="Meiryo" pitchFamily="34" charset="-120"/>
              </a:rPr>
              <a:t>順序がある → 数字リスト</a:t>
            </a:r>
            <a:endParaRPr lang="en-US" sz="1600" dirty="0"/>
          </a:p>
        </p:txBody>
      </p:sp>
      <p:sp>
        <p:nvSpPr>
          <p:cNvPr id="8" name="Text 4"/>
          <p:cNvSpPr txBox="1"/>
          <p:nvPr/>
        </p:nvSpPr>
        <p:spPr>
          <a:xfrm>
            <a:off x="822960" y="4892040"/>
            <a:ext cx="4846320" cy="109728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手順・実行順・優先順位。手順は動詞で終える。</a:t>
            </a:r>
            <a:endParaRPr lang="en-US" sz="1400" dirty="0"/>
          </a:p>
        </p:txBody>
      </p:sp>
      <p:sp>
        <p:nvSpPr>
          <p:cNvPr id="9" name="Shape 5"/>
          <p:cNvSpPr/>
          <p:nvPr/>
        </p:nvSpPr>
        <p:spPr>
          <a:xfrm>
            <a:off x="6217920" y="4343400"/>
            <a:ext cx="5394960" cy="1691640"/>
          </a:xfrm>
          <a:prstGeom prst="roundRect">
            <a:avLst>
              <a:gd name="adj" fmla="val 6486"/>
            </a:avLst>
          </a:prstGeom>
          <a:solidFill>
            <a:srgbClr val="E6F1F7"/>
          </a:solidFill>
          <a:ln w="12700">
            <a:solidFill>
              <a:srgbClr val="E6F1F7"/>
            </a:solidFill>
            <a:prstDash val="solid"/>
          </a:ln>
        </p:spPr>
      </p:sp>
      <p:sp>
        <p:nvSpPr>
          <p:cNvPr id="10" name="Text 6"/>
          <p:cNvSpPr txBox="1"/>
          <p:nvPr/>
        </p:nvSpPr>
        <p:spPr>
          <a:xfrm>
            <a:off x="6492240" y="4434840"/>
            <a:ext cx="4846320" cy="365760"/>
          </a:xfrm>
          <a:prstGeom prst="rect">
            <a:avLst/>
          </a:prstGeom>
          <a:noFill/>
          <a:ln/>
        </p:spPr>
        <p:txBody>
          <a:bodyPr wrap="square" lIns="0" tIns="0" rIns="0" bIns="0" rtlCol="0" anchor="t"/>
          <a:lstStyle/>
          <a:p>
            <a:pPr indent="0" marL="0">
              <a:buNone/>
            </a:pPr>
            <a:r>
              <a:rPr lang="en-US" sz="1600" b="1" dirty="0">
                <a:solidFill>
                  <a:srgbClr val="065A82"/>
                </a:solidFill>
                <a:latin typeface="Meiryo" pitchFamily="34" charset="0"/>
                <a:ea typeface="Meiryo" pitchFamily="34" charset="-122"/>
                <a:cs typeface="Meiryo" pitchFamily="34" charset="-120"/>
              </a:rPr>
              <a:t>順序がない → 記号「・」</a:t>
            </a:r>
            <a:endParaRPr lang="en-US" sz="1600" dirty="0"/>
          </a:p>
        </p:txBody>
      </p:sp>
      <p:sp>
        <p:nvSpPr>
          <p:cNvPr id="11" name="Text 7"/>
          <p:cNvSpPr txBox="1"/>
          <p:nvPr/>
        </p:nvSpPr>
        <p:spPr>
          <a:xfrm>
            <a:off x="6492240" y="4892040"/>
            <a:ext cx="4846320" cy="109728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並列の情報。語尾（体言止め・動詞止め）を揃える。</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なぜ効く？ 認知科学の根拠（資料の見せ方にも使える）</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5394960" cy="1965960"/>
          </a:xfrm>
          <a:prstGeom prst="roundRect">
            <a:avLst>
              <a:gd name="adj" fmla="val 5581"/>
            </a:avLst>
          </a:prstGeom>
          <a:solidFill>
            <a:srgbClr val="E6F1F7"/>
          </a:solidFill>
          <a:ln w="12700">
            <a:solidFill>
              <a:srgbClr val="E6F1F7"/>
            </a:solidFill>
            <a:prstDash val="solid"/>
          </a:ln>
        </p:spPr>
      </p:sp>
      <p:sp>
        <p:nvSpPr>
          <p:cNvPr id="6" name="Shape 3"/>
          <p:cNvSpPr/>
          <p:nvPr/>
        </p:nvSpPr>
        <p:spPr>
          <a:xfrm>
            <a:off x="777240" y="1572768"/>
            <a:ext cx="502920" cy="502920"/>
          </a:xfrm>
          <a:prstGeom prst="ellipse">
            <a:avLst/>
          </a:prstGeom>
          <a:solidFill>
            <a:srgbClr val="065A82"/>
          </a:solidFill>
          <a:ln w="12700">
            <a:solidFill>
              <a:srgbClr val="065A82"/>
            </a:solidFill>
            <a:prstDash val="solid"/>
          </a:ln>
        </p:spPr>
      </p:sp>
      <p:sp>
        <p:nvSpPr>
          <p:cNvPr id="7" name="Text 4"/>
          <p:cNvSpPr txBox="1"/>
          <p:nvPr/>
        </p:nvSpPr>
        <p:spPr>
          <a:xfrm>
            <a:off x="77724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8" name="Text 5"/>
          <p:cNvSpPr txBox="1"/>
          <p:nvPr/>
        </p:nvSpPr>
        <p:spPr>
          <a:xfrm>
            <a:off x="1417320" y="1508760"/>
            <a:ext cx="4297680" cy="640080"/>
          </a:xfrm>
          <a:prstGeom prst="rect">
            <a:avLst/>
          </a:prstGeom>
          <a:noFill/>
          <a:ln/>
        </p:spPr>
        <p:txBody>
          <a:bodyPr wrap="square" lIns="0" tIns="0" rIns="0" bIns="0" rtlCol="0" anchor="ctr"/>
          <a:lstStyle/>
          <a:p>
            <a:pPr indent="0" marL="0">
              <a:buNone/>
            </a:pPr>
            <a:r>
              <a:rPr lang="en-US" sz="1500" b="1" dirty="0">
                <a:solidFill>
                  <a:srgbClr val="21295C"/>
                </a:solidFill>
                <a:latin typeface="Meiryo" pitchFamily="34" charset="0"/>
                <a:ea typeface="Meiryo" pitchFamily="34" charset="-122"/>
                <a:cs typeface="Meiryo" pitchFamily="34" charset="-120"/>
              </a:rPr>
              <a:t>作業記憶は約4個（Cowan, 2001）</a:t>
            </a:r>
            <a:endParaRPr lang="en-US" sz="1500" dirty="0"/>
          </a:p>
        </p:txBody>
      </p:sp>
      <p:sp>
        <p:nvSpPr>
          <p:cNvPr id="9" name="Text 6"/>
          <p:cNvSpPr txBox="1"/>
          <p:nvPr/>
        </p:nvSpPr>
        <p:spPr>
          <a:xfrm>
            <a:off x="822960" y="2240280"/>
            <a:ext cx="4846320" cy="100584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 1画面・1スライドの要点は3〜4個に絞る</a:t>
            </a:r>
            <a:endParaRPr lang="en-US" sz="1400" dirty="0"/>
          </a:p>
        </p:txBody>
      </p:sp>
      <p:sp>
        <p:nvSpPr>
          <p:cNvPr id="10" name="Shape 7"/>
          <p:cNvSpPr/>
          <p:nvPr/>
        </p:nvSpPr>
        <p:spPr>
          <a:xfrm>
            <a:off x="6217920" y="1371600"/>
            <a:ext cx="5394960" cy="1965960"/>
          </a:xfrm>
          <a:prstGeom prst="roundRect">
            <a:avLst>
              <a:gd name="adj" fmla="val 5581"/>
            </a:avLst>
          </a:prstGeom>
          <a:solidFill>
            <a:srgbClr val="E6F1F7"/>
          </a:solidFill>
          <a:ln w="12700">
            <a:solidFill>
              <a:srgbClr val="E6F1F7"/>
            </a:solidFill>
            <a:prstDash val="solid"/>
          </a:ln>
        </p:spPr>
      </p:sp>
      <p:sp>
        <p:nvSpPr>
          <p:cNvPr id="11" name="Shape 8"/>
          <p:cNvSpPr/>
          <p:nvPr/>
        </p:nvSpPr>
        <p:spPr>
          <a:xfrm>
            <a:off x="6446520" y="1572768"/>
            <a:ext cx="502920" cy="502920"/>
          </a:xfrm>
          <a:prstGeom prst="ellipse">
            <a:avLst/>
          </a:prstGeom>
          <a:solidFill>
            <a:srgbClr val="065A82"/>
          </a:solidFill>
          <a:ln w="12700">
            <a:solidFill>
              <a:srgbClr val="065A82"/>
            </a:solidFill>
            <a:prstDash val="solid"/>
          </a:ln>
        </p:spPr>
      </p:sp>
      <p:sp>
        <p:nvSpPr>
          <p:cNvPr id="12" name="Text 9"/>
          <p:cNvSpPr txBox="1"/>
          <p:nvPr/>
        </p:nvSpPr>
        <p:spPr>
          <a:xfrm>
            <a:off x="644652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3" name="Text 10"/>
          <p:cNvSpPr txBox="1"/>
          <p:nvPr/>
        </p:nvSpPr>
        <p:spPr>
          <a:xfrm>
            <a:off x="7086600" y="1508760"/>
            <a:ext cx="4297680" cy="640080"/>
          </a:xfrm>
          <a:prstGeom prst="rect">
            <a:avLst/>
          </a:prstGeom>
          <a:noFill/>
          <a:ln/>
        </p:spPr>
        <p:txBody>
          <a:bodyPr wrap="square" lIns="0" tIns="0" rIns="0" bIns="0" rtlCol="0" anchor="ctr"/>
          <a:lstStyle/>
          <a:p>
            <a:pPr indent="0" marL="0">
              <a:buNone/>
            </a:pPr>
            <a:r>
              <a:rPr lang="en-US" sz="1500" b="1" dirty="0">
                <a:solidFill>
                  <a:srgbClr val="21295C"/>
                </a:solidFill>
                <a:latin typeface="Meiryo" pitchFamily="34" charset="0"/>
                <a:ea typeface="Meiryo" pitchFamily="34" charset="-122"/>
                <a:cs typeface="Meiryo" pitchFamily="34" charset="-120"/>
              </a:rPr>
              <a:t>色・大きさの違いは瞬時に処理（Treisman &amp; Gelade, 1980）</a:t>
            </a:r>
            <a:endParaRPr lang="en-US" sz="1500" dirty="0"/>
          </a:p>
        </p:txBody>
      </p:sp>
      <p:sp>
        <p:nvSpPr>
          <p:cNvPr id="14" name="Text 11"/>
          <p:cNvSpPr txBox="1"/>
          <p:nvPr/>
        </p:nvSpPr>
        <p:spPr>
          <a:xfrm>
            <a:off x="6492240" y="2240280"/>
            <a:ext cx="4846320" cy="100584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 強調色は1色だけにする</a:t>
            </a:r>
            <a:endParaRPr lang="en-US" sz="1400" dirty="0"/>
          </a:p>
        </p:txBody>
      </p:sp>
      <p:sp>
        <p:nvSpPr>
          <p:cNvPr id="15" name="Shape 12"/>
          <p:cNvSpPr/>
          <p:nvPr/>
        </p:nvSpPr>
        <p:spPr>
          <a:xfrm>
            <a:off x="548640" y="3611880"/>
            <a:ext cx="5394960" cy="1965960"/>
          </a:xfrm>
          <a:prstGeom prst="roundRect">
            <a:avLst>
              <a:gd name="adj" fmla="val 5581"/>
            </a:avLst>
          </a:prstGeom>
          <a:solidFill>
            <a:srgbClr val="E6F1F7"/>
          </a:solidFill>
          <a:ln w="12700">
            <a:solidFill>
              <a:srgbClr val="E6F1F7"/>
            </a:solidFill>
            <a:prstDash val="solid"/>
          </a:ln>
        </p:spPr>
      </p:sp>
      <p:sp>
        <p:nvSpPr>
          <p:cNvPr id="16" name="Shape 13"/>
          <p:cNvSpPr/>
          <p:nvPr/>
        </p:nvSpPr>
        <p:spPr>
          <a:xfrm>
            <a:off x="777240" y="3813048"/>
            <a:ext cx="502920" cy="502920"/>
          </a:xfrm>
          <a:prstGeom prst="ellipse">
            <a:avLst/>
          </a:prstGeom>
          <a:solidFill>
            <a:srgbClr val="065A82"/>
          </a:solidFill>
          <a:ln w="12700">
            <a:solidFill>
              <a:srgbClr val="065A82"/>
            </a:solidFill>
            <a:prstDash val="solid"/>
          </a:ln>
        </p:spPr>
      </p:sp>
      <p:sp>
        <p:nvSpPr>
          <p:cNvPr id="17" name="Text 14"/>
          <p:cNvSpPr txBox="1"/>
          <p:nvPr/>
        </p:nvSpPr>
        <p:spPr>
          <a:xfrm>
            <a:off x="777240" y="381304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8" name="Text 15"/>
          <p:cNvSpPr txBox="1"/>
          <p:nvPr/>
        </p:nvSpPr>
        <p:spPr>
          <a:xfrm>
            <a:off x="1417320" y="3749040"/>
            <a:ext cx="4297680" cy="640080"/>
          </a:xfrm>
          <a:prstGeom prst="rect">
            <a:avLst/>
          </a:prstGeom>
          <a:noFill/>
          <a:ln/>
        </p:spPr>
        <p:txBody>
          <a:bodyPr wrap="square" lIns="0" tIns="0" rIns="0" bIns="0" rtlCol="0" anchor="ctr"/>
          <a:lstStyle/>
          <a:p>
            <a:pPr indent="0" marL="0">
              <a:buNone/>
            </a:pPr>
            <a:r>
              <a:rPr lang="en-US" sz="1500" b="1" dirty="0">
                <a:solidFill>
                  <a:srgbClr val="21295C"/>
                </a:solidFill>
                <a:latin typeface="Meiryo" pitchFamily="34" charset="0"/>
                <a:ea typeface="Meiryo" pitchFamily="34" charset="-122"/>
                <a:cs typeface="Meiryo" pitchFamily="34" charset="-120"/>
              </a:rPr>
              <a:t>近いもの・囲んだものはグループに見える（ゲシュタルト心理学）</a:t>
            </a:r>
            <a:endParaRPr lang="en-US" sz="1500" dirty="0"/>
          </a:p>
        </p:txBody>
      </p:sp>
      <p:sp>
        <p:nvSpPr>
          <p:cNvPr id="19" name="Text 16"/>
          <p:cNvSpPr txBox="1"/>
          <p:nvPr/>
        </p:nvSpPr>
        <p:spPr>
          <a:xfrm>
            <a:off x="822960" y="4480560"/>
            <a:ext cx="4846320" cy="100584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 関連情報は近づけて、枠で囲む</a:t>
            </a:r>
            <a:endParaRPr lang="en-US" sz="1400" dirty="0"/>
          </a:p>
        </p:txBody>
      </p:sp>
      <p:sp>
        <p:nvSpPr>
          <p:cNvPr id="20" name="Shape 17"/>
          <p:cNvSpPr/>
          <p:nvPr/>
        </p:nvSpPr>
        <p:spPr>
          <a:xfrm>
            <a:off x="6217920" y="3611880"/>
            <a:ext cx="5394960" cy="1965960"/>
          </a:xfrm>
          <a:prstGeom prst="roundRect">
            <a:avLst>
              <a:gd name="adj" fmla="val 5581"/>
            </a:avLst>
          </a:prstGeom>
          <a:solidFill>
            <a:srgbClr val="E6F1F7"/>
          </a:solidFill>
          <a:ln w="12700">
            <a:solidFill>
              <a:srgbClr val="E6F1F7"/>
            </a:solidFill>
            <a:prstDash val="solid"/>
          </a:ln>
        </p:spPr>
      </p:sp>
      <p:sp>
        <p:nvSpPr>
          <p:cNvPr id="21" name="Shape 18"/>
          <p:cNvSpPr/>
          <p:nvPr/>
        </p:nvSpPr>
        <p:spPr>
          <a:xfrm>
            <a:off x="6446520" y="3813048"/>
            <a:ext cx="502920" cy="502920"/>
          </a:xfrm>
          <a:prstGeom prst="ellipse">
            <a:avLst/>
          </a:prstGeom>
          <a:solidFill>
            <a:srgbClr val="065A82"/>
          </a:solidFill>
          <a:ln w="12700">
            <a:solidFill>
              <a:srgbClr val="065A82"/>
            </a:solidFill>
            <a:prstDash val="solid"/>
          </a:ln>
        </p:spPr>
      </p:sp>
      <p:sp>
        <p:nvSpPr>
          <p:cNvPr id="22" name="Text 19"/>
          <p:cNvSpPr txBox="1"/>
          <p:nvPr/>
        </p:nvSpPr>
        <p:spPr>
          <a:xfrm>
            <a:off x="6446520" y="381304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3" name="Text 20"/>
          <p:cNvSpPr txBox="1"/>
          <p:nvPr/>
        </p:nvSpPr>
        <p:spPr>
          <a:xfrm>
            <a:off x="7086600" y="3749040"/>
            <a:ext cx="4297680" cy="640080"/>
          </a:xfrm>
          <a:prstGeom prst="rect">
            <a:avLst/>
          </a:prstGeom>
          <a:noFill/>
          <a:ln/>
        </p:spPr>
        <p:txBody>
          <a:bodyPr wrap="square" lIns="0" tIns="0" rIns="0" bIns="0" rtlCol="0" anchor="ctr"/>
          <a:lstStyle/>
          <a:p>
            <a:pPr indent="0" marL="0">
              <a:buNone/>
            </a:pPr>
            <a:r>
              <a:rPr lang="en-US" sz="1500" b="1" dirty="0">
                <a:solidFill>
                  <a:srgbClr val="21295C"/>
                </a:solidFill>
                <a:latin typeface="Meiryo" pitchFamily="34" charset="0"/>
                <a:ea typeface="Meiryo" pitchFamily="34" charset="-122"/>
                <a:cs typeface="Meiryo" pitchFamily="34" charset="-120"/>
              </a:rPr>
              <a:t>視線はF型・Z型に動く（Nielsen, 2006）</a:t>
            </a:r>
            <a:endParaRPr lang="en-US" sz="1500" dirty="0"/>
          </a:p>
        </p:txBody>
      </p:sp>
      <p:sp>
        <p:nvSpPr>
          <p:cNvPr id="24" name="Text 21"/>
          <p:cNvSpPr txBox="1"/>
          <p:nvPr/>
        </p:nvSpPr>
        <p:spPr>
          <a:xfrm>
            <a:off x="6492240" y="4480560"/>
            <a:ext cx="4846320" cy="100584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 結論は左上に置く</a:t>
            </a:r>
            <a:endParaRPr lang="en-US" sz="1400" dirty="0"/>
          </a:p>
        </p:txBody>
      </p:sp>
      <p:sp>
        <p:nvSpPr>
          <p:cNvPr id="25" name="Text 22"/>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1300" dirty="0">
                <a:solidFill>
                  <a:srgbClr val="6B7280"/>
                </a:solidFill>
                <a:latin typeface="Meiryo" pitchFamily="34" charset="0"/>
                <a:ea typeface="Meiryo" pitchFamily="34" charset="-122"/>
                <a:cs typeface="Meiryo" pitchFamily="34" charset="-120"/>
              </a:rPr>
              <a:t>関連：認知負荷理論（Sweller, 1988）。出典はスライド最後の参考文献を参照。</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STEP5｜仮説入り相談とサポート依頼</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2926080" cy="4663440"/>
          </a:xfrm>
          <a:prstGeom prst="roundRect">
            <a:avLst>
              <a:gd name="adj" fmla="val 3750"/>
            </a:avLst>
          </a:prstGeom>
          <a:solidFill>
            <a:srgbClr val="21295C"/>
          </a:solidFill>
          <a:ln w="12700">
            <a:solidFill>
              <a:srgbClr val="21295C"/>
            </a:solidFill>
            <a:prstDash val="solid"/>
          </a:ln>
        </p:spPr>
      </p:sp>
      <p:sp>
        <p:nvSpPr>
          <p:cNvPr id="6" name="Text 3"/>
          <p:cNvSpPr txBox="1"/>
          <p:nvPr/>
        </p:nvSpPr>
        <p:spPr>
          <a:xfrm>
            <a:off x="548640" y="1554480"/>
            <a:ext cx="2926080" cy="365760"/>
          </a:xfrm>
          <a:prstGeom prst="rect">
            <a:avLst/>
          </a:prstGeom>
          <a:noFill/>
          <a:ln/>
        </p:spPr>
        <p:txBody>
          <a:bodyPr wrap="square" lIns="0" tIns="0" rIns="0" bIns="0" rtlCol="0" anchor="t"/>
          <a:lstStyle/>
          <a:p>
            <a:pPr algn="ctr" indent="0" marL="0">
              <a:buNone/>
            </a:pPr>
            <a:r>
              <a:rPr lang="en-US" sz="1600" dirty="0">
                <a:solidFill>
                  <a:srgbClr val="BFE3F0"/>
                </a:solidFill>
                <a:latin typeface="Meiryo" pitchFamily="34" charset="0"/>
                <a:ea typeface="Meiryo" pitchFamily="34" charset="-122"/>
                <a:cs typeface="Meiryo" pitchFamily="34" charset="-120"/>
              </a:rPr>
              <a:t>STEP</a:t>
            </a:r>
            <a:endParaRPr lang="en-US" sz="1600" dirty="0"/>
          </a:p>
        </p:txBody>
      </p:sp>
      <p:sp>
        <p:nvSpPr>
          <p:cNvPr id="7" name="Text 4"/>
          <p:cNvSpPr txBox="1"/>
          <p:nvPr/>
        </p:nvSpPr>
        <p:spPr>
          <a:xfrm>
            <a:off x="548640" y="1920240"/>
            <a:ext cx="2926080" cy="1188720"/>
          </a:xfrm>
          <a:prstGeom prst="rect">
            <a:avLst/>
          </a:prstGeom>
          <a:noFill/>
          <a:ln/>
        </p:spPr>
        <p:txBody>
          <a:bodyPr wrap="square" lIns="0" tIns="0" rIns="0" bIns="0" rtlCol="0" anchor="t"/>
          <a:lstStyle/>
          <a:p>
            <a:pPr algn="ctr" indent="0" marL="0">
              <a:buNone/>
            </a:pPr>
            <a:r>
              <a:rPr lang="en-US" sz="7200" b="1" dirty="0">
                <a:solidFill>
                  <a:srgbClr val="FFFFFF"/>
                </a:solidFill>
                <a:latin typeface="Meiryo" pitchFamily="34" charset="0"/>
                <a:ea typeface="Meiryo" pitchFamily="34" charset="-122"/>
                <a:cs typeface="Meiryo" pitchFamily="34" charset="-120"/>
              </a:rPr>
              <a:t>5</a:t>
            </a:r>
            <a:endParaRPr lang="en-US" sz="7200" dirty="0"/>
          </a:p>
        </p:txBody>
      </p:sp>
      <p:sp>
        <p:nvSpPr>
          <p:cNvPr id="8" name="Text 5"/>
          <p:cNvSpPr txBox="1"/>
          <p:nvPr/>
        </p:nvSpPr>
        <p:spPr>
          <a:xfrm>
            <a:off x="548640" y="3291840"/>
            <a:ext cx="292608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Meiryo" pitchFamily="34" charset="0"/>
                <a:ea typeface="Meiryo" pitchFamily="34" charset="-122"/>
                <a:cs typeface="Meiryo" pitchFamily="34" charset="-120"/>
              </a:rPr>
              <a:t>難易度 6 / 9</a:t>
            </a:r>
            <a:endParaRPr lang="en-US" sz="1600" dirty="0"/>
          </a:p>
        </p:txBody>
      </p:sp>
      <p:sp>
        <p:nvSpPr>
          <p:cNvPr id="9" name="Shape 6"/>
          <p:cNvSpPr/>
          <p:nvPr/>
        </p:nvSpPr>
        <p:spPr>
          <a:xfrm>
            <a:off x="868680" y="3794760"/>
            <a:ext cx="182880" cy="182880"/>
          </a:xfrm>
          <a:prstGeom prst="ellipse">
            <a:avLst/>
          </a:prstGeom>
          <a:solidFill>
            <a:srgbClr val="065A82"/>
          </a:solidFill>
          <a:ln w="12700">
            <a:solidFill>
              <a:srgbClr val="065A82"/>
            </a:solidFill>
            <a:prstDash val="solid"/>
          </a:ln>
        </p:spPr>
      </p:sp>
      <p:sp>
        <p:nvSpPr>
          <p:cNvPr id="10" name="Shape 7"/>
          <p:cNvSpPr/>
          <p:nvPr/>
        </p:nvSpPr>
        <p:spPr>
          <a:xfrm>
            <a:off x="1115568" y="3794760"/>
            <a:ext cx="182880" cy="182880"/>
          </a:xfrm>
          <a:prstGeom prst="ellipse">
            <a:avLst/>
          </a:prstGeom>
          <a:solidFill>
            <a:srgbClr val="065A82"/>
          </a:solidFill>
          <a:ln w="12700">
            <a:solidFill>
              <a:srgbClr val="065A82"/>
            </a:solidFill>
            <a:prstDash val="solid"/>
          </a:ln>
        </p:spPr>
      </p:sp>
      <p:sp>
        <p:nvSpPr>
          <p:cNvPr id="11" name="Shape 8"/>
          <p:cNvSpPr/>
          <p:nvPr/>
        </p:nvSpPr>
        <p:spPr>
          <a:xfrm>
            <a:off x="1362456" y="3794760"/>
            <a:ext cx="182880" cy="182880"/>
          </a:xfrm>
          <a:prstGeom prst="ellipse">
            <a:avLst/>
          </a:prstGeom>
          <a:solidFill>
            <a:srgbClr val="065A82"/>
          </a:solidFill>
          <a:ln w="12700">
            <a:solidFill>
              <a:srgbClr val="065A82"/>
            </a:solidFill>
            <a:prstDash val="solid"/>
          </a:ln>
        </p:spPr>
      </p:sp>
      <p:sp>
        <p:nvSpPr>
          <p:cNvPr id="12" name="Shape 9"/>
          <p:cNvSpPr/>
          <p:nvPr/>
        </p:nvSpPr>
        <p:spPr>
          <a:xfrm>
            <a:off x="1609344" y="3794760"/>
            <a:ext cx="182880" cy="182880"/>
          </a:xfrm>
          <a:prstGeom prst="ellipse">
            <a:avLst/>
          </a:prstGeom>
          <a:solidFill>
            <a:srgbClr val="065A82"/>
          </a:solidFill>
          <a:ln w="12700">
            <a:solidFill>
              <a:srgbClr val="065A82"/>
            </a:solidFill>
            <a:prstDash val="solid"/>
          </a:ln>
        </p:spPr>
      </p:sp>
      <p:sp>
        <p:nvSpPr>
          <p:cNvPr id="13" name="Shape 10"/>
          <p:cNvSpPr/>
          <p:nvPr/>
        </p:nvSpPr>
        <p:spPr>
          <a:xfrm>
            <a:off x="1856232" y="3794760"/>
            <a:ext cx="182880" cy="182880"/>
          </a:xfrm>
          <a:prstGeom prst="ellipse">
            <a:avLst/>
          </a:prstGeom>
          <a:solidFill>
            <a:srgbClr val="065A82"/>
          </a:solidFill>
          <a:ln w="12700">
            <a:solidFill>
              <a:srgbClr val="065A82"/>
            </a:solidFill>
            <a:prstDash val="solid"/>
          </a:ln>
        </p:spPr>
      </p:sp>
      <p:sp>
        <p:nvSpPr>
          <p:cNvPr id="14" name="Shape 11"/>
          <p:cNvSpPr/>
          <p:nvPr/>
        </p:nvSpPr>
        <p:spPr>
          <a:xfrm>
            <a:off x="2103120" y="3794760"/>
            <a:ext cx="182880" cy="182880"/>
          </a:xfrm>
          <a:prstGeom prst="ellipse">
            <a:avLst/>
          </a:prstGeom>
          <a:solidFill>
            <a:srgbClr val="065A82"/>
          </a:solidFill>
          <a:ln w="12700">
            <a:solidFill>
              <a:srgbClr val="065A82"/>
            </a:solidFill>
            <a:prstDash val="solid"/>
          </a:ln>
        </p:spPr>
      </p:sp>
      <p:sp>
        <p:nvSpPr>
          <p:cNvPr id="15" name="Shape 12"/>
          <p:cNvSpPr/>
          <p:nvPr/>
        </p:nvSpPr>
        <p:spPr>
          <a:xfrm>
            <a:off x="2350008" y="3794760"/>
            <a:ext cx="182880" cy="182880"/>
          </a:xfrm>
          <a:prstGeom prst="ellipse">
            <a:avLst/>
          </a:prstGeom>
          <a:solidFill>
            <a:srgbClr val="4B5A86"/>
          </a:solidFill>
          <a:ln w="12700">
            <a:solidFill>
              <a:srgbClr val="4B5A86"/>
            </a:solidFill>
            <a:prstDash val="solid"/>
          </a:ln>
        </p:spPr>
      </p:sp>
      <p:sp>
        <p:nvSpPr>
          <p:cNvPr id="16" name="Shape 13"/>
          <p:cNvSpPr/>
          <p:nvPr/>
        </p:nvSpPr>
        <p:spPr>
          <a:xfrm>
            <a:off x="2596896" y="3794760"/>
            <a:ext cx="182880" cy="182880"/>
          </a:xfrm>
          <a:prstGeom prst="ellipse">
            <a:avLst/>
          </a:prstGeom>
          <a:solidFill>
            <a:srgbClr val="4B5A86"/>
          </a:solidFill>
          <a:ln w="12700">
            <a:solidFill>
              <a:srgbClr val="4B5A86"/>
            </a:solidFill>
            <a:prstDash val="solid"/>
          </a:ln>
        </p:spPr>
      </p:sp>
      <p:sp>
        <p:nvSpPr>
          <p:cNvPr id="17" name="Shape 14"/>
          <p:cNvSpPr/>
          <p:nvPr/>
        </p:nvSpPr>
        <p:spPr>
          <a:xfrm>
            <a:off x="2843784" y="3794760"/>
            <a:ext cx="182880" cy="182880"/>
          </a:xfrm>
          <a:prstGeom prst="ellipse">
            <a:avLst/>
          </a:prstGeom>
          <a:solidFill>
            <a:srgbClr val="4B5A86"/>
          </a:solidFill>
          <a:ln w="12700">
            <a:solidFill>
              <a:srgbClr val="4B5A86"/>
            </a:solidFill>
            <a:prstDash val="solid"/>
          </a:ln>
        </p:spPr>
      </p:sp>
      <p:sp>
        <p:nvSpPr>
          <p:cNvPr id="18" name="Text 15"/>
          <p:cNvSpPr txBox="1"/>
          <p:nvPr/>
        </p:nvSpPr>
        <p:spPr>
          <a:xfrm>
            <a:off x="548640" y="4297680"/>
            <a:ext cx="2926080" cy="365760"/>
          </a:xfrm>
          <a:prstGeom prst="rect">
            <a:avLst/>
          </a:prstGeom>
          <a:noFill/>
          <a:ln/>
        </p:spPr>
        <p:txBody>
          <a:bodyPr wrap="square" lIns="0" tIns="0" rIns="0" bIns="0" rtlCol="0" anchor="t"/>
          <a:lstStyle/>
          <a:p>
            <a:pPr algn="ctr" indent="0" marL="0">
              <a:buNone/>
            </a:pPr>
            <a:r>
              <a:rPr lang="en-US" sz="1400" dirty="0">
                <a:solidFill>
                  <a:srgbClr val="BFE3F0"/>
                </a:solidFill>
                <a:latin typeface="Meiryo" pitchFamily="34" charset="0"/>
                <a:ea typeface="Meiryo" pitchFamily="34" charset="-122"/>
                <a:cs typeface="Meiryo" pitchFamily="34" charset="-120"/>
              </a:rPr>
              <a:t>動画の目安：約15分</a:t>
            </a:r>
            <a:endParaRPr lang="en-US" sz="1400" dirty="0"/>
          </a:p>
        </p:txBody>
      </p:sp>
      <p:sp>
        <p:nvSpPr>
          <p:cNvPr id="19" name="Shape 16"/>
          <p:cNvSpPr/>
          <p:nvPr/>
        </p:nvSpPr>
        <p:spPr>
          <a:xfrm>
            <a:off x="3749040" y="1371600"/>
            <a:ext cx="7863840" cy="2240280"/>
          </a:xfrm>
          <a:prstGeom prst="roundRect">
            <a:avLst>
              <a:gd name="adj" fmla="val 4898"/>
            </a:avLst>
          </a:prstGeom>
          <a:solidFill>
            <a:srgbClr val="E6F1F7"/>
          </a:solidFill>
          <a:ln w="12700">
            <a:solidFill>
              <a:srgbClr val="E6F1F7"/>
            </a:solidFill>
            <a:prstDash val="solid"/>
          </a:ln>
        </p:spPr>
      </p:sp>
      <p:sp>
        <p:nvSpPr>
          <p:cNvPr id="20" name="Text 17"/>
          <p:cNvSpPr txBox="1"/>
          <p:nvPr/>
        </p:nvSpPr>
        <p:spPr>
          <a:xfrm>
            <a:off x="4023360" y="1508760"/>
            <a:ext cx="7315200" cy="365760"/>
          </a:xfrm>
          <a:prstGeom prst="rect">
            <a:avLst/>
          </a:prstGeom>
          <a:noFill/>
          <a:ln/>
        </p:spPr>
        <p:txBody>
          <a:bodyPr wrap="square" lIns="0" tIns="0" rIns="0" bIns="0" rtlCol="0" anchor="t"/>
          <a:lstStyle/>
          <a:p>
            <a:pPr indent="0" marL="0">
              <a:buNone/>
            </a:pPr>
            <a:r>
              <a:rPr lang="en-US" sz="1600" b="1" dirty="0">
                <a:solidFill>
                  <a:srgbClr val="065A82"/>
                </a:solidFill>
                <a:latin typeface="Meiryo" pitchFamily="34" charset="0"/>
                <a:ea typeface="Meiryo" pitchFamily="34" charset="-122"/>
                <a:cs typeface="Meiryo" pitchFamily="34" charset="-120"/>
              </a:rPr>
              <a:t>学ぶこと</a:t>
            </a:r>
            <a:endParaRPr lang="en-US" sz="1600" dirty="0"/>
          </a:p>
        </p:txBody>
      </p:sp>
      <p:sp>
        <p:nvSpPr>
          <p:cNvPr id="21" name="Text 18"/>
          <p:cNvSpPr txBox="1"/>
          <p:nvPr/>
        </p:nvSpPr>
        <p:spPr>
          <a:xfrm>
            <a:off x="4023360" y="1965960"/>
            <a:ext cx="731520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相談は「課題→仮説→依頼」の3ステップ</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確信度に合わせて、言い方を変える</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サポート依頼は、試したことをセットで書く</a:t>
            </a:r>
            <a:endParaRPr lang="en-US" sz="1500" dirty="0"/>
          </a:p>
        </p:txBody>
      </p:sp>
      <p:sp>
        <p:nvSpPr>
          <p:cNvPr id="22" name="Shape 19"/>
          <p:cNvSpPr/>
          <p:nvPr/>
        </p:nvSpPr>
        <p:spPr>
          <a:xfrm>
            <a:off x="3749040" y="3749040"/>
            <a:ext cx="7863840" cy="1097280"/>
          </a:xfrm>
          <a:prstGeom prst="roundRect">
            <a:avLst>
              <a:gd name="adj" fmla="val 10000"/>
            </a:avLst>
          </a:prstGeom>
          <a:solidFill>
            <a:srgbClr val="EEF3F6"/>
          </a:solidFill>
          <a:ln w="12700">
            <a:solidFill>
              <a:srgbClr val="EEF3F6"/>
            </a:solidFill>
            <a:prstDash val="solid"/>
          </a:ln>
        </p:spPr>
      </p:sp>
      <p:sp>
        <p:nvSpPr>
          <p:cNvPr id="23" name="Text 20"/>
          <p:cNvSpPr txBox="1"/>
          <p:nvPr/>
        </p:nvSpPr>
        <p:spPr>
          <a:xfrm>
            <a:off x="4023360" y="384048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やってみよう</a:t>
            </a:r>
            <a:endParaRPr lang="en-US" sz="1400" dirty="0"/>
          </a:p>
        </p:txBody>
      </p:sp>
      <p:sp>
        <p:nvSpPr>
          <p:cNvPr id="24" name="Text 21"/>
          <p:cNvSpPr txBox="1"/>
          <p:nvPr/>
        </p:nvSpPr>
        <p:spPr>
          <a:xfrm>
            <a:off x="4023360" y="4206240"/>
            <a:ext cx="7315200" cy="59436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最近困ったことを、仮説入りの相談に書き直す</a:t>
            </a:r>
            <a:endParaRPr lang="en-US" sz="1500" dirty="0"/>
          </a:p>
        </p:txBody>
      </p:sp>
      <p:sp>
        <p:nvSpPr>
          <p:cNvPr id="25" name="Shape 22"/>
          <p:cNvSpPr/>
          <p:nvPr/>
        </p:nvSpPr>
        <p:spPr>
          <a:xfrm>
            <a:off x="3749040" y="4983480"/>
            <a:ext cx="7863840" cy="1051560"/>
          </a:xfrm>
          <a:prstGeom prst="roundRect">
            <a:avLst>
              <a:gd name="adj" fmla="val 10435"/>
            </a:avLst>
          </a:prstGeom>
          <a:solidFill>
            <a:srgbClr val="EEF3F6"/>
          </a:solidFill>
          <a:ln w="12700">
            <a:solidFill>
              <a:srgbClr val="EEF3F6"/>
            </a:solidFill>
            <a:prstDash val="solid"/>
          </a:ln>
        </p:spPr>
      </p:sp>
      <p:sp>
        <p:nvSpPr>
          <p:cNvPr id="26" name="Text 23"/>
          <p:cNvSpPr txBox="1"/>
          <p:nvPr/>
        </p:nvSpPr>
        <p:spPr>
          <a:xfrm>
            <a:off x="4023360" y="507492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できたかな？</a:t>
            </a:r>
            <a:endParaRPr lang="en-US" sz="1400" dirty="0"/>
          </a:p>
        </p:txBody>
      </p:sp>
      <p:sp>
        <p:nvSpPr>
          <p:cNvPr id="27" name="Text 24"/>
          <p:cNvSpPr txBox="1"/>
          <p:nvPr/>
        </p:nvSpPr>
        <p:spPr>
          <a:xfrm>
            <a:off x="4023360" y="5440680"/>
            <a:ext cx="7315200" cy="548640"/>
          </a:xfrm>
          <a:prstGeom prst="rect">
            <a:avLst/>
          </a:prstGeom>
          <a:noFill/>
          <a:ln/>
        </p:spPr>
        <p:txBody>
          <a:bodyPr wrap="square" lIns="0" tIns="0" rIns="0" bIns="0" rtlCol="0" anchor="t"/>
          <a:lstStyle/>
          <a:p>
            <a:pPr indent="0" marL="0">
              <a:buNone/>
            </a:pPr>
            <a:r>
              <a:rPr lang="en-US" sz="1500" b="1" dirty="0">
                <a:solidFill>
                  <a:srgbClr val="21295C"/>
                </a:solidFill>
                <a:latin typeface="Meiryo" pitchFamily="34" charset="0"/>
                <a:ea typeface="Meiryo" pitchFamily="34" charset="-122"/>
                <a:cs typeface="Meiryo" pitchFamily="34" charset="-120"/>
              </a:rPr>
              <a:t>丸投げせず、仮説と依頼を添えて相談できる</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仮説入りの相談：3ステップ</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3505200" cy="2468880"/>
          </a:xfrm>
          <a:prstGeom prst="roundRect">
            <a:avLst>
              <a:gd name="adj" fmla="val 4444"/>
            </a:avLst>
          </a:prstGeom>
          <a:solidFill>
            <a:srgbClr val="E6F1F7"/>
          </a:solidFill>
          <a:ln w="12700">
            <a:solidFill>
              <a:srgbClr val="E6F1F7"/>
            </a:solidFill>
            <a:prstDash val="solid"/>
          </a:ln>
        </p:spPr>
      </p:sp>
      <p:sp>
        <p:nvSpPr>
          <p:cNvPr id="6" name="Shape 3"/>
          <p:cNvSpPr/>
          <p:nvPr/>
        </p:nvSpPr>
        <p:spPr>
          <a:xfrm>
            <a:off x="777240" y="1554480"/>
            <a:ext cx="502920" cy="502920"/>
          </a:xfrm>
          <a:prstGeom prst="ellipse">
            <a:avLst/>
          </a:prstGeom>
          <a:solidFill>
            <a:srgbClr val="065A82"/>
          </a:solidFill>
          <a:ln w="12700">
            <a:solidFill>
              <a:srgbClr val="065A82"/>
            </a:solidFill>
            <a:prstDash val="solid"/>
          </a:ln>
        </p:spPr>
      </p:sp>
      <p:sp>
        <p:nvSpPr>
          <p:cNvPr id="7" name="Text 4"/>
          <p:cNvSpPr txBox="1"/>
          <p:nvPr/>
        </p:nvSpPr>
        <p:spPr>
          <a:xfrm>
            <a:off x="777240" y="1554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8" name="Text 5"/>
          <p:cNvSpPr txBox="1"/>
          <p:nvPr/>
        </p:nvSpPr>
        <p:spPr>
          <a:xfrm>
            <a:off x="1417320" y="1508760"/>
            <a:ext cx="2499360" cy="457200"/>
          </a:xfrm>
          <a:prstGeom prst="rect">
            <a:avLst/>
          </a:prstGeom>
          <a:noFill/>
          <a:ln/>
        </p:spPr>
        <p:txBody>
          <a:bodyPr wrap="square" lIns="0" tIns="0" rIns="0" bIns="0" rtlCol="0" anchor="t"/>
          <a:lstStyle/>
          <a:p>
            <a:pPr indent="0" marL="0">
              <a:buNone/>
            </a:pPr>
            <a:r>
              <a:rPr lang="en-US" sz="2200" b="1" dirty="0">
                <a:solidFill>
                  <a:srgbClr val="21295C"/>
                </a:solidFill>
                <a:latin typeface="Meiryo" pitchFamily="34" charset="0"/>
                <a:ea typeface="Meiryo" pitchFamily="34" charset="-122"/>
                <a:cs typeface="Meiryo" pitchFamily="34" charset="-120"/>
              </a:rPr>
              <a:t>課題</a:t>
            </a:r>
            <a:endParaRPr lang="en-US" sz="2200" dirty="0"/>
          </a:p>
        </p:txBody>
      </p:sp>
      <p:sp>
        <p:nvSpPr>
          <p:cNvPr id="9" name="Text 6"/>
          <p:cNvSpPr txBox="1"/>
          <p:nvPr/>
        </p:nvSpPr>
        <p:spPr>
          <a:xfrm>
            <a:off x="1417320" y="2011680"/>
            <a:ext cx="2499360" cy="320040"/>
          </a:xfrm>
          <a:prstGeom prst="rect">
            <a:avLst/>
          </a:prstGeom>
          <a:noFill/>
          <a:ln/>
        </p:spPr>
        <p:txBody>
          <a:bodyPr wrap="square" lIns="0" tIns="0" rIns="0" bIns="0" rtlCol="0" anchor="t"/>
          <a:lstStyle/>
          <a:p>
            <a:pPr indent="0" marL="0">
              <a:buNone/>
            </a:pPr>
            <a:r>
              <a:rPr lang="en-US" sz="1400" dirty="0">
                <a:solidFill>
                  <a:srgbClr val="6B7280"/>
                </a:solidFill>
                <a:latin typeface="Meiryo" pitchFamily="34" charset="0"/>
                <a:ea typeface="Meiryo" pitchFamily="34" charset="-122"/>
                <a:cs typeface="Meiryo" pitchFamily="34" charset="-120"/>
              </a:rPr>
              <a:t>Fact</a:t>
            </a:r>
            <a:endParaRPr lang="en-US" sz="1400" dirty="0"/>
          </a:p>
        </p:txBody>
      </p:sp>
      <p:sp>
        <p:nvSpPr>
          <p:cNvPr id="10" name="Text 7"/>
          <p:cNvSpPr txBox="1"/>
          <p:nvPr/>
        </p:nvSpPr>
        <p:spPr>
          <a:xfrm>
            <a:off x="822960" y="2606040"/>
            <a:ext cx="2956560" cy="118872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何が起きているか</a:t>
            </a:r>
            <a:endParaRPr lang="en-US" sz="1500" dirty="0"/>
          </a:p>
          <a:p>
            <a:pPr indent="0" marL="0">
              <a:buNone/>
            </a:pPr>
            <a:r>
              <a:rPr lang="en-US" sz="1500" dirty="0">
                <a:solidFill>
                  <a:srgbClr val="1F2937"/>
                </a:solidFill>
                <a:latin typeface="Meiryo" pitchFamily="34" charset="0"/>
                <a:ea typeface="Meiryo" pitchFamily="34" charset="-122"/>
                <a:cs typeface="Meiryo" pitchFamily="34" charset="-120"/>
              </a:rPr>
              <a:t>事実・数値・エラー</a:t>
            </a:r>
            <a:endParaRPr lang="en-US" sz="1500" dirty="0"/>
          </a:p>
        </p:txBody>
      </p:sp>
      <p:sp>
        <p:nvSpPr>
          <p:cNvPr id="11" name="Shape 8"/>
          <p:cNvSpPr/>
          <p:nvPr/>
        </p:nvSpPr>
        <p:spPr>
          <a:xfrm>
            <a:off x="4328160" y="1371600"/>
            <a:ext cx="3505200" cy="2468880"/>
          </a:xfrm>
          <a:prstGeom prst="roundRect">
            <a:avLst>
              <a:gd name="adj" fmla="val 4444"/>
            </a:avLst>
          </a:prstGeom>
          <a:solidFill>
            <a:srgbClr val="FDEBDD"/>
          </a:solidFill>
          <a:ln w="12700">
            <a:solidFill>
              <a:srgbClr val="FDEBDD"/>
            </a:solidFill>
            <a:prstDash val="solid"/>
          </a:ln>
        </p:spPr>
      </p:sp>
      <p:sp>
        <p:nvSpPr>
          <p:cNvPr id="12" name="Shape 9"/>
          <p:cNvSpPr/>
          <p:nvPr/>
        </p:nvSpPr>
        <p:spPr>
          <a:xfrm>
            <a:off x="4556760" y="1554480"/>
            <a:ext cx="502920" cy="502920"/>
          </a:xfrm>
          <a:prstGeom prst="ellipse">
            <a:avLst/>
          </a:prstGeom>
          <a:solidFill>
            <a:srgbClr val="F2994A"/>
          </a:solidFill>
          <a:ln w="12700">
            <a:solidFill>
              <a:srgbClr val="F2994A"/>
            </a:solidFill>
            <a:prstDash val="solid"/>
          </a:ln>
        </p:spPr>
      </p:sp>
      <p:sp>
        <p:nvSpPr>
          <p:cNvPr id="13" name="Text 10"/>
          <p:cNvSpPr txBox="1"/>
          <p:nvPr/>
        </p:nvSpPr>
        <p:spPr>
          <a:xfrm>
            <a:off x="4556760" y="1554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4" name="Text 11"/>
          <p:cNvSpPr txBox="1"/>
          <p:nvPr/>
        </p:nvSpPr>
        <p:spPr>
          <a:xfrm>
            <a:off x="5196840" y="1508760"/>
            <a:ext cx="2499360" cy="457200"/>
          </a:xfrm>
          <a:prstGeom prst="rect">
            <a:avLst/>
          </a:prstGeom>
          <a:noFill/>
          <a:ln/>
        </p:spPr>
        <p:txBody>
          <a:bodyPr wrap="square" lIns="0" tIns="0" rIns="0" bIns="0" rtlCol="0" anchor="t"/>
          <a:lstStyle/>
          <a:p>
            <a:pPr indent="0" marL="0">
              <a:buNone/>
            </a:pPr>
            <a:r>
              <a:rPr lang="en-US" sz="2200" b="1" dirty="0">
                <a:solidFill>
                  <a:srgbClr val="21295C"/>
                </a:solidFill>
                <a:latin typeface="Meiryo" pitchFamily="34" charset="0"/>
                <a:ea typeface="Meiryo" pitchFamily="34" charset="-122"/>
                <a:cs typeface="Meiryo" pitchFamily="34" charset="-120"/>
              </a:rPr>
              <a:t>仮説</a:t>
            </a:r>
            <a:endParaRPr lang="en-US" sz="2200" dirty="0"/>
          </a:p>
        </p:txBody>
      </p:sp>
      <p:sp>
        <p:nvSpPr>
          <p:cNvPr id="15" name="Text 12"/>
          <p:cNvSpPr txBox="1"/>
          <p:nvPr/>
        </p:nvSpPr>
        <p:spPr>
          <a:xfrm>
            <a:off x="5196840" y="2011680"/>
            <a:ext cx="2499360" cy="320040"/>
          </a:xfrm>
          <a:prstGeom prst="rect">
            <a:avLst/>
          </a:prstGeom>
          <a:noFill/>
          <a:ln/>
        </p:spPr>
        <p:txBody>
          <a:bodyPr wrap="square" lIns="0" tIns="0" rIns="0" bIns="0" rtlCol="0" anchor="t"/>
          <a:lstStyle/>
          <a:p>
            <a:pPr indent="0" marL="0">
              <a:buNone/>
            </a:pPr>
            <a:r>
              <a:rPr lang="en-US" sz="1400" dirty="0">
                <a:solidFill>
                  <a:srgbClr val="6B7280"/>
                </a:solidFill>
                <a:latin typeface="Meiryo" pitchFamily="34" charset="0"/>
                <a:ea typeface="Meiryo" pitchFamily="34" charset="-122"/>
                <a:cs typeface="Meiryo" pitchFamily="34" charset="-120"/>
              </a:rPr>
              <a:t>Opinion</a:t>
            </a:r>
            <a:endParaRPr lang="en-US" sz="1400" dirty="0"/>
          </a:p>
        </p:txBody>
      </p:sp>
      <p:sp>
        <p:nvSpPr>
          <p:cNvPr id="16" name="Text 13"/>
          <p:cNvSpPr txBox="1"/>
          <p:nvPr/>
        </p:nvSpPr>
        <p:spPr>
          <a:xfrm>
            <a:off x="4602480" y="2606040"/>
            <a:ext cx="2956560" cy="118872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原因は何で、どう対応すべきと考えるか（理由つき）</a:t>
            </a:r>
            <a:endParaRPr lang="en-US" sz="1500" dirty="0"/>
          </a:p>
        </p:txBody>
      </p:sp>
      <p:sp>
        <p:nvSpPr>
          <p:cNvPr id="17" name="Shape 14"/>
          <p:cNvSpPr/>
          <p:nvPr/>
        </p:nvSpPr>
        <p:spPr>
          <a:xfrm>
            <a:off x="8107680" y="1371600"/>
            <a:ext cx="3505200" cy="2468880"/>
          </a:xfrm>
          <a:prstGeom prst="roundRect">
            <a:avLst>
              <a:gd name="adj" fmla="val 4444"/>
            </a:avLst>
          </a:prstGeom>
          <a:solidFill>
            <a:srgbClr val="E6F1F7"/>
          </a:solidFill>
          <a:ln w="12700">
            <a:solidFill>
              <a:srgbClr val="E6F1F7"/>
            </a:solidFill>
            <a:prstDash val="solid"/>
          </a:ln>
        </p:spPr>
      </p:sp>
      <p:sp>
        <p:nvSpPr>
          <p:cNvPr id="18" name="Shape 15"/>
          <p:cNvSpPr/>
          <p:nvPr/>
        </p:nvSpPr>
        <p:spPr>
          <a:xfrm>
            <a:off x="8336280" y="1554480"/>
            <a:ext cx="502920" cy="502920"/>
          </a:xfrm>
          <a:prstGeom prst="ellipse">
            <a:avLst/>
          </a:prstGeom>
          <a:solidFill>
            <a:srgbClr val="065A82"/>
          </a:solidFill>
          <a:ln w="12700">
            <a:solidFill>
              <a:srgbClr val="065A82"/>
            </a:solidFill>
            <a:prstDash val="solid"/>
          </a:ln>
        </p:spPr>
      </p:sp>
      <p:sp>
        <p:nvSpPr>
          <p:cNvPr id="19" name="Text 16"/>
          <p:cNvSpPr txBox="1"/>
          <p:nvPr/>
        </p:nvSpPr>
        <p:spPr>
          <a:xfrm>
            <a:off x="8336280" y="1554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20" name="Text 17"/>
          <p:cNvSpPr txBox="1"/>
          <p:nvPr/>
        </p:nvSpPr>
        <p:spPr>
          <a:xfrm>
            <a:off x="8976360" y="1508760"/>
            <a:ext cx="2499360" cy="457200"/>
          </a:xfrm>
          <a:prstGeom prst="rect">
            <a:avLst/>
          </a:prstGeom>
          <a:noFill/>
          <a:ln/>
        </p:spPr>
        <p:txBody>
          <a:bodyPr wrap="square" lIns="0" tIns="0" rIns="0" bIns="0" rtlCol="0" anchor="t"/>
          <a:lstStyle/>
          <a:p>
            <a:pPr indent="0" marL="0">
              <a:buNone/>
            </a:pPr>
            <a:r>
              <a:rPr lang="en-US" sz="2200" b="1" dirty="0">
                <a:solidFill>
                  <a:srgbClr val="21295C"/>
                </a:solidFill>
                <a:latin typeface="Meiryo" pitchFamily="34" charset="0"/>
                <a:ea typeface="Meiryo" pitchFamily="34" charset="-122"/>
                <a:cs typeface="Meiryo" pitchFamily="34" charset="-120"/>
              </a:rPr>
              <a:t>依頼</a:t>
            </a:r>
            <a:endParaRPr lang="en-US" sz="2200" dirty="0"/>
          </a:p>
        </p:txBody>
      </p:sp>
      <p:sp>
        <p:nvSpPr>
          <p:cNvPr id="21" name="Text 18"/>
          <p:cNvSpPr txBox="1"/>
          <p:nvPr/>
        </p:nvSpPr>
        <p:spPr>
          <a:xfrm>
            <a:off x="8976360" y="2011680"/>
            <a:ext cx="2499360" cy="320040"/>
          </a:xfrm>
          <a:prstGeom prst="rect">
            <a:avLst/>
          </a:prstGeom>
          <a:noFill/>
          <a:ln/>
        </p:spPr>
        <p:txBody>
          <a:bodyPr wrap="square" lIns="0" tIns="0" rIns="0" bIns="0" rtlCol="0" anchor="t"/>
          <a:lstStyle/>
          <a:p>
            <a:pPr indent="0" marL="0">
              <a:buNone/>
            </a:pPr>
            <a:r>
              <a:rPr lang="en-US" sz="1400" dirty="0">
                <a:solidFill>
                  <a:srgbClr val="6B7280"/>
                </a:solidFill>
                <a:latin typeface="Meiryo" pitchFamily="34" charset="0"/>
                <a:ea typeface="Meiryo" pitchFamily="34" charset="-122"/>
                <a:cs typeface="Meiryo" pitchFamily="34" charset="-120"/>
              </a:rPr>
              <a:t>Action</a:t>
            </a:r>
            <a:endParaRPr lang="en-US" sz="1400" dirty="0"/>
          </a:p>
        </p:txBody>
      </p:sp>
      <p:sp>
        <p:nvSpPr>
          <p:cNvPr id="22" name="Text 19"/>
          <p:cNvSpPr txBox="1"/>
          <p:nvPr/>
        </p:nvSpPr>
        <p:spPr>
          <a:xfrm>
            <a:off x="8382000" y="2606040"/>
            <a:ext cx="2956560" cy="118872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どうしてほしいか</a:t>
            </a:r>
            <a:endParaRPr lang="en-US" sz="1500" dirty="0"/>
          </a:p>
          <a:p>
            <a:pPr indent="0" marL="0">
              <a:buNone/>
            </a:pPr>
            <a:r>
              <a:rPr lang="en-US" sz="1500" dirty="0">
                <a:solidFill>
                  <a:srgbClr val="1F2937"/>
                </a:solidFill>
                <a:latin typeface="Meiryo" pitchFamily="34" charset="0"/>
                <a:ea typeface="Meiryo" pitchFamily="34" charset="-122"/>
                <a:cs typeface="Meiryo" pitchFamily="34" charset="-120"/>
              </a:rPr>
              <a:t>いつまでに判断してほしいか</a:t>
            </a:r>
            <a:endParaRPr lang="en-US" sz="1500" dirty="0"/>
          </a:p>
        </p:txBody>
      </p:sp>
      <p:sp>
        <p:nvSpPr>
          <p:cNvPr id="23" name="Shape 20"/>
          <p:cNvSpPr/>
          <p:nvPr/>
        </p:nvSpPr>
        <p:spPr>
          <a:xfrm>
            <a:off x="548640" y="4069080"/>
            <a:ext cx="11064240" cy="1965960"/>
          </a:xfrm>
          <a:prstGeom prst="roundRect">
            <a:avLst>
              <a:gd name="adj" fmla="val 5581"/>
            </a:avLst>
          </a:prstGeom>
          <a:solidFill>
            <a:srgbClr val="EEF3F6"/>
          </a:solidFill>
          <a:ln w="12700">
            <a:solidFill>
              <a:srgbClr val="EEF3F6"/>
            </a:solidFill>
            <a:prstDash val="solid"/>
          </a:ln>
        </p:spPr>
      </p:sp>
      <p:sp>
        <p:nvSpPr>
          <p:cNvPr id="24" name="Text 21"/>
          <p:cNvSpPr txBox="1"/>
          <p:nvPr/>
        </p:nvSpPr>
        <p:spPr>
          <a:xfrm>
            <a:off x="822960" y="4160520"/>
            <a:ext cx="45720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口頭の例</a:t>
            </a:r>
            <a:endParaRPr lang="en-US" sz="1400" dirty="0"/>
          </a:p>
        </p:txBody>
      </p:sp>
      <p:sp>
        <p:nvSpPr>
          <p:cNvPr id="25" name="Text 22"/>
          <p:cNvSpPr txBox="1"/>
          <p:nvPr/>
        </p:nvSpPr>
        <p:spPr>
          <a:xfrm>
            <a:off x="822960" y="4526280"/>
            <a:ext cx="10515600" cy="146304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〇〇さん、3分ほどご相談いいですか？決済APIのレスポンス遅延について判断をいただきたいです。処理に2.8秒かかっていて、ログを見る限りDBのインデックス不足が原因だと考えています。インデックス追加（工数0.5日）で進めたいのですが、本日着手してよろしいでしょうか？」</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確信度に合わせた言い方</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3200400"/>
                <a:gridCol w="5669280"/>
              </a:tblGrid>
              <a:tr h="868680">
                <a:tc>
                  <a:txBody>
                    <a:bodyPr/>
                    <a:lstStyle/>
                    <a:p>
                      <a:pPr indent="0" marL="0">
                        <a:buNone/>
                      </a:pPr>
                      <a:r>
                        <a:rPr lang="en-US" sz="1400" b="1" dirty="0">
                          <a:solidFill>
                            <a:srgbClr val="FFFFFF"/>
                          </a:solidFill>
                          <a:latin typeface="Meiryo" pitchFamily="34" charset="0"/>
                          <a:ea typeface="Meiryo" pitchFamily="34" charset="-122"/>
                          <a:cs typeface="Meiryo" pitchFamily="34" charset="-120"/>
                        </a:rPr>
                        <a:t>自信の度合い</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400" b="1" dirty="0">
                          <a:solidFill>
                            <a:srgbClr val="FFFFFF"/>
                          </a:solidFill>
                          <a:latin typeface="Meiryo" pitchFamily="34" charset="0"/>
                          <a:ea typeface="Meiryo" pitchFamily="34" charset="-122"/>
                          <a:cs typeface="Meiryo" pitchFamily="34" charset="-120"/>
                        </a:rPr>
                        <a:t>❌ 頼りない言い方</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400" b="1" dirty="0">
                          <a:solidFill>
                            <a:srgbClr val="FFFFFF"/>
                          </a:solidFill>
                          <a:latin typeface="Meiryo" pitchFamily="34" charset="0"/>
                          <a:ea typeface="Meiryo" pitchFamily="34" charset="-122"/>
                          <a:cs typeface="Meiryo" pitchFamily="34" charset="-120"/>
                        </a:rPr>
                        <a:t>⭕ ロジカルでマイルドな言い方</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r>
              <a:tr h="868680">
                <a:tc>
                  <a:txBody>
                    <a:bodyPr/>
                    <a:lstStyle/>
                    <a:p>
                      <a:pPr indent="0" marL="0">
                        <a:buNone/>
                      </a:pPr>
                      <a:r>
                        <a:rPr lang="en-US" sz="1400" dirty="0">
                          <a:solidFill>
                            <a:srgbClr val="1F2937"/>
                          </a:solidFill>
                          <a:latin typeface="Meiryo" pitchFamily="34" charset="0"/>
                          <a:ea typeface="Meiryo" pitchFamily="34" charset="-122"/>
                          <a:cs typeface="Meiryo" pitchFamily="34" charset="-120"/>
                        </a:rPr>
                        <a:t>高（ほぼ確定）</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「たぶん〇〇だと思います」</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「〜のデータから見て、〇〇が要因である可能性が高いと考えています」</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868680">
                <a:tc>
                  <a:txBody>
                    <a:bodyPr/>
                    <a:lstStyle/>
                    <a:p>
                      <a:pPr indent="0" marL="0">
                        <a:buNone/>
                      </a:pPr>
                      <a:r>
                        <a:rPr lang="en-US" sz="1400" dirty="0">
                          <a:solidFill>
                            <a:srgbClr val="1F2937"/>
                          </a:solidFill>
                          <a:latin typeface="Meiryo" pitchFamily="34" charset="0"/>
                          <a:ea typeface="Meiryo" pitchFamily="34" charset="-122"/>
                          <a:cs typeface="Meiryo" pitchFamily="34" charset="-120"/>
                        </a:rPr>
                        <a:t>中（五分五分）</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「よく分からないですが〇〇かも」</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「仮説段階ではありますが、〇〇が影響していると推測しています」</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r h="868680">
                <a:tc>
                  <a:txBody>
                    <a:bodyPr/>
                    <a:lstStyle/>
                    <a:p>
                      <a:pPr indent="0" marL="0">
                        <a:buNone/>
                      </a:pPr>
                      <a:r>
                        <a:rPr lang="en-US" sz="1400" dirty="0">
                          <a:solidFill>
                            <a:srgbClr val="1F2937"/>
                          </a:solidFill>
                          <a:latin typeface="Meiryo" pitchFamily="34" charset="0"/>
                          <a:ea typeface="Meiryo" pitchFamily="34" charset="-122"/>
                          <a:cs typeface="Meiryo" pitchFamily="34" charset="-120"/>
                        </a:rPr>
                        <a:t>低（自信なし）</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「どうすればいいですか？」</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「いくつか調べた結果、〇〇か〇〇が原因だと見立てていますが、ご意見伺えますか？」</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029200"/>
            <a:ext cx="11064240" cy="1005840"/>
          </a:xfrm>
          <a:prstGeom prst="roundRect">
            <a:avLst>
              <a:gd name="adj" fmla="val 10909"/>
            </a:avLst>
          </a:prstGeom>
          <a:solidFill>
            <a:srgbClr val="FDEBDD"/>
          </a:solidFill>
          <a:ln w="12700">
            <a:solidFill>
              <a:srgbClr val="FDEBDD"/>
            </a:solidFill>
            <a:prstDash val="solid"/>
          </a:ln>
        </p:spPr>
      </p:sp>
      <p:sp>
        <p:nvSpPr>
          <p:cNvPr id="7" name="Text 3"/>
          <p:cNvSpPr txBox="1"/>
          <p:nvPr/>
        </p:nvSpPr>
        <p:spPr>
          <a:xfrm>
            <a:off x="822960" y="5029200"/>
            <a:ext cx="10515600" cy="100584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サポート依頼では、「どこまで自分でやったか（試したこと）」を必ずセットで書く</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STEP6｜進捗報告と日報</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2926080" cy="4663440"/>
          </a:xfrm>
          <a:prstGeom prst="roundRect">
            <a:avLst>
              <a:gd name="adj" fmla="val 3750"/>
            </a:avLst>
          </a:prstGeom>
          <a:solidFill>
            <a:srgbClr val="21295C"/>
          </a:solidFill>
          <a:ln w="12700">
            <a:solidFill>
              <a:srgbClr val="21295C"/>
            </a:solidFill>
            <a:prstDash val="solid"/>
          </a:ln>
        </p:spPr>
      </p:sp>
      <p:sp>
        <p:nvSpPr>
          <p:cNvPr id="6" name="Text 3"/>
          <p:cNvSpPr txBox="1"/>
          <p:nvPr/>
        </p:nvSpPr>
        <p:spPr>
          <a:xfrm>
            <a:off x="548640" y="1554480"/>
            <a:ext cx="2926080" cy="365760"/>
          </a:xfrm>
          <a:prstGeom prst="rect">
            <a:avLst/>
          </a:prstGeom>
          <a:noFill/>
          <a:ln/>
        </p:spPr>
        <p:txBody>
          <a:bodyPr wrap="square" lIns="0" tIns="0" rIns="0" bIns="0" rtlCol="0" anchor="t"/>
          <a:lstStyle/>
          <a:p>
            <a:pPr algn="ctr" indent="0" marL="0">
              <a:buNone/>
            </a:pPr>
            <a:r>
              <a:rPr lang="en-US" sz="1600" dirty="0">
                <a:solidFill>
                  <a:srgbClr val="BFE3F0"/>
                </a:solidFill>
                <a:latin typeface="Meiryo" pitchFamily="34" charset="0"/>
                <a:ea typeface="Meiryo" pitchFamily="34" charset="-122"/>
                <a:cs typeface="Meiryo" pitchFamily="34" charset="-120"/>
              </a:rPr>
              <a:t>STEP</a:t>
            </a:r>
            <a:endParaRPr lang="en-US" sz="1600" dirty="0"/>
          </a:p>
        </p:txBody>
      </p:sp>
      <p:sp>
        <p:nvSpPr>
          <p:cNvPr id="7" name="Text 4"/>
          <p:cNvSpPr txBox="1"/>
          <p:nvPr/>
        </p:nvSpPr>
        <p:spPr>
          <a:xfrm>
            <a:off x="548640" y="1920240"/>
            <a:ext cx="2926080" cy="1188720"/>
          </a:xfrm>
          <a:prstGeom prst="rect">
            <a:avLst/>
          </a:prstGeom>
          <a:noFill/>
          <a:ln/>
        </p:spPr>
        <p:txBody>
          <a:bodyPr wrap="square" lIns="0" tIns="0" rIns="0" bIns="0" rtlCol="0" anchor="t"/>
          <a:lstStyle/>
          <a:p>
            <a:pPr algn="ctr" indent="0" marL="0">
              <a:buNone/>
            </a:pPr>
            <a:r>
              <a:rPr lang="en-US" sz="7200" b="1" dirty="0">
                <a:solidFill>
                  <a:srgbClr val="FFFFFF"/>
                </a:solidFill>
                <a:latin typeface="Meiryo" pitchFamily="34" charset="0"/>
                <a:ea typeface="Meiryo" pitchFamily="34" charset="-122"/>
                <a:cs typeface="Meiryo" pitchFamily="34" charset="-120"/>
              </a:rPr>
              <a:t>6</a:t>
            </a:r>
            <a:endParaRPr lang="en-US" sz="7200" dirty="0"/>
          </a:p>
        </p:txBody>
      </p:sp>
      <p:sp>
        <p:nvSpPr>
          <p:cNvPr id="8" name="Text 5"/>
          <p:cNvSpPr txBox="1"/>
          <p:nvPr/>
        </p:nvSpPr>
        <p:spPr>
          <a:xfrm>
            <a:off x="548640" y="3291840"/>
            <a:ext cx="292608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Meiryo" pitchFamily="34" charset="0"/>
                <a:ea typeface="Meiryo" pitchFamily="34" charset="-122"/>
                <a:cs typeface="Meiryo" pitchFamily="34" charset="-120"/>
              </a:rPr>
              <a:t>難易度 7 / 9</a:t>
            </a:r>
            <a:endParaRPr lang="en-US" sz="1600" dirty="0"/>
          </a:p>
        </p:txBody>
      </p:sp>
      <p:sp>
        <p:nvSpPr>
          <p:cNvPr id="9" name="Shape 6"/>
          <p:cNvSpPr/>
          <p:nvPr/>
        </p:nvSpPr>
        <p:spPr>
          <a:xfrm>
            <a:off x="868680" y="3794760"/>
            <a:ext cx="182880" cy="182880"/>
          </a:xfrm>
          <a:prstGeom prst="ellipse">
            <a:avLst/>
          </a:prstGeom>
          <a:solidFill>
            <a:srgbClr val="065A82"/>
          </a:solidFill>
          <a:ln w="12700">
            <a:solidFill>
              <a:srgbClr val="065A82"/>
            </a:solidFill>
            <a:prstDash val="solid"/>
          </a:ln>
        </p:spPr>
      </p:sp>
      <p:sp>
        <p:nvSpPr>
          <p:cNvPr id="10" name="Shape 7"/>
          <p:cNvSpPr/>
          <p:nvPr/>
        </p:nvSpPr>
        <p:spPr>
          <a:xfrm>
            <a:off x="1115568" y="3794760"/>
            <a:ext cx="182880" cy="182880"/>
          </a:xfrm>
          <a:prstGeom prst="ellipse">
            <a:avLst/>
          </a:prstGeom>
          <a:solidFill>
            <a:srgbClr val="065A82"/>
          </a:solidFill>
          <a:ln w="12700">
            <a:solidFill>
              <a:srgbClr val="065A82"/>
            </a:solidFill>
            <a:prstDash val="solid"/>
          </a:ln>
        </p:spPr>
      </p:sp>
      <p:sp>
        <p:nvSpPr>
          <p:cNvPr id="11" name="Shape 8"/>
          <p:cNvSpPr/>
          <p:nvPr/>
        </p:nvSpPr>
        <p:spPr>
          <a:xfrm>
            <a:off x="1362456" y="3794760"/>
            <a:ext cx="182880" cy="182880"/>
          </a:xfrm>
          <a:prstGeom prst="ellipse">
            <a:avLst/>
          </a:prstGeom>
          <a:solidFill>
            <a:srgbClr val="065A82"/>
          </a:solidFill>
          <a:ln w="12700">
            <a:solidFill>
              <a:srgbClr val="065A82"/>
            </a:solidFill>
            <a:prstDash val="solid"/>
          </a:ln>
        </p:spPr>
      </p:sp>
      <p:sp>
        <p:nvSpPr>
          <p:cNvPr id="12" name="Shape 9"/>
          <p:cNvSpPr/>
          <p:nvPr/>
        </p:nvSpPr>
        <p:spPr>
          <a:xfrm>
            <a:off x="1609344" y="3794760"/>
            <a:ext cx="182880" cy="182880"/>
          </a:xfrm>
          <a:prstGeom prst="ellipse">
            <a:avLst/>
          </a:prstGeom>
          <a:solidFill>
            <a:srgbClr val="065A82"/>
          </a:solidFill>
          <a:ln w="12700">
            <a:solidFill>
              <a:srgbClr val="065A82"/>
            </a:solidFill>
            <a:prstDash val="solid"/>
          </a:ln>
        </p:spPr>
      </p:sp>
      <p:sp>
        <p:nvSpPr>
          <p:cNvPr id="13" name="Shape 10"/>
          <p:cNvSpPr/>
          <p:nvPr/>
        </p:nvSpPr>
        <p:spPr>
          <a:xfrm>
            <a:off x="1856232" y="3794760"/>
            <a:ext cx="182880" cy="182880"/>
          </a:xfrm>
          <a:prstGeom prst="ellipse">
            <a:avLst/>
          </a:prstGeom>
          <a:solidFill>
            <a:srgbClr val="065A82"/>
          </a:solidFill>
          <a:ln w="12700">
            <a:solidFill>
              <a:srgbClr val="065A82"/>
            </a:solidFill>
            <a:prstDash val="solid"/>
          </a:ln>
        </p:spPr>
      </p:sp>
      <p:sp>
        <p:nvSpPr>
          <p:cNvPr id="14" name="Shape 11"/>
          <p:cNvSpPr/>
          <p:nvPr/>
        </p:nvSpPr>
        <p:spPr>
          <a:xfrm>
            <a:off x="2103120" y="3794760"/>
            <a:ext cx="182880" cy="182880"/>
          </a:xfrm>
          <a:prstGeom prst="ellipse">
            <a:avLst/>
          </a:prstGeom>
          <a:solidFill>
            <a:srgbClr val="065A82"/>
          </a:solidFill>
          <a:ln w="12700">
            <a:solidFill>
              <a:srgbClr val="065A82"/>
            </a:solidFill>
            <a:prstDash val="solid"/>
          </a:ln>
        </p:spPr>
      </p:sp>
      <p:sp>
        <p:nvSpPr>
          <p:cNvPr id="15" name="Shape 12"/>
          <p:cNvSpPr/>
          <p:nvPr/>
        </p:nvSpPr>
        <p:spPr>
          <a:xfrm>
            <a:off x="2350008" y="3794760"/>
            <a:ext cx="182880" cy="182880"/>
          </a:xfrm>
          <a:prstGeom prst="ellipse">
            <a:avLst/>
          </a:prstGeom>
          <a:solidFill>
            <a:srgbClr val="065A82"/>
          </a:solidFill>
          <a:ln w="12700">
            <a:solidFill>
              <a:srgbClr val="065A82"/>
            </a:solidFill>
            <a:prstDash val="solid"/>
          </a:ln>
        </p:spPr>
      </p:sp>
      <p:sp>
        <p:nvSpPr>
          <p:cNvPr id="16" name="Shape 13"/>
          <p:cNvSpPr/>
          <p:nvPr/>
        </p:nvSpPr>
        <p:spPr>
          <a:xfrm>
            <a:off x="2596896" y="3794760"/>
            <a:ext cx="182880" cy="182880"/>
          </a:xfrm>
          <a:prstGeom prst="ellipse">
            <a:avLst/>
          </a:prstGeom>
          <a:solidFill>
            <a:srgbClr val="4B5A86"/>
          </a:solidFill>
          <a:ln w="12700">
            <a:solidFill>
              <a:srgbClr val="4B5A86"/>
            </a:solidFill>
            <a:prstDash val="solid"/>
          </a:ln>
        </p:spPr>
      </p:sp>
      <p:sp>
        <p:nvSpPr>
          <p:cNvPr id="17" name="Shape 14"/>
          <p:cNvSpPr/>
          <p:nvPr/>
        </p:nvSpPr>
        <p:spPr>
          <a:xfrm>
            <a:off x="2843784" y="3794760"/>
            <a:ext cx="182880" cy="182880"/>
          </a:xfrm>
          <a:prstGeom prst="ellipse">
            <a:avLst/>
          </a:prstGeom>
          <a:solidFill>
            <a:srgbClr val="4B5A86"/>
          </a:solidFill>
          <a:ln w="12700">
            <a:solidFill>
              <a:srgbClr val="4B5A86"/>
            </a:solidFill>
            <a:prstDash val="solid"/>
          </a:ln>
        </p:spPr>
      </p:sp>
      <p:sp>
        <p:nvSpPr>
          <p:cNvPr id="18" name="Text 15"/>
          <p:cNvSpPr txBox="1"/>
          <p:nvPr/>
        </p:nvSpPr>
        <p:spPr>
          <a:xfrm>
            <a:off x="548640" y="4297680"/>
            <a:ext cx="2926080" cy="365760"/>
          </a:xfrm>
          <a:prstGeom prst="rect">
            <a:avLst/>
          </a:prstGeom>
          <a:noFill/>
          <a:ln/>
        </p:spPr>
        <p:txBody>
          <a:bodyPr wrap="square" lIns="0" tIns="0" rIns="0" bIns="0" rtlCol="0" anchor="t"/>
          <a:lstStyle/>
          <a:p>
            <a:pPr algn="ctr" indent="0" marL="0">
              <a:buNone/>
            </a:pPr>
            <a:r>
              <a:rPr lang="en-US" sz="1400" dirty="0">
                <a:solidFill>
                  <a:srgbClr val="BFE3F0"/>
                </a:solidFill>
                <a:latin typeface="Meiryo" pitchFamily="34" charset="0"/>
                <a:ea typeface="Meiryo" pitchFamily="34" charset="-122"/>
                <a:cs typeface="Meiryo" pitchFamily="34" charset="-120"/>
              </a:rPr>
              <a:t>動画の目安：約15分</a:t>
            </a:r>
            <a:endParaRPr lang="en-US" sz="1400" dirty="0"/>
          </a:p>
        </p:txBody>
      </p:sp>
      <p:sp>
        <p:nvSpPr>
          <p:cNvPr id="19" name="Shape 16"/>
          <p:cNvSpPr/>
          <p:nvPr/>
        </p:nvSpPr>
        <p:spPr>
          <a:xfrm>
            <a:off x="3749040" y="1371600"/>
            <a:ext cx="7863840" cy="2240280"/>
          </a:xfrm>
          <a:prstGeom prst="roundRect">
            <a:avLst>
              <a:gd name="adj" fmla="val 4898"/>
            </a:avLst>
          </a:prstGeom>
          <a:solidFill>
            <a:srgbClr val="E6F1F7"/>
          </a:solidFill>
          <a:ln w="12700">
            <a:solidFill>
              <a:srgbClr val="E6F1F7"/>
            </a:solidFill>
            <a:prstDash val="solid"/>
          </a:ln>
        </p:spPr>
      </p:sp>
      <p:sp>
        <p:nvSpPr>
          <p:cNvPr id="20" name="Text 17"/>
          <p:cNvSpPr txBox="1"/>
          <p:nvPr/>
        </p:nvSpPr>
        <p:spPr>
          <a:xfrm>
            <a:off x="4023360" y="1508760"/>
            <a:ext cx="7315200" cy="365760"/>
          </a:xfrm>
          <a:prstGeom prst="rect">
            <a:avLst/>
          </a:prstGeom>
          <a:noFill/>
          <a:ln/>
        </p:spPr>
        <p:txBody>
          <a:bodyPr wrap="square" lIns="0" tIns="0" rIns="0" bIns="0" rtlCol="0" anchor="t"/>
          <a:lstStyle/>
          <a:p>
            <a:pPr indent="0" marL="0">
              <a:buNone/>
            </a:pPr>
            <a:r>
              <a:rPr lang="en-US" sz="1600" b="1" dirty="0">
                <a:solidFill>
                  <a:srgbClr val="065A82"/>
                </a:solidFill>
                <a:latin typeface="Meiryo" pitchFamily="34" charset="0"/>
                <a:ea typeface="Meiryo" pitchFamily="34" charset="-122"/>
                <a:cs typeface="Meiryo" pitchFamily="34" charset="-120"/>
              </a:rPr>
              <a:t>学ぶこと</a:t>
            </a:r>
            <a:endParaRPr lang="en-US" sz="1600" dirty="0"/>
          </a:p>
        </p:txBody>
      </p:sp>
      <p:sp>
        <p:nvSpPr>
          <p:cNvPr id="21" name="Text 18"/>
          <p:cNvSpPr txBox="1"/>
          <p:nvPr/>
        </p:nvSpPr>
        <p:spPr>
          <a:xfrm>
            <a:off x="4023360" y="1965960"/>
            <a:ext cx="731520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信号機（順調・やや遅れ・ブロック）で状況を見せる</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順調な日の型Aと、遅れ・トラブルの型B</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時間帯別に、報告する内容を変える</a:t>
            </a:r>
            <a:endParaRPr lang="en-US" sz="1500" dirty="0"/>
          </a:p>
        </p:txBody>
      </p:sp>
      <p:sp>
        <p:nvSpPr>
          <p:cNvPr id="22" name="Shape 19"/>
          <p:cNvSpPr/>
          <p:nvPr/>
        </p:nvSpPr>
        <p:spPr>
          <a:xfrm>
            <a:off x="3749040" y="3749040"/>
            <a:ext cx="7863840" cy="1097280"/>
          </a:xfrm>
          <a:prstGeom prst="roundRect">
            <a:avLst>
              <a:gd name="adj" fmla="val 10000"/>
            </a:avLst>
          </a:prstGeom>
          <a:solidFill>
            <a:srgbClr val="EEF3F6"/>
          </a:solidFill>
          <a:ln w="12700">
            <a:solidFill>
              <a:srgbClr val="EEF3F6"/>
            </a:solidFill>
            <a:prstDash val="solid"/>
          </a:ln>
        </p:spPr>
      </p:sp>
      <p:sp>
        <p:nvSpPr>
          <p:cNvPr id="23" name="Text 20"/>
          <p:cNvSpPr txBox="1"/>
          <p:nvPr/>
        </p:nvSpPr>
        <p:spPr>
          <a:xfrm>
            <a:off x="4023360" y="384048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やってみよう</a:t>
            </a:r>
            <a:endParaRPr lang="en-US" sz="1400" dirty="0"/>
          </a:p>
        </p:txBody>
      </p:sp>
      <p:sp>
        <p:nvSpPr>
          <p:cNvPr id="24" name="Text 21"/>
          <p:cNvSpPr txBox="1"/>
          <p:nvPr/>
        </p:nvSpPr>
        <p:spPr>
          <a:xfrm>
            <a:off x="4023360" y="4206240"/>
            <a:ext cx="7315200" cy="59436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昨日の日報を、型AかBで書き直す</a:t>
            </a:r>
            <a:endParaRPr lang="en-US" sz="1500" dirty="0"/>
          </a:p>
        </p:txBody>
      </p:sp>
      <p:sp>
        <p:nvSpPr>
          <p:cNvPr id="25" name="Shape 22"/>
          <p:cNvSpPr/>
          <p:nvPr/>
        </p:nvSpPr>
        <p:spPr>
          <a:xfrm>
            <a:off x="3749040" y="4983480"/>
            <a:ext cx="7863840" cy="1051560"/>
          </a:xfrm>
          <a:prstGeom prst="roundRect">
            <a:avLst>
              <a:gd name="adj" fmla="val 10435"/>
            </a:avLst>
          </a:prstGeom>
          <a:solidFill>
            <a:srgbClr val="EEF3F6"/>
          </a:solidFill>
          <a:ln w="12700">
            <a:solidFill>
              <a:srgbClr val="EEF3F6"/>
            </a:solidFill>
            <a:prstDash val="solid"/>
          </a:ln>
        </p:spPr>
      </p:sp>
      <p:sp>
        <p:nvSpPr>
          <p:cNvPr id="26" name="Text 23"/>
          <p:cNvSpPr txBox="1"/>
          <p:nvPr/>
        </p:nvSpPr>
        <p:spPr>
          <a:xfrm>
            <a:off x="4023360" y="507492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できたかな？</a:t>
            </a:r>
            <a:endParaRPr lang="en-US" sz="1400" dirty="0"/>
          </a:p>
        </p:txBody>
      </p:sp>
      <p:sp>
        <p:nvSpPr>
          <p:cNvPr id="27" name="Text 24"/>
          <p:cNvSpPr txBox="1"/>
          <p:nvPr/>
        </p:nvSpPr>
        <p:spPr>
          <a:xfrm>
            <a:off x="4023360" y="5440680"/>
            <a:ext cx="7315200" cy="548640"/>
          </a:xfrm>
          <a:prstGeom prst="rect">
            <a:avLst/>
          </a:prstGeom>
          <a:noFill/>
          <a:ln/>
        </p:spPr>
        <p:txBody>
          <a:bodyPr wrap="square" lIns="0" tIns="0" rIns="0" bIns="0" rtlCol="0" anchor="t"/>
          <a:lstStyle/>
          <a:p>
            <a:pPr indent="0" marL="0">
              <a:buNone/>
            </a:pPr>
            <a:r>
              <a:rPr lang="en-US" sz="1500" b="1" dirty="0">
                <a:solidFill>
                  <a:srgbClr val="21295C"/>
                </a:solidFill>
                <a:latin typeface="Meiryo" pitchFamily="34" charset="0"/>
                <a:ea typeface="Meiryo" pitchFamily="34" charset="-122"/>
                <a:cs typeface="Meiryo" pitchFamily="34" charset="-120"/>
              </a:rPr>
              <a:t>件名と1行目だけで、状況が伝わる日報を書ける</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日報：型Aと型B</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417320"/>
            <a:ext cx="256032" cy="256032"/>
          </a:xfrm>
          <a:prstGeom prst="ellipse">
            <a:avLst/>
          </a:prstGeom>
          <a:solidFill>
            <a:srgbClr val="1E9E6A"/>
          </a:solidFill>
          <a:ln w="12700">
            <a:solidFill>
              <a:srgbClr val="1E9E6A"/>
            </a:solidFill>
            <a:prstDash val="solid"/>
          </a:ln>
        </p:spPr>
      </p:sp>
      <p:sp>
        <p:nvSpPr>
          <p:cNvPr id="6" name="Text 3"/>
          <p:cNvSpPr txBox="1"/>
          <p:nvPr/>
        </p:nvSpPr>
        <p:spPr>
          <a:xfrm>
            <a:off x="914400" y="1371600"/>
            <a:ext cx="3291840" cy="347472"/>
          </a:xfrm>
          <a:prstGeom prst="rect">
            <a:avLst/>
          </a:prstGeom>
          <a:noFill/>
          <a:ln/>
        </p:spPr>
        <p:txBody>
          <a:bodyPr wrap="square" lIns="0" tIns="0" rIns="0" bIns="0" rtlCol="0" anchor="ctr"/>
          <a:lstStyle/>
          <a:p>
            <a:pPr indent="0" marL="0">
              <a:buNone/>
            </a:pPr>
            <a:r>
              <a:rPr lang="en-US" sz="1400" b="1" dirty="0">
                <a:solidFill>
                  <a:srgbClr val="21295C"/>
                </a:solidFill>
                <a:latin typeface="Meiryo" pitchFamily="34" charset="0"/>
                <a:ea typeface="Meiryo" pitchFamily="34" charset="-122"/>
                <a:cs typeface="Meiryo" pitchFamily="34" charset="-120"/>
              </a:rPr>
              <a:t>順調（確認のみでOK）</a:t>
            </a:r>
            <a:endParaRPr lang="en-US" sz="1400" dirty="0"/>
          </a:p>
        </p:txBody>
      </p:sp>
      <p:sp>
        <p:nvSpPr>
          <p:cNvPr id="7" name="Shape 4"/>
          <p:cNvSpPr/>
          <p:nvPr/>
        </p:nvSpPr>
        <p:spPr>
          <a:xfrm>
            <a:off x="4297680" y="1417320"/>
            <a:ext cx="256032" cy="256032"/>
          </a:xfrm>
          <a:prstGeom prst="ellipse">
            <a:avLst/>
          </a:prstGeom>
          <a:solidFill>
            <a:srgbClr val="E6B422"/>
          </a:solidFill>
          <a:ln w="12700">
            <a:solidFill>
              <a:srgbClr val="E6B422"/>
            </a:solidFill>
            <a:prstDash val="solid"/>
          </a:ln>
        </p:spPr>
      </p:sp>
      <p:sp>
        <p:nvSpPr>
          <p:cNvPr id="8" name="Text 5"/>
          <p:cNvSpPr txBox="1"/>
          <p:nvPr/>
        </p:nvSpPr>
        <p:spPr>
          <a:xfrm>
            <a:off x="4663440" y="1371600"/>
            <a:ext cx="3291840" cy="347472"/>
          </a:xfrm>
          <a:prstGeom prst="rect">
            <a:avLst/>
          </a:prstGeom>
          <a:noFill/>
          <a:ln/>
        </p:spPr>
        <p:txBody>
          <a:bodyPr wrap="square" lIns="0" tIns="0" rIns="0" bIns="0" rtlCol="0" anchor="ctr"/>
          <a:lstStyle/>
          <a:p>
            <a:pPr indent="0" marL="0">
              <a:buNone/>
            </a:pPr>
            <a:r>
              <a:rPr lang="en-US" sz="1400" b="1" dirty="0">
                <a:solidFill>
                  <a:srgbClr val="21295C"/>
                </a:solidFill>
                <a:latin typeface="Meiryo" pitchFamily="34" charset="0"/>
                <a:ea typeface="Meiryo" pitchFamily="34" charset="-122"/>
                <a:cs typeface="Meiryo" pitchFamily="34" charset="-120"/>
              </a:rPr>
              <a:t>やや遅れ・相談あり（要確認）</a:t>
            </a:r>
            <a:endParaRPr lang="en-US" sz="1400" dirty="0"/>
          </a:p>
        </p:txBody>
      </p:sp>
      <p:sp>
        <p:nvSpPr>
          <p:cNvPr id="9" name="Shape 6"/>
          <p:cNvSpPr/>
          <p:nvPr/>
        </p:nvSpPr>
        <p:spPr>
          <a:xfrm>
            <a:off x="8046720" y="1417320"/>
            <a:ext cx="256032" cy="256032"/>
          </a:xfrm>
          <a:prstGeom prst="ellipse">
            <a:avLst/>
          </a:prstGeom>
          <a:solidFill>
            <a:srgbClr val="D64545"/>
          </a:solidFill>
          <a:ln w="12700">
            <a:solidFill>
              <a:srgbClr val="D64545"/>
            </a:solidFill>
            <a:prstDash val="solid"/>
          </a:ln>
        </p:spPr>
      </p:sp>
      <p:sp>
        <p:nvSpPr>
          <p:cNvPr id="10" name="Text 7"/>
          <p:cNvSpPr txBox="1"/>
          <p:nvPr/>
        </p:nvSpPr>
        <p:spPr>
          <a:xfrm>
            <a:off x="8412480" y="1371600"/>
            <a:ext cx="3291840" cy="347472"/>
          </a:xfrm>
          <a:prstGeom prst="rect">
            <a:avLst/>
          </a:prstGeom>
          <a:noFill/>
          <a:ln/>
        </p:spPr>
        <p:txBody>
          <a:bodyPr wrap="square" lIns="0" tIns="0" rIns="0" bIns="0" rtlCol="0" anchor="ctr"/>
          <a:lstStyle/>
          <a:p>
            <a:pPr indent="0" marL="0">
              <a:buNone/>
            </a:pPr>
            <a:r>
              <a:rPr lang="en-US" sz="1400" b="1" dirty="0">
                <a:solidFill>
                  <a:srgbClr val="21295C"/>
                </a:solidFill>
                <a:latin typeface="Meiryo" pitchFamily="34" charset="0"/>
                <a:ea typeface="Meiryo" pitchFamily="34" charset="-122"/>
                <a:cs typeface="Meiryo" pitchFamily="34" charset="-120"/>
              </a:rPr>
              <a:t>ブロック・障害（要緊急対応）</a:t>
            </a:r>
            <a:endParaRPr lang="en-US" sz="1400" dirty="0"/>
          </a:p>
        </p:txBody>
      </p:sp>
      <p:sp>
        <p:nvSpPr>
          <p:cNvPr id="11" name="Shape 8"/>
          <p:cNvSpPr/>
          <p:nvPr/>
        </p:nvSpPr>
        <p:spPr>
          <a:xfrm>
            <a:off x="548640" y="1965960"/>
            <a:ext cx="5394960" cy="4069080"/>
          </a:xfrm>
          <a:prstGeom prst="roundRect">
            <a:avLst>
              <a:gd name="adj" fmla="val 2697"/>
            </a:avLst>
          </a:prstGeom>
          <a:solidFill>
            <a:srgbClr val="F3F7F9"/>
          </a:solidFill>
          <a:ln w="12700">
            <a:solidFill>
              <a:srgbClr val="F3F7F9"/>
            </a:solidFill>
            <a:prstDash val="solid"/>
          </a:ln>
        </p:spPr>
      </p:sp>
      <p:sp>
        <p:nvSpPr>
          <p:cNvPr id="12" name="Text 9"/>
          <p:cNvSpPr txBox="1"/>
          <p:nvPr/>
        </p:nvSpPr>
        <p:spPr>
          <a:xfrm>
            <a:off x="548640" y="2075688"/>
            <a:ext cx="5394960" cy="365760"/>
          </a:xfrm>
          <a:prstGeom prst="rect">
            <a:avLst/>
          </a:prstGeom>
          <a:noFill/>
          <a:ln/>
        </p:spPr>
        <p:txBody>
          <a:bodyPr wrap="square" lIns="0" tIns="0" rIns="0" bIns="0" rtlCol="0" anchor="t"/>
          <a:lstStyle/>
          <a:p>
            <a:pPr algn="ctr" indent="0" marL="0">
              <a:buNone/>
            </a:pPr>
            <a:r>
              <a:rPr lang="en-US" sz="1500" b="1" dirty="0">
                <a:solidFill>
                  <a:srgbClr val="1E9E6A"/>
                </a:solidFill>
                <a:latin typeface="Meiryo" pitchFamily="34" charset="0"/>
                <a:ea typeface="Meiryo" pitchFamily="34" charset="-122"/>
                <a:cs typeface="Meiryo" pitchFamily="34" charset="-120"/>
              </a:rPr>
              <a:t>型A：順調な日（約3分）</a:t>
            </a:r>
            <a:endParaRPr lang="en-US" sz="1500" dirty="0"/>
          </a:p>
        </p:txBody>
      </p:sp>
      <p:sp>
        <p:nvSpPr>
          <p:cNvPr id="13" name="Text 10"/>
          <p:cNvSpPr txBox="1"/>
          <p:nvPr/>
        </p:nvSpPr>
        <p:spPr>
          <a:xfrm>
            <a:off x="777240" y="2560320"/>
            <a:ext cx="4937760" cy="3383280"/>
          </a:xfrm>
          <a:prstGeom prst="rect">
            <a:avLst/>
          </a:prstGeom>
          <a:noFill/>
          <a:ln/>
        </p:spPr>
        <p:txBody>
          <a:bodyPr wrap="square" lIns="0" tIns="0" rIns="0" bIns="0" rtlCol="0" anchor="t"/>
          <a:lstStyle/>
          <a:p>
            <a:pPr indent="0" marL="0">
              <a:spcAft>
                <a:spcPts val="300"/>
              </a:spcAft>
              <a:buNone/>
            </a:pPr>
            <a:r>
              <a:rPr lang="en-US" sz="1500" dirty="0">
                <a:solidFill>
                  <a:srgbClr val="1F2937"/>
                </a:solidFill>
                <a:latin typeface="Meiryo" pitchFamily="34" charset="0"/>
                <a:ea typeface="Meiryo" pitchFamily="34" charset="-122"/>
                <a:cs typeface="Meiryo" pitchFamily="34" charset="-120"/>
              </a:rPr>
              <a:t>件名：【日報】10/21 氏名（順調）</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本日の成果（Fact）</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・〇〇機能の実装：100%完了（15/15件）</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明日の予定（Plan）</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・結合テスト（15:00完了予定）</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所感（Opinion）</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・予定どおり進行中</a:t>
            </a:r>
            <a:endParaRPr lang="en-US" sz="1500" dirty="0"/>
          </a:p>
        </p:txBody>
      </p:sp>
      <p:sp>
        <p:nvSpPr>
          <p:cNvPr id="14" name="Shape 11"/>
          <p:cNvSpPr/>
          <p:nvPr/>
        </p:nvSpPr>
        <p:spPr>
          <a:xfrm>
            <a:off x="6217920" y="1965960"/>
            <a:ext cx="5394960" cy="4069080"/>
          </a:xfrm>
          <a:prstGeom prst="roundRect">
            <a:avLst>
              <a:gd name="adj" fmla="val 2697"/>
            </a:avLst>
          </a:prstGeom>
          <a:solidFill>
            <a:srgbClr val="F3F7F9"/>
          </a:solidFill>
          <a:ln w="12700">
            <a:solidFill>
              <a:srgbClr val="F3F7F9"/>
            </a:solidFill>
            <a:prstDash val="solid"/>
          </a:ln>
        </p:spPr>
      </p:sp>
      <p:sp>
        <p:nvSpPr>
          <p:cNvPr id="15" name="Text 12"/>
          <p:cNvSpPr txBox="1"/>
          <p:nvPr/>
        </p:nvSpPr>
        <p:spPr>
          <a:xfrm>
            <a:off x="6217920" y="2075688"/>
            <a:ext cx="5394960" cy="365760"/>
          </a:xfrm>
          <a:prstGeom prst="rect">
            <a:avLst/>
          </a:prstGeom>
          <a:noFill/>
          <a:ln/>
        </p:spPr>
        <p:txBody>
          <a:bodyPr wrap="square" lIns="0" tIns="0" rIns="0" bIns="0" rtlCol="0" anchor="t"/>
          <a:lstStyle/>
          <a:p>
            <a:pPr algn="ctr" indent="0" marL="0">
              <a:buNone/>
            </a:pPr>
            <a:r>
              <a:rPr lang="en-US" sz="1500" b="1" dirty="0">
                <a:solidFill>
                  <a:srgbClr val="F2994A"/>
                </a:solidFill>
                <a:latin typeface="Meiryo" pitchFamily="34" charset="0"/>
                <a:ea typeface="Meiryo" pitchFamily="34" charset="-122"/>
                <a:cs typeface="Meiryo" pitchFamily="34" charset="-120"/>
              </a:rPr>
              <a:t>型B：遅れ・トラブル（約5分）</a:t>
            </a:r>
            <a:endParaRPr lang="en-US" sz="1500" dirty="0"/>
          </a:p>
        </p:txBody>
      </p:sp>
      <p:sp>
        <p:nvSpPr>
          <p:cNvPr id="16" name="Text 13"/>
          <p:cNvSpPr txBox="1"/>
          <p:nvPr/>
        </p:nvSpPr>
        <p:spPr>
          <a:xfrm>
            <a:off x="6446520" y="2560320"/>
            <a:ext cx="4937760" cy="3383280"/>
          </a:xfrm>
          <a:prstGeom prst="rect">
            <a:avLst/>
          </a:prstGeom>
          <a:noFill/>
          <a:ln/>
        </p:spPr>
        <p:txBody>
          <a:bodyPr wrap="square" lIns="0" tIns="0" rIns="0" bIns="0" rtlCol="0" anchor="t"/>
          <a:lstStyle/>
          <a:p>
            <a:pPr indent="0" marL="0">
              <a:spcAft>
                <a:spcPts val="300"/>
              </a:spcAft>
              <a:buNone/>
            </a:pPr>
            <a:r>
              <a:rPr lang="en-US" sz="1500" dirty="0">
                <a:solidFill>
                  <a:srgbClr val="1F2937"/>
                </a:solidFill>
                <a:latin typeface="Meiryo" pitchFamily="34" charset="0"/>
                <a:ea typeface="Meiryo" pitchFamily="34" charset="-122"/>
                <a:cs typeface="Meiryo" pitchFamily="34" charset="-120"/>
              </a:rPr>
              <a:t>件名：【日報・判断依頼】10/21 氏名（やや遅れ）</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上司へのお願い（1行目）</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・明日の朝会でA案かB案かを1分ご判断いただきたい</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本日の状況（Fact）</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対策案（Opinion）</a:t>
            </a:r>
            <a:endParaRPr lang="en-US" sz="1500" dirty="0"/>
          </a:p>
          <a:p>
            <a:pPr indent="0" marL="0">
              <a:spcAft>
                <a:spcPts val="300"/>
              </a:spcAft>
              <a:buNone/>
            </a:pPr>
            <a:r>
              <a:rPr lang="en-US" sz="1500" dirty="0">
                <a:solidFill>
                  <a:srgbClr val="1F2937"/>
                </a:solidFill>
                <a:latin typeface="Meiryo" pitchFamily="34" charset="0"/>
                <a:ea typeface="Meiryo" pitchFamily="34" charset="-122"/>
                <a:cs typeface="Meiryo" pitchFamily="34" charset="-120"/>
              </a:rPr>
              <a:t>　・A案（推奨）／B案（暫定）</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時間帯別：何を報告する？</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280160"/>
                <a:gridCol w="2194560"/>
                <a:gridCol w="3931920"/>
                <a:gridCol w="3657600"/>
              </a:tblGrid>
              <a:tr h="777240">
                <a:tc>
                  <a:txBody>
                    <a:bodyPr/>
                    <a:lstStyle/>
                    <a:p>
                      <a:pPr indent="0" marL="0">
                        <a:buNone/>
                      </a:pPr>
                      <a:r>
                        <a:rPr lang="en-US" sz="1400" b="1" dirty="0">
                          <a:solidFill>
                            <a:srgbClr val="FFFFFF"/>
                          </a:solidFill>
                          <a:latin typeface="Meiryo" pitchFamily="34" charset="0"/>
                          <a:ea typeface="Meiryo" pitchFamily="34" charset="-122"/>
                          <a:cs typeface="Meiryo" pitchFamily="34" charset="-120"/>
                        </a:rPr>
                        <a:t>時間帯</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400" b="1" dirty="0">
                          <a:solidFill>
                            <a:srgbClr val="FFFFFF"/>
                          </a:solidFill>
                          <a:latin typeface="Meiryo" pitchFamily="34" charset="0"/>
                          <a:ea typeface="Meiryo" pitchFamily="34" charset="-122"/>
                          <a:cs typeface="Meiryo" pitchFamily="34" charset="-120"/>
                        </a:rPr>
                        <a:t>メインテーマ</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400" b="1" dirty="0">
                          <a:solidFill>
                            <a:srgbClr val="FFFFFF"/>
                          </a:solidFill>
                          <a:latin typeface="Meiryo" pitchFamily="34" charset="0"/>
                          <a:ea typeface="Meiryo" pitchFamily="34" charset="-122"/>
                          <a:cs typeface="Meiryo" pitchFamily="34" charset="-120"/>
                        </a:rPr>
                        <a:t>最優先で伝えること</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400" b="1" dirty="0">
                          <a:solidFill>
                            <a:srgbClr val="FFFFFF"/>
                          </a:solidFill>
                          <a:latin typeface="Meiryo" pitchFamily="34" charset="0"/>
                          <a:ea typeface="Meiryo" pitchFamily="34" charset="-122"/>
                          <a:cs typeface="Meiryo" pitchFamily="34" charset="-120"/>
                        </a:rPr>
                        <a:t>NGな行動</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r>
              <a:tr h="777240">
                <a:tc>
                  <a:txBody>
                    <a:bodyPr/>
                    <a:lstStyle/>
                    <a:p>
                      <a:pPr indent="0" marL="0">
                        <a:buNone/>
                      </a:pPr>
                      <a:r>
                        <a:rPr lang="en-US" sz="1400" dirty="0">
                          <a:solidFill>
                            <a:srgbClr val="1F2937"/>
                          </a:solidFill>
                          <a:latin typeface="Meiryo" pitchFamily="34" charset="0"/>
                          <a:ea typeface="Meiryo" pitchFamily="34" charset="-122"/>
                          <a:cs typeface="Meiryo" pitchFamily="34" charset="-120"/>
                        </a:rPr>
                        <a:t>朝</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予定・予告</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今日何をするか／何時に相談するか</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突然、長時間の相談を持ち込む</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777240">
                <a:tc>
                  <a:txBody>
                    <a:bodyPr/>
                    <a:lstStyle/>
                    <a:p>
                      <a:pPr indent="0" marL="0">
                        <a:buNone/>
                      </a:pPr>
                      <a:r>
                        <a:rPr lang="en-US" sz="1400" dirty="0">
                          <a:solidFill>
                            <a:srgbClr val="1F2937"/>
                          </a:solidFill>
                          <a:latin typeface="Meiryo" pitchFamily="34" charset="0"/>
                          <a:ea typeface="Meiryo" pitchFamily="34" charset="-122"/>
                          <a:cs typeface="Meiryo" pitchFamily="34" charset="-120"/>
                        </a:rPr>
                        <a:t>午前</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中間進捗</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予定どおりか、ズレが出ているか</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遅れているのに黙って昼休みに入る</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r h="777240">
                <a:tc>
                  <a:txBody>
                    <a:bodyPr/>
                    <a:lstStyle/>
                    <a:p>
                      <a:pPr indent="0" marL="0">
                        <a:buNone/>
                      </a:pPr>
                      <a:r>
                        <a:rPr lang="en-US" sz="1400" dirty="0">
                          <a:solidFill>
                            <a:srgbClr val="1F2937"/>
                          </a:solidFill>
                          <a:latin typeface="Meiryo" pitchFamily="34" charset="0"/>
                          <a:ea typeface="Meiryo" pitchFamily="34" charset="-122"/>
                          <a:cs typeface="Meiryo" pitchFamily="34" charset="-120"/>
                        </a:rPr>
                        <a:t>午後</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ブロック解消</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自力で解決できない壁／判断依頼</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1時間以上、一人で悩み続ける</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777240">
                <a:tc>
                  <a:txBody>
                    <a:bodyPr/>
                    <a:lstStyle/>
                    <a:p>
                      <a:pPr indent="0" marL="0">
                        <a:buNone/>
                      </a:pPr>
                      <a:r>
                        <a:rPr lang="en-US" sz="1400" dirty="0">
                          <a:solidFill>
                            <a:srgbClr val="1F2937"/>
                          </a:solidFill>
                          <a:latin typeface="Meiryo" pitchFamily="34" charset="0"/>
                          <a:ea typeface="Meiryo" pitchFamily="34" charset="-122"/>
                          <a:cs typeface="Meiryo" pitchFamily="34" charset="-120"/>
                        </a:rPr>
                        <a:t>夜</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成果・明日</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今日やったこと（数字）／明日の朝イチ</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400" dirty="0">
                          <a:solidFill>
                            <a:srgbClr val="1F2937"/>
                          </a:solidFill>
                          <a:latin typeface="Meiryo" pitchFamily="34" charset="0"/>
                          <a:ea typeface="Meiryo" pitchFamily="34" charset="-122"/>
                          <a:cs typeface="Meiryo" pitchFamily="34" charset="-120"/>
                        </a:rPr>
                        <a:t>感想ばかりで、実績が書いていない</a:t>
                      </a:r>
                      <a:endParaRPr lang="en-US" sz="14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STEP7｜★ 山場：場面判断と書き直し演習</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2926080" cy="4663440"/>
          </a:xfrm>
          <a:prstGeom prst="roundRect">
            <a:avLst>
              <a:gd name="adj" fmla="val 3750"/>
            </a:avLst>
          </a:prstGeom>
          <a:solidFill>
            <a:srgbClr val="21295C"/>
          </a:solidFill>
          <a:ln w="12700">
            <a:solidFill>
              <a:srgbClr val="21295C"/>
            </a:solidFill>
            <a:prstDash val="solid"/>
          </a:ln>
        </p:spPr>
      </p:sp>
      <p:sp>
        <p:nvSpPr>
          <p:cNvPr id="6" name="Text 3"/>
          <p:cNvSpPr txBox="1"/>
          <p:nvPr/>
        </p:nvSpPr>
        <p:spPr>
          <a:xfrm>
            <a:off x="548640" y="1554480"/>
            <a:ext cx="2926080" cy="365760"/>
          </a:xfrm>
          <a:prstGeom prst="rect">
            <a:avLst/>
          </a:prstGeom>
          <a:noFill/>
          <a:ln/>
        </p:spPr>
        <p:txBody>
          <a:bodyPr wrap="square" lIns="0" tIns="0" rIns="0" bIns="0" rtlCol="0" anchor="t"/>
          <a:lstStyle/>
          <a:p>
            <a:pPr algn="ctr" indent="0" marL="0">
              <a:buNone/>
            </a:pPr>
            <a:r>
              <a:rPr lang="en-US" sz="1600" dirty="0">
                <a:solidFill>
                  <a:srgbClr val="BFE3F0"/>
                </a:solidFill>
                <a:latin typeface="Meiryo" pitchFamily="34" charset="0"/>
                <a:ea typeface="Meiryo" pitchFamily="34" charset="-122"/>
                <a:cs typeface="Meiryo" pitchFamily="34" charset="-120"/>
              </a:rPr>
              <a:t>STEP</a:t>
            </a:r>
            <a:endParaRPr lang="en-US" sz="1600" dirty="0"/>
          </a:p>
        </p:txBody>
      </p:sp>
      <p:sp>
        <p:nvSpPr>
          <p:cNvPr id="7" name="Text 4"/>
          <p:cNvSpPr txBox="1"/>
          <p:nvPr/>
        </p:nvSpPr>
        <p:spPr>
          <a:xfrm>
            <a:off x="548640" y="1920240"/>
            <a:ext cx="2926080" cy="1188720"/>
          </a:xfrm>
          <a:prstGeom prst="rect">
            <a:avLst/>
          </a:prstGeom>
          <a:noFill/>
          <a:ln/>
        </p:spPr>
        <p:txBody>
          <a:bodyPr wrap="square" lIns="0" tIns="0" rIns="0" bIns="0" rtlCol="0" anchor="t"/>
          <a:lstStyle/>
          <a:p>
            <a:pPr algn="ctr" indent="0" marL="0">
              <a:buNone/>
            </a:pPr>
            <a:r>
              <a:rPr lang="en-US" sz="7200" b="1" dirty="0">
                <a:solidFill>
                  <a:srgbClr val="F2994A"/>
                </a:solidFill>
                <a:latin typeface="Meiryo" pitchFamily="34" charset="0"/>
                <a:ea typeface="Meiryo" pitchFamily="34" charset="-122"/>
                <a:cs typeface="Meiryo" pitchFamily="34" charset="-120"/>
              </a:rPr>
              <a:t>7</a:t>
            </a:r>
            <a:endParaRPr lang="en-US" sz="7200" dirty="0"/>
          </a:p>
        </p:txBody>
      </p:sp>
      <p:sp>
        <p:nvSpPr>
          <p:cNvPr id="8" name="Text 5"/>
          <p:cNvSpPr txBox="1"/>
          <p:nvPr/>
        </p:nvSpPr>
        <p:spPr>
          <a:xfrm>
            <a:off x="548640" y="3291840"/>
            <a:ext cx="292608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Meiryo" pitchFamily="34" charset="0"/>
                <a:ea typeface="Meiryo" pitchFamily="34" charset="-122"/>
                <a:cs typeface="Meiryo" pitchFamily="34" charset="-120"/>
              </a:rPr>
              <a:t>難易度 9 / 9</a:t>
            </a:r>
            <a:endParaRPr lang="en-US" sz="1600" dirty="0"/>
          </a:p>
        </p:txBody>
      </p:sp>
      <p:sp>
        <p:nvSpPr>
          <p:cNvPr id="9" name="Shape 6"/>
          <p:cNvSpPr/>
          <p:nvPr/>
        </p:nvSpPr>
        <p:spPr>
          <a:xfrm>
            <a:off x="868680" y="3794760"/>
            <a:ext cx="182880" cy="182880"/>
          </a:xfrm>
          <a:prstGeom prst="ellipse">
            <a:avLst/>
          </a:prstGeom>
          <a:solidFill>
            <a:srgbClr val="F2994A"/>
          </a:solidFill>
          <a:ln w="12700">
            <a:solidFill>
              <a:srgbClr val="F2994A"/>
            </a:solidFill>
            <a:prstDash val="solid"/>
          </a:ln>
        </p:spPr>
      </p:sp>
      <p:sp>
        <p:nvSpPr>
          <p:cNvPr id="10" name="Shape 7"/>
          <p:cNvSpPr/>
          <p:nvPr/>
        </p:nvSpPr>
        <p:spPr>
          <a:xfrm>
            <a:off x="1115568" y="3794760"/>
            <a:ext cx="182880" cy="182880"/>
          </a:xfrm>
          <a:prstGeom prst="ellipse">
            <a:avLst/>
          </a:prstGeom>
          <a:solidFill>
            <a:srgbClr val="F2994A"/>
          </a:solidFill>
          <a:ln w="12700">
            <a:solidFill>
              <a:srgbClr val="F2994A"/>
            </a:solidFill>
            <a:prstDash val="solid"/>
          </a:ln>
        </p:spPr>
      </p:sp>
      <p:sp>
        <p:nvSpPr>
          <p:cNvPr id="11" name="Shape 8"/>
          <p:cNvSpPr/>
          <p:nvPr/>
        </p:nvSpPr>
        <p:spPr>
          <a:xfrm>
            <a:off x="1362456" y="3794760"/>
            <a:ext cx="182880" cy="182880"/>
          </a:xfrm>
          <a:prstGeom prst="ellipse">
            <a:avLst/>
          </a:prstGeom>
          <a:solidFill>
            <a:srgbClr val="F2994A"/>
          </a:solidFill>
          <a:ln w="12700">
            <a:solidFill>
              <a:srgbClr val="F2994A"/>
            </a:solidFill>
            <a:prstDash val="solid"/>
          </a:ln>
        </p:spPr>
      </p:sp>
      <p:sp>
        <p:nvSpPr>
          <p:cNvPr id="12" name="Shape 9"/>
          <p:cNvSpPr/>
          <p:nvPr/>
        </p:nvSpPr>
        <p:spPr>
          <a:xfrm>
            <a:off x="1609344" y="3794760"/>
            <a:ext cx="182880" cy="182880"/>
          </a:xfrm>
          <a:prstGeom prst="ellipse">
            <a:avLst/>
          </a:prstGeom>
          <a:solidFill>
            <a:srgbClr val="F2994A"/>
          </a:solidFill>
          <a:ln w="12700">
            <a:solidFill>
              <a:srgbClr val="F2994A"/>
            </a:solidFill>
            <a:prstDash val="solid"/>
          </a:ln>
        </p:spPr>
      </p:sp>
      <p:sp>
        <p:nvSpPr>
          <p:cNvPr id="13" name="Shape 10"/>
          <p:cNvSpPr/>
          <p:nvPr/>
        </p:nvSpPr>
        <p:spPr>
          <a:xfrm>
            <a:off x="1856232" y="3794760"/>
            <a:ext cx="182880" cy="182880"/>
          </a:xfrm>
          <a:prstGeom prst="ellipse">
            <a:avLst/>
          </a:prstGeom>
          <a:solidFill>
            <a:srgbClr val="F2994A"/>
          </a:solidFill>
          <a:ln w="12700">
            <a:solidFill>
              <a:srgbClr val="F2994A"/>
            </a:solidFill>
            <a:prstDash val="solid"/>
          </a:ln>
        </p:spPr>
      </p:sp>
      <p:sp>
        <p:nvSpPr>
          <p:cNvPr id="14" name="Shape 11"/>
          <p:cNvSpPr/>
          <p:nvPr/>
        </p:nvSpPr>
        <p:spPr>
          <a:xfrm>
            <a:off x="2103120" y="3794760"/>
            <a:ext cx="182880" cy="182880"/>
          </a:xfrm>
          <a:prstGeom prst="ellipse">
            <a:avLst/>
          </a:prstGeom>
          <a:solidFill>
            <a:srgbClr val="F2994A"/>
          </a:solidFill>
          <a:ln w="12700">
            <a:solidFill>
              <a:srgbClr val="F2994A"/>
            </a:solidFill>
            <a:prstDash val="solid"/>
          </a:ln>
        </p:spPr>
      </p:sp>
      <p:sp>
        <p:nvSpPr>
          <p:cNvPr id="15" name="Shape 12"/>
          <p:cNvSpPr/>
          <p:nvPr/>
        </p:nvSpPr>
        <p:spPr>
          <a:xfrm>
            <a:off x="2350008" y="3794760"/>
            <a:ext cx="182880" cy="182880"/>
          </a:xfrm>
          <a:prstGeom prst="ellipse">
            <a:avLst/>
          </a:prstGeom>
          <a:solidFill>
            <a:srgbClr val="F2994A"/>
          </a:solidFill>
          <a:ln w="12700">
            <a:solidFill>
              <a:srgbClr val="F2994A"/>
            </a:solidFill>
            <a:prstDash val="solid"/>
          </a:ln>
        </p:spPr>
      </p:sp>
      <p:sp>
        <p:nvSpPr>
          <p:cNvPr id="16" name="Shape 13"/>
          <p:cNvSpPr/>
          <p:nvPr/>
        </p:nvSpPr>
        <p:spPr>
          <a:xfrm>
            <a:off x="2596896" y="3794760"/>
            <a:ext cx="182880" cy="182880"/>
          </a:xfrm>
          <a:prstGeom prst="ellipse">
            <a:avLst/>
          </a:prstGeom>
          <a:solidFill>
            <a:srgbClr val="F2994A"/>
          </a:solidFill>
          <a:ln w="12700">
            <a:solidFill>
              <a:srgbClr val="F2994A"/>
            </a:solidFill>
            <a:prstDash val="solid"/>
          </a:ln>
        </p:spPr>
      </p:sp>
      <p:sp>
        <p:nvSpPr>
          <p:cNvPr id="17" name="Shape 14"/>
          <p:cNvSpPr/>
          <p:nvPr/>
        </p:nvSpPr>
        <p:spPr>
          <a:xfrm>
            <a:off x="2843784" y="3794760"/>
            <a:ext cx="182880" cy="182880"/>
          </a:xfrm>
          <a:prstGeom prst="ellipse">
            <a:avLst/>
          </a:prstGeom>
          <a:solidFill>
            <a:srgbClr val="F2994A"/>
          </a:solidFill>
          <a:ln w="12700">
            <a:solidFill>
              <a:srgbClr val="F2994A"/>
            </a:solidFill>
            <a:prstDash val="solid"/>
          </a:ln>
        </p:spPr>
      </p:sp>
      <p:sp>
        <p:nvSpPr>
          <p:cNvPr id="18" name="Text 15"/>
          <p:cNvSpPr txBox="1"/>
          <p:nvPr/>
        </p:nvSpPr>
        <p:spPr>
          <a:xfrm>
            <a:off x="548640" y="4297680"/>
            <a:ext cx="2926080" cy="365760"/>
          </a:xfrm>
          <a:prstGeom prst="rect">
            <a:avLst/>
          </a:prstGeom>
          <a:noFill/>
          <a:ln/>
        </p:spPr>
        <p:txBody>
          <a:bodyPr wrap="square" lIns="0" tIns="0" rIns="0" bIns="0" rtlCol="0" anchor="t"/>
          <a:lstStyle/>
          <a:p>
            <a:pPr algn="ctr" indent="0" marL="0">
              <a:buNone/>
            </a:pPr>
            <a:r>
              <a:rPr lang="en-US" sz="1400" dirty="0">
                <a:solidFill>
                  <a:srgbClr val="BFE3F0"/>
                </a:solidFill>
                <a:latin typeface="Meiryo" pitchFamily="34" charset="0"/>
                <a:ea typeface="Meiryo" pitchFamily="34" charset="-122"/>
                <a:cs typeface="Meiryo" pitchFamily="34" charset="-120"/>
              </a:rPr>
              <a:t>動画の目安：約25分</a:t>
            </a:r>
            <a:endParaRPr lang="en-US" sz="1400" dirty="0"/>
          </a:p>
        </p:txBody>
      </p:sp>
      <p:sp>
        <p:nvSpPr>
          <p:cNvPr id="19" name="Text 16"/>
          <p:cNvSpPr txBox="1"/>
          <p:nvPr/>
        </p:nvSpPr>
        <p:spPr>
          <a:xfrm>
            <a:off x="548640" y="4937760"/>
            <a:ext cx="2926080" cy="548640"/>
          </a:xfrm>
          <a:prstGeom prst="rect">
            <a:avLst/>
          </a:prstGeom>
          <a:noFill/>
          <a:ln/>
        </p:spPr>
        <p:txBody>
          <a:bodyPr wrap="square" lIns="0" tIns="0" rIns="0" bIns="0" rtlCol="0" anchor="t"/>
          <a:lstStyle/>
          <a:p>
            <a:pPr algn="ctr" indent="0" marL="0">
              <a:buNone/>
            </a:pPr>
            <a:r>
              <a:rPr lang="en-US" sz="2400" b="1" dirty="0">
                <a:solidFill>
                  <a:srgbClr val="F2994A"/>
                </a:solidFill>
                <a:latin typeface="Meiryo" pitchFamily="34" charset="0"/>
                <a:ea typeface="Meiryo" pitchFamily="34" charset="-122"/>
                <a:cs typeface="Meiryo" pitchFamily="34" charset="-120"/>
              </a:rPr>
              <a:t>★ 山場</a:t>
            </a:r>
            <a:endParaRPr lang="en-US" sz="2400" dirty="0"/>
          </a:p>
        </p:txBody>
      </p:sp>
      <p:sp>
        <p:nvSpPr>
          <p:cNvPr id="20" name="Shape 17"/>
          <p:cNvSpPr/>
          <p:nvPr/>
        </p:nvSpPr>
        <p:spPr>
          <a:xfrm>
            <a:off x="3749040" y="1371600"/>
            <a:ext cx="7863840" cy="2240280"/>
          </a:xfrm>
          <a:prstGeom prst="roundRect">
            <a:avLst>
              <a:gd name="adj" fmla="val 4898"/>
            </a:avLst>
          </a:prstGeom>
          <a:solidFill>
            <a:srgbClr val="E6F1F7"/>
          </a:solidFill>
          <a:ln w="12700">
            <a:solidFill>
              <a:srgbClr val="E6F1F7"/>
            </a:solidFill>
            <a:prstDash val="solid"/>
          </a:ln>
        </p:spPr>
      </p:sp>
      <p:sp>
        <p:nvSpPr>
          <p:cNvPr id="21" name="Text 18"/>
          <p:cNvSpPr txBox="1"/>
          <p:nvPr/>
        </p:nvSpPr>
        <p:spPr>
          <a:xfrm>
            <a:off x="4023360" y="1508760"/>
            <a:ext cx="7315200" cy="365760"/>
          </a:xfrm>
          <a:prstGeom prst="rect">
            <a:avLst/>
          </a:prstGeom>
          <a:noFill/>
          <a:ln/>
        </p:spPr>
        <p:txBody>
          <a:bodyPr wrap="square" lIns="0" tIns="0" rIns="0" bIns="0" rtlCol="0" anchor="t"/>
          <a:lstStyle/>
          <a:p>
            <a:pPr indent="0" marL="0">
              <a:buNone/>
            </a:pPr>
            <a:r>
              <a:rPr lang="en-US" sz="1600" b="1" dirty="0">
                <a:solidFill>
                  <a:srgbClr val="F2994A"/>
                </a:solidFill>
                <a:latin typeface="Meiryo" pitchFamily="34" charset="0"/>
                <a:ea typeface="Meiryo" pitchFamily="34" charset="-122"/>
                <a:cs typeface="Meiryo" pitchFamily="34" charset="-120"/>
              </a:rPr>
              <a:t>学ぶこと</a:t>
            </a:r>
            <a:endParaRPr lang="en-US" sz="1600" dirty="0"/>
          </a:p>
        </p:txBody>
      </p:sp>
      <p:sp>
        <p:nvSpPr>
          <p:cNvPr id="22" name="Text 19"/>
          <p:cNvSpPr txBox="1"/>
          <p:nvPr/>
        </p:nvSpPr>
        <p:spPr>
          <a:xfrm>
            <a:off x="4023360" y="1965960"/>
            <a:ext cx="731520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口頭か文章かを、場面で選ぶ</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JiraとチャットのURLを、迷わせずに添える</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場面に合わせて、型を選んで書く</a:t>
            </a:r>
            <a:endParaRPr lang="en-US" sz="1500" dirty="0"/>
          </a:p>
        </p:txBody>
      </p:sp>
      <p:sp>
        <p:nvSpPr>
          <p:cNvPr id="23" name="Shape 20"/>
          <p:cNvSpPr/>
          <p:nvPr/>
        </p:nvSpPr>
        <p:spPr>
          <a:xfrm>
            <a:off x="3749040" y="3749040"/>
            <a:ext cx="7863840" cy="1097280"/>
          </a:xfrm>
          <a:prstGeom prst="roundRect">
            <a:avLst>
              <a:gd name="adj" fmla="val 10000"/>
            </a:avLst>
          </a:prstGeom>
          <a:solidFill>
            <a:srgbClr val="FDEBDD"/>
          </a:solidFill>
          <a:ln w="12700">
            <a:solidFill>
              <a:srgbClr val="FDEBDD"/>
            </a:solidFill>
            <a:prstDash val="solid"/>
          </a:ln>
        </p:spPr>
      </p:sp>
      <p:sp>
        <p:nvSpPr>
          <p:cNvPr id="24" name="Text 21"/>
          <p:cNvSpPr txBox="1"/>
          <p:nvPr/>
        </p:nvSpPr>
        <p:spPr>
          <a:xfrm>
            <a:off x="4023360" y="3840480"/>
            <a:ext cx="7315200" cy="320040"/>
          </a:xfrm>
          <a:prstGeom prst="rect">
            <a:avLst/>
          </a:prstGeom>
          <a:noFill/>
          <a:ln/>
        </p:spPr>
        <p:txBody>
          <a:bodyPr wrap="square" lIns="0" tIns="0" rIns="0" bIns="0" rtlCol="0" anchor="t"/>
          <a:lstStyle/>
          <a:p>
            <a:pPr indent="0" marL="0">
              <a:buNone/>
            </a:pPr>
            <a:r>
              <a:rPr lang="en-US" sz="1400" b="1" dirty="0">
                <a:solidFill>
                  <a:srgbClr val="F2994A"/>
                </a:solidFill>
                <a:latin typeface="Meiryo" pitchFamily="34" charset="0"/>
                <a:ea typeface="Meiryo" pitchFamily="34" charset="-122"/>
                <a:cs typeface="Meiryo" pitchFamily="34" charset="-120"/>
              </a:rPr>
              <a:t>やってみよう</a:t>
            </a:r>
            <a:endParaRPr lang="en-US" sz="1400" dirty="0"/>
          </a:p>
        </p:txBody>
      </p:sp>
      <p:sp>
        <p:nvSpPr>
          <p:cNvPr id="25" name="Text 22"/>
          <p:cNvSpPr txBox="1"/>
          <p:nvPr/>
        </p:nvSpPr>
        <p:spPr>
          <a:xfrm>
            <a:off x="4023360" y="4206240"/>
            <a:ext cx="7315200" cy="59436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3つの場面で媒体と型を選び、悪い例を書き直す</a:t>
            </a:r>
            <a:endParaRPr lang="en-US" sz="1500" dirty="0"/>
          </a:p>
        </p:txBody>
      </p:sp>
      <p:sp>
        <p:nvSpPr>
          <p:cNvPr id="26" name="Shape 23"/>
          <p:cNvSpPr/>
          <p:nvPr/>
        </p:nvSpPr>
        <p:spPr>
          <a:xfrm>
            <a:off x="3749040" y="4983480"/>
            <a:ext cx="7863840" cy="1051560"/>
          </a:xfrm>
          <a:prstGeom prst="roundRect">
            <a:avLst>
              <a:gd name="adj" fmla="val 10435"/>
            </a:avLst>
          </a:prstGeom>
          <a:solidFill>
            <a:srgbClr val="FDEBDD"/>
          </a:solidFill>
          <a:ln w="12700">
            <a:solidFill>
              <a:srgbClr val="FDEBDD"/>
            </a:solidFill>
            <a:prstDash val="solid"/>
          </a:ln>
        </p:spPr>
      </p:sp>
      <p:sp>
        <p:nvSpPr>
          <p:cNvPr id="27" name="Text 24"/>
          <p:cNvSpPr txBox="1"/>
          <p:nvPr/>
        </p:nvSpPr>
        <p:spPr>
          <a:xfrm>
            <a:off x="4023360" y="5074920"/>
            <a:ext cx="7315200" cy="320040"/>
          </a:xfrm>
          <a:prstGeom prst="rect">
            <a:avLst/>
          </a:prstGeom>
          <a:noFill/>
          <a:ln/>
        </p:spPr>
        <p:txBody>
          <a:bodyPr wrap="square" lIns="0" tIns="0" rIns="0" bIns="0" rtlCol="0" anchor="t"/>
          <a:lstStyle/>
          <a:p>
            <a:pPr indent="0" marL="0">
              <a:buNone/>
            </a:pPr>
            <a:r>
              <a:rPr lang="en-US" sz="1400" b="1" dirty="0">
                <a:solidFill>
                  <a:srgbClr val="F2994A"/>
                </a:solidFill>
                <a:latin typeface="Meiryo" pitchFamily="34" charset="0"/>
                <a:ea typeface="Meiryo" pitchFamily="34" charset="-122"/>
                <a:cs typeface="Meiryo" pitchFamily="34" charset="-120"/>
              </a:rPr>
              <a:t>できたかな？</a:t>
            </a:r>
            <a:endParaRPr lang="en-US" sz="1400" dirty="0"/>
          </a:p>
        </p:txBody>
      </p:sp>
      <p:sp>
        <p:nvSpPr>
          <p:cNvPr id="28" name="Text 25"/>
          <p:cNvSpPr txBox="1"/>
          <p:nvPr/>
        </p:nvSpPr>
        <p:spPr>
          <a:xfrm>
            <a:off x="4023360" y="5440680"/>
            <a:ext cx="7315200" cy="548640"/>
          </a:xfrm>
          <a:prstGeom prst="rect">
            <a:avLst/>
          </a:prstGeom>
          <a:noFill/>
          <a:ln/>
        </p:spPr>
        <p:txBody>
          <a:bodyPr wrap="square" lIns="0" tIns="0" rIns="0" bIns="0" rtlCol="0" anchor="t"/>
          <a:lstStyle/>
          <a:p>
            <a:pPr indent="0" marL="0">
              <a:buNone/>
            </a:pPr>
            <a:r>
              <a:rPr lang="en-US" sz="1500" b="1" dirty="0">
                <a:solidFill>
                  <a:srgbClr val="21295C"/>
                </a:solidFill>
                <a:latin typeface="Meiryo" pitchFamily="34" charset="0"/>
                <a:ea typeface="Meiryo" pitchFamily="34" charset="-122"/>
                <a:cs typeface="Meiryo" pitchFamily="34" charset="-120"/>
              </a:rPr>
              <a:t>★1 媒体の選択を理由つきで説明できた　★2 悪い例を、結論・数字・期限入りで書き直せた</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口頭か文章か：場面で選ぶ</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4480560"/>
                <a:gridCol w="4846320"/>
              </a:tblGrid>
              <a:tr h="713232">
                <a:tc>
                  <a:txBody>
                    <a:bodyPr/>
                    <a:lstStyle/>
                    <a:p>
                      <a:pPr indent="0" marL="0">
                        <a:buNone/>
                      </a:pPr>
                      <a:r>
                        <a:rPr lang="en-US" sz="1500" b="1" dirty="0">
                          <a:solidFill>
                            <a:srgbClr val="FFFFFF"/>
                          </a:solidFill>
                          <a:latin typeface="Meiryo" pitchFamily="34" charset="0"/>
                          <a:ea typeface="Meiryo" pitchFamily="34" charset="-122"/>
                          <a:cs typeface="Meiryo" pitchFamily="34" charset="-120"/>
                        </a:rPr>
                        <a:t>場面</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500" b="1" dirty="0">
                          <a:solidFill>
                            <a:srgbClr val="FFFFFF"/>
                          </a:solidFill>
                          <a:latin typeface="Meiryo" pitchFamily="34" charset="0"/>
                          <a:ea typeface="Meiryo" pitchFamily="34" charset="-122"/>
                          <a:cs typeface="Meiryo" pitchFamily="34" charset="-120"/>
                        </a:rPr>
                        <a:t>口頭（会話・Web会議）</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500" b="1" dirty="0">
                          <a:solidFill>
                            <a:srgbClr val="FFFFFF"/>
                          </a:solidFill>
                          <a:latin typeface="Meiryo" pitchFamily="34" charset="0"/>
                          <a:ea typeface="Meiryo" pitchFamily="34" charset="-122"/>
                          <a:cs typeface="Meiryo" pitchFamily="34" charset="-120"/>
                        </a:rPr>
                        <a:t>文章（チャット・Jira）</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r>
              <a:tr h="713232">
                <a:tc>
                  <a:txBody>
                    <a:bodyPr/>
                    <a:lstStyle/>
                    <a:p>
                      <a:pPr indent="0" marL="0">
                        <a:buNone/>
                      </a:pPr>
                      <a:r>
                        <a:rPr lang="en-US" sz="1500" dirty="0">
                          <a:solidFill>
                            <a:srgbClr val="1F2937"/>
                          </a:solidFill>
                          <a:latin typeface="Meiryo" pitchFamily="34" charset="0"/>
                          <a:ea typeface="Meiryo" pitchFamily="34" charset="-122"/>
                          <a:cs typeface="Meiryo" pitchFamily="34" charset="-120"/>
                        </a:rPr>
                        <a:t>報告</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緊急の障害（第一報）</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日々の進捗、数値やエビデンスを残す時</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713232">
                <a:tc>
                  <a:txBody>
                    <a:bodyPr/>
                    <a:lstStyle/>
                    <a:p>
                      <a:pPr indent="0" marL="0">
                        <a:buNone/>
                      </a:pPr>
                      <a:r>
                        <a:rPr lang="en-US" sz="1500" dirty="0">
                          <a:solidFill>
                            <a:srgbClr val="1F2937"/>
                          </a:solidFill>
                          <a:latin typeface="Meiryo" pitchFamily="34" charset="0"/>
                          <a:ea typeface="Meiryo" pitchFamily="34" charset="-122"/>
                          <a:cs typeface="Meiryo" pitchFamily="34" charset="-120"/>
                        </a:rPr>
                        <a:t>相談</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選択肢が未定／複雑な事情</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A案・B案が揃い、選ぶだけの時</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r h="713232">
                <a:tc>
                  <a:txBody>
                    <a:bodyPr/>
                    <a:lstStyle/>
                    <a:p>
                      <a:pPr indent="0" marL="0">
                        <a:buNone/>
                      </a:pPr>
                      <a:r>
                        <a:rPr lang="en-US" sz="1500" dirty="0">
                          <a:solidFill>
                            <a:srgbClr val="1F2937"/>
                          </a:solidFill>
                          <a:latin typeface="Meiryo" pitchFamily="34" charset="0"/>
                          <a:ea typeface="Meiryo" pitchFamily="34" charset="-122"/>
                          <a:cs typeface="Meiryo" pitchFamily="34" charset="-120"/>
                        </a:rPr>
                        <a:t>サポート</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画面共有のほうが早い時</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ログやエラーなど、正確なテキストが必要な時</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713232">
                <a:tc>
                  <a:txBody>
                    <a:bodyPr/>
                    <a:lstStyle/>
                    <a:p>
                      <a:pPr indent="0" marL="0">
                        <a:buNone/>
                      </a:pPr>
                      <a:r>
                        <a:rPr lang="en-US" sz="1500" dirty="0">
                          <a:solidFill>
                            <a:srgbClr val="1F2937"/>
                          </a:solidFill>
                          <a:latin typeface="Meiryo" pitchFamily="34" charset="0"/>
                          <a:ea typeface="Meiryo" pitchFamily="34" charset="-122"/>
                          <a:cs typeface="Meiryo" pitchFamily="34" charset="-120"/>
                        </a:rPr>
                        <a:t>連絡</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念押ししたい時</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500" dirty="0">
                          <a:solidFill>
                            <a:srgbClr val="1F2937"/>
                          </a:solidFill>
                          <a:latin typeface="Meiryo" pitchFamily="34" charset="0"/>
                          <a:ea typeface="Meiryo" pitchFamily="34" charset="-122"/>
                          <a:cs typeface="Meiryo" pitchFamily="34" charset="-120"/>
                        </a:rPr>
                        <a:t>日程・仕様・手順など、後で見返す情報</a:t>
                      </a:r>
                      <a:endParaRPr lang="en-US" sz="15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bl>
          </a:graphicData>
        </a:graphic>
      </p:graphicFrame>
      <p:sp>
        <p:nvSpPr>
          <p:cNvPr id="6" name="Shape 2"/>
          <p:cNvSpPr/>
          <p:nvPr/>
        </p:nvSpPr>
        <p:spPr>
          <a:xfrm>
            <a:off x="548640" y="5074920"/>
            <a:ext cx="11064240" cy="960120"/>
          </a:xfrm>
          <a:prstGeom prst="roundRect">
            <a:avLst>
              <a:gd name="adj" fmla="val 11429"/>
            </a:avLst>
          </a:prstGeom>
          <a:solidFill>
            <a:srgbClr val="FDEBDD"/>
          </a:solidFill>
          <a:ln w="12700">
            <a:solidFill>
              <a:srgbClr val="FDEBDD"/>
            </a:solidFill>
            <a:prstDash val="solid"/>
          </a:ln>
        </p:spPr>
      </p:sp>
      <p:sp>
        <p:nvSpPr>
          <p:cNvPr id="7" name="Text 3"/>
          <p:cNvSpPr txBox="1"/>
          <p:nvPr/>
        </p:nvSpPr>
        <p:spPr>
          <a:xfrm>
            <a:off x="822960" y="5074920"/>
            <a:ext cx="10515600" cy="96012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口頭で決めたら、チャットに1行：「先ほど口頭で合意いただいた通り、A案で進めます」</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JiraとチャットのURLの添え方</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3505200" cy="2377440"/>
          </a:xfrm>
          <a:prstGeom prst="roundRect">
            <a:avLst>
              <a:gd name="adj" fmla="val 4615"/>
            </a:avLst>
          </a:prstGeom>
          <a:solidFill>
            <a:srgbClr val="E6F1F7"/>
          </a:solidFill>
          <a:ln w="12700">
            <a:solidFill>
              <a:srgbClr val="E6F1F7"/>
            </a:solidFill>
            <a:prstDash val="solid"/>
          </a:ln>
        </p:spPr>
      </p:sp>
      <p:sp>
        <p:nvSpPr>
          <p:cNvPr id="6" name="Shape 3"/>
          <p:cNvSpPr/>
          <p:nvPr/>
        </p:nvSpPr>
        <p:spPr>
          <a:xfrm>
            <a:off x="777240" y="1572768"/>
            <a:ext cx="502920" cy="502920"/>
          </a:xfrm>
          <a:prstGeom prst="ellipse">
            <a:avLst/>
          </a:prstGeom>
          <a:solidFill>
            <a:srgbClr val="065A82"/>
          </a:solidFill>
          <a:ln w="12700">
            <a:solidFill>
              <a:srgbClr val="065A82"/>
            </a:solidFill>
            <a:prstDash val="solid"/>
          </a:ln>
        </p:spPr>
      </p:sp>
      <p:sp>
        <p:nvSpPr>
          <p:cNvPr id="7" name="Text 4"/>
          <p:cNvSpPr txBox="1"/>
          <p:nvPr/>
        </p:nvSpPr>
        <p:spPr>
          <a:xfrm>
            <a:off x="77724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8" name="Text 5"/>
          <p:cNvSpPr txBox="1"/>
          <p:nvPr/>
        </p:nvSpPr>
        <p:spPr>
          <a:xfrm>
            <a:off x="1417320" y="1508760"/>
            <a:ext cx="2407920" cy="640080"/>
          </a:xfrm>
          <a:prstGeom prst="rect">
            <a:avLst/>
          </a:prstGeom>
          <a:noFill/>
          <a:ln/>
        </p:spPr>
        <p:txBody>
          <a:bodyPr wrap="square" lIns="0" tIns="0" rIns="0" bIns="0" rtlCol="0" anchor="ctr"/>
          <a:lstStyle/>
          <a:p>
            <a:pPr indent="0" marL="0">
              <a:buNone/>
            </a:pPr>
            <a:r>
              <a:rPr lang="en-US" sz="1600" b="1" dirty="0">
                <a:solidFill>
                  <a:srgbClr val="21295C"/>
                </a:solidFill>
                <a:latin typeface="Meiryo" pitchFamily="34" charset="0"/>
                <a:ea typeface="Meiryo" pitchFamily="34" charset="-122"/>
                <a:cs typeface="Meiryo" pitchFamily="34" charset="-120"/>
              </a:rPr>
              <a:t>URLだけを投げない</a:t>
            </a:r>
            <a:endParaRPr lang="en-US" sz="1600" dirty="0"/>
          </a:p>
        </p:txBody>
      </p:sp>
      <p:sp>
        <p:nvSpPr>
          <p:cNvPr id="9" name="Text 6"/>
          <p:cNvSpPr txBox="1"/>
          <p:nvPr/>
        </p:nvSpPr>
        <p:spPr>
          <a:xfrm>
            <a:off x="822960" y="2240280"/>
            <a:ext cx="2956560" cy="141732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「何のURLか」と「どうしてほしいか」を添える</a:t>
            </a:r>
            <a:endParaRPr lang="en-US" sz="1400" dirty="0"/>
          </a:p>
        </p:txBody>
      </p:sp>
      <p:sp>
        <p:nvSpPr>
          <p:cNvPr id="10" name="Shape 7"/>
          <p:cNvSpPr/>
          <p:nvPr/>
        </p:nvSpPr>
        <p:spPr>
          <a:xfrm>
            <a:off x="4328160" y="1371600"/>
            <a:ext cx="3505200" cy="2377440"/>
          </a:xfrm>
          <a:prstGeom prst="roundRect">
            <a:avLst>
              <a:gd name="adj" fmla="val 4615"/>
            </a:avLst>
          </a:prstGeom>
          <a:solidFill>
            <a:srgbClr val="E6F1F7"/>
          </a:solidFill>
          <a:ln w="12700">
            <a:solidFill>
              <a:srgbClr val="E6F1F7"/>
            </a:solidFill>
            <a:prstDash val="solid"/>
          </a:ln>
        </p:spPr>
      </p:sp>
      <p:sp>
        <p:nvSpPr>
          <p:cNvPr id="11" name="Shape 8"/>
          <p:cNvSpPr/>
          <p:nvPr/>
        </p:nvSpPr>
        <p:spPr>
          <a:xfrm>
            <a:off x="4556760" y="1572768"/>
            <a:ext cx="502920" cy="502920"/>
          </a:xfrm>
          <a:prstGeom prst="ellipse">
            <a:avLst/>
          </a:prstGeom>
          <a:solidFill>
            <a:srgbClr val="065A82"/>
          </a:solidFill>
          <a:ln w="12700">
            <a:solidFill>
              <a:srgbClr val="065A82"/>
            </a:solidFill>
            <a:prstDash val="solid"/>
          </a:ln>
        </p:spPr>
      </p:sp>
      <p:sp>
        <p:nvSpPr>
          <p:cNvPr id="12" name="Text 9"/>
          <p:cNvSpPr txBox="1"/>
          <p:nvPr/>
        </p:nvSpPr>
        <p:spPr>
          <a:xfrm>
            <a:off x="455676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3" name="Text 10"/>
          <p:cNvSpPr txBox="1"/>
          <p:nvPr/>
        </p:nvSpPr>
        <p:spPr>
          <a:xfrm>
            <a:off x="5196840" y="1508760"/>
            <a:ext cx="2407920" cy="640080"/>
          </a:xfrm>
          <a:prstGeom prst="rect">
            <a:avLst/>
          </a:prstGeom>
          <a:noFill/>
          <a:ln/>
        </p:spPr>
        <p:txBody>
          <a:bodyPr wrap="square" lIns="0" tIns="0" rIns="0" bIns="0" rtlCol="0" anchor="ctr"/>
          <a:lstStyle/>
          <a:p>
            <a:pPr indent="0" marL="0">
              <a:buNone/>
            </a:pPr>
            <a:r>
              <a:rPr lang="en-US" sz="1600" b="1" dirty="0">
                <a:solidFill>
                  <a:srgbClr val="21295C"/>
                </a:solidFill>
                <a:latin typeface="Meiryo" pitchFamily="34" charset="0"/>
                <a:ea typeface="Meiryo" pitchFamily="34" charset="-122"/>
                <a:cs typeface="Meiryo" pitchFamily="34" charset="-120"/>
              </a:rPr>
              <a:t>決定事項をJiraにも書き戻す</a:t>
            </a:r>
            <a:endParaRPr lang="en-US" sz="1600" dirty="0"/>
          </a:p>
        </p:txBody>
      </p:sp>
      <p:sp>
        <p:nvSpPr>
          <p:cNvPr id="14" name="Text 11"/>
          <p:cNvSpPr txBox="1"/>
          <p:nvPr/>
        </p:nvSpPr>
        <p:spPr>
          <a:xfrm>
            <a:off x="4602480" y="2240280"/>
            <a:ext cx="2956560" cy="141732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チャットで合意した内容を、チケットのコメントにも残す</a:t>
            </a:r>
            <a:endParaRPr lang="en-US" sz="1400" dirty="0"/>
          </a:p>
        </p:txBody>
      </p:sp>
      <p:sp>
        <p:nvSpPr>
          <p:cNvPr id="15" name="Shape 12"/>
          <p:cNvSpPr/>
          <p:nvPr/>
        </p:nvSpPr>
        <p:spPr>
          <a:xfrm>
            <a:off x="8107680" y="1371600"/>
            <a:ext cx="3505200" cy="2377440"/>
          </a:xfrm>
          <a:prstGeom prst="roundRect">
            <a:avLst>
              <a:gd name="adj" fmla="val 4615"/>
            </a:avLst>
          </a:prstGeom>
          <a:solidFill>
            <a:srgbClr val="E6F1F7"/>
          </a:solidFill>
          <a:ln w="12700">
            <a:solidFill>
              <a:srgbClr val="E6F1F7"/>
            </a:solidFill>
            <a:prstDash val="solid"/>
          </a:ln>
        </p:spPr>
      </p:sp>
      <p:sp>
        <p:nvSpPr>
          <p:cNvPr id="16" name="Shape 13"/>
          <p:cNvSpPr/>
          <p:nvPr/>
        </p:nvSpPr>
        <p:spPr>
          <a:xfrm>
            <a:off x="8336280" y="1572768"/>
            <a:ext cx="502920" cy="502920"/>
          </a:xfrm>
          <a:prstGeom prst="ellipse">
            <a:avLst/>
          </a:prstGeom>
          <a:solidFill>
            <a:srgbClr val="065A82"/>
          </a:solidFill>
          <a:ln w="12700">
            <a:solidFill>
              <a:srgbClr val="065A82"/>
            </a:solidFill>
            <a:prstDash val="solid"/>
          </a:ln>
        </p:spPr>
      </p:sp>
      <p:sp>
        <p:nvSpPr>
          <p:cNvPr id="17" name="Text 14"/>
          <p:cNvSpPr txBox="1"/>
          <p:nvPr/>
        </p:nvSpPr>
        <p:spPr>
          <a:xfrm>
            <a:off x="833628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8" name="Text 15"/>
          <p:cNvSpPr txBox="1"/>
          <p:nvPr/>
        </p:nvSpPr>
        <p:spPr>
          <a:xfrm>
            <a:off x="8976360" y="1508760"/>
            <a:ext cx="2407920" cy="640080"/>
          </a:xfrm>
          <a:prstGeom prst="rect">
            <a:avLst/>
          </a:prstGeom>
          <a:noFill/>
          <a:ln/>
        </p:spPr>
        <p:txBody>
          <a:bodyPr wrap="square" lIns="0" tIns="0" rIns="0" bIns="0" rtlCol="0" anchor="ctr"/>
          <a:lstStyle/>
          <a:p>
            <a:pPr indent="0" marL="0">
              <a:buNone/>
            </a:pPr>
            <a:r>
              <a:rPr lang="en-US" sz="1600" b="1" dirty="0">
                <a:solidFill>
                  <a:srgbClr val="21295C"/>
                </a:solidFill>
                <a:latin typeface="Meiryo" pitchFamily="34" charset="0"/>
                <a:ea typeface="Meiryo" pitchFamily="34" charset="-122"/>
                <a:cs typeface="Meiryo" pitchFamily="34" charset="-120"/>
              </a:rPr>
              <a:t>関連URLを箇条書きにする</a:t>
            </a:r>
            <a:endParaRPr lang="en-US" sz="1600" dirty="0"/>
          </a:p>
        </p:txBody>
      </p:sp>
      <p:sp>
        <p:nvSpPr>
          <p:cNvPr id="19" name="Text 16"/>
          <p:cNvSpPr txBox="1"/>
          <p:nvPr/>
        </p:nvSpPr>
        <p:spPr>
          <a:xfrm>
            <a:off x="8382000" y="2240280"/>
            <a:ext cx="2956560" cy="141732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Jira・PR・ログ・デザインをまとめて貼る</a:t>
            </a:r>
            <a:endParaRPr lang="en-US" sz="1400" dirty="0"/>
          </a:p>
        </p:txBody>
      </p:sp>
      <p:sp>
        <p:nvSpPr>
          <p:cNvPr id="20" name="Shape 17"/>
          <p:cNvSpPr/>
          <p:nvPr/>
        </p:nvSpPr>
        <p:spPr>
          <a:xfrm>
            <a:off x="548640" y="4023360"/>
            <a:ext cx="11064240" cy="2011680"/>
          </a:xfrm>
          <a:prstGeom prst="roundRect">
            <a:avLst>
              <a:gd name="adj" fmla="val 5455"/>
            </a:avLst>
          </a:prstGeom>
          <a:solidFill>
            <a:srgbClr val="EEF3F6"/>
          </a:solidFill>
          <a:ln w="12700">
            <a:solidFill>
              <a:srgbClr val="EEF3F6"/>
            </a:solidFill>
            <a:prstDash val="solid"/>
          </a:ln>
        </p:spPr>
      </p:sp>
      <p:sp>
        <p:nvSpPr>
          <p:cNvPr id="21" name="Text 18"/>
          <p:cNvSpPr txBox="1"/>
          <p:nvPr/>
        </p:nvSpPr>
        <p:spPr>
          <a:xfrm>
            <a:off x="822960" y="4114800"/>
            <a:ext cx="2743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例</a:t>
            </a:r>
            <a:endParaRPr lang="en-US" sz="1400" dirty="0"/>
          </a:p>
        </p:txBody>
      </p:sp>
      <p:sp>
        <p:nvSpPr>
          <p:cNvPr id="22" name="Text 19"/>
          <p:cNvSpPr txBox="1"/>
          <p:nvPr/>
        </p:nvSpPr>
        <p:spPr>
          <a:xfrm>
            <a:off x="822960" y="4480560"/>
            <a:ext cx="10515600" cy="150876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【レビュー依頼】〇〇機能の修正が完了しました</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 関連URL</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　・Jiraチケット：（URL）</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　・Pull Request：（URL）</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　・STG検証環境：（URL）</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本日18:00頃までにご確認いただけると助かります</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 書き直し演習：悪い例を直そう</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5394960" cy="2103120"/>
          </a:xfrm>
          <a:prstGeom prst="roundRect">
            <a:avLst>
              <a:gd name="adj" fmla="val 5217"/>
            </a:avLst>
          </a:prstGeom>
          <a:solidFill>
            <a:srgbClr val="FCE9E9"/>
          </a:solidFill>
          <a:ln w="12700">
            <a:solidFill>
              <a:srgbClr val="FCE9E9"/>
            </a:solidFill>
            <a:prstDash val="solid"/>
          </a:ln>
        </p:spPr>
      </p:sp>
      <p:sp>
        <p:nvSpPr>
          <p:cNvPr id="6" name="Text 3"/>
          <p:cNvSpPr txBox="1"/>
          <p:nvPr/>
        </p:nvSpPr>
        <p:spPr>
          <a:xfrm>
            <a:off x="822960" y="1463040"/>
            <a:ext cx="4846320" cy="365760"/>
          </a:xfrm>
          <a:prstGeom prst="rect">
            <a:avLst/>
          </a:prstGeom>
          <a:noFill/>
          <a:ln/>
        </p:spPr>
        <p:txBody>
          <a:bodyPr wrap="square" lIns="0" tIns="0" rIns="0" bIns="0" rtlCol="0" anchor="t"/>
          <a:lstStyle/>
          <a:p>
            <a:pPr indent="0" marL="0">
              <a:buNone/>
            </a:pPr>
            <a:r>
              <a:rPr lang="en-US" sz="1600" b="1" dirty="0">
                <a:solidFill>
                  <a:srgbClr val="D64545"/>
                </a:solidFill>
                <a:latin typeface="Meiryo" pitchFamily="34" charset="0"/>
                <a:ea typeface="Meiryo" pitchFamily="34" charset="-122"/>
                <a:cs typeface="Meiryo" pitchFamily="34" charset="-120"/>
              </a:rPr>
              <a:t>悪い例（チャット）</a:t>
            </a:r>
            <a:endParaRPr lang="en-US" sz="1600" dirty="0"/>
          </a:p>
        </p:txBody>
      </p:sp>
      <p:sp>
        <p:nvSpPr>
          <p:cNvPr id="7" name="Text 4"/>
          <p:cNvSpPr txBox="1"/>
          <p:nvPr/>
        </p:nvSpPr>
        <p:spPr>
          <a:xfrm>
            <a:off x="822960" y="1920240"/>
            <a:ext cx="4846320" cy="146304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Docker環境構築でちょっとエラーが出て、いろいろ試したんですがダメでした。手伝ってほしいです。</a:t>
            </a:r>
            <a:endParaRPr lang="en-US" sz="1500" dirty="0"/>
          </a:p>
        </p:txBody>
      </p:sp>
      <p:sp>
        <p:nvSpPr>
          <p:cNvPr id="8" name="Shape 5"/>
          <p:cNvSpPr/>
          <p:nvPr/>
        </p:nvSpPr>
        <p:spPr>
          <a:xfrm>
            <a:off x="548640" y="3657600"/>
            <a:ext cx="5394960" cy="2377440"/>
          </a:xfrm>
          <a:prstGeom prst="roundRect">
            <a:avLst>
              <a:gd name="adj" fmla="val 4615"/>
            </a:avLst>
          </a:prstGeom>
          <a:solidFill>
            <a:srgbClr val="FDEBDD"/>
          </a:solidFill>
          <a:ln w="12700">
            <a:solidFill>
              <a:srgbClr val="FDEBDD"/>
            </a:solidFill>
            <a:prstDash val="solid"/>
          </a:ln>
        </p:spPr>
      </p:sp>
      <p:sp>
        <p:nvSpPr>
          <p:cNvPr id="9" name="Text 6"/>
          <p:cNvSpPr txBox="1"/>
          <p:nvPr/>
        </p:nvSpPr>
        <p:spPr>
          <a:xfrm>
            <a:off x="822960" y="3749040"/>
            <a:ext cx="4846320" cy="365760"/>
          </a:xfrm>
          <a:prstGeom prst="rect">
            <a:avLst/>
          </a:prstGeom>
          <a:noFill/>
          <a:ln/>
        </p:spPr>
        <p:txBody>
          <a:bodyPr wrap="square" lIns="0" tIns="0" rIns="0" bIns="0" rtlCol="0" anchor="t"/>
          <a:lstStyle/>
          <a:p>
            <a:pPr indent="0" marL="0">
              <a:buNone/>
            </a:pPr>
            <a:r>
              <a:rPr lang="en-US" sz="1600" b="1" dirty="0">
                <a:solidFill>
                  <a:srgbClr val="F2994A"/>
                </a:solidFill>
                <a:latin typeface="Meiryo" pitchFamily="34" charset="0"/>
                <a:ea typeface="Meiryo" pitchFamily="34" charset="-122"/>
                <a:cs typeface="Meiryo" pitchFamily="34" charset="-120"/>
              </a:rPr>
              <a:t>直すときの4つの視点</a:t>
            </a:r>
            <a:endParaRPr lang="en-US" sz="1600" dirty="0"/>
          </a:p>
        </p:txBody>
      </p:sp>
      <p:sp>
        <p:nvSpPr>
          <p:cNvPr id="10" name="Text 7"/>
          <p:cNvSpPr txBox="1"/>
          <p:nvPr/>
        </p:nvSpPr>
        <p:spPr>
          <a:xfrm>
            <a:off x="822960" y="4206240"/>
            <a:ext cx="4846320" cy="1737360"/>
          </a:xfrm>
          <a:prstGeom prst="rect">
            <a:avLst/>
          </a:prstGeom>
          <a:noFill/>
          <a:ln/>
        </p:spPr>
        <p:txBody>
          <a:bodyPr wrap="square" lIns="0" tIns="0" rIns="0" bIns="0" rtlCol="0" anchor="t"/>
          <a:lstStyle/>
          <a:p>
            <a:pPr indent="0" marL="0">
              <a:spcAft>
                <a:spcPts val="400"/>
              </a:spcAft>
              <a:buNone/>
            </a:pPr>
            <a:r>
              <a:rPr lang="en-US" sz="1500" dirty="0">
                <a:solidFill>
                  <a:srgbClr val="1F2937"/>
                </a:solidFill>
                <a:latin typeface="Meiryo" pitchFamily="34" charset="0"/>
                <a:ea typeface="Meiryo" pitchFamily="34" charset="-122"/>
                <a:cs typeface="Meiryo" pitchFamily="34" charset="-120"/>
              </a:rPr>
              <a:t>1. 結論と依頼を冒頭に</a:t>
            </a:r>
            <a:endParaRPr lang="en-US" sz="1500" dirty="0"/>
          </a:p>
          <a:p>
            <a:pPr indent="0" marL="0">
              <a:spcAft>
                <a:spcPts val="400"/>
              </a:spcAft>
              <a:buNone/>
            </a:pPr>
            <a:r>
              <a:rPr lang="en-US" sz="1500" dirty="0">
                <a:solidFill>
                  <a:srgbClr val="1F2937"/>
                </a:solidFill>
                <a:latin typeface="Meiryo" pitchFamily="34" charset="0"/>
                <a:ea typeface="Meiryo" pitchFamily="34" charset="-122"/>
                <a:cs typeface="Meiryo" pitchFamily="34" charset="-120"/>
              </a:rPr>
              <a:t>2. 事実（エラー内容）と、試したこと</a:t>
            </a:r>
            <a:endParaRPr lang="en-US" sz="1500" dirty="0"/>
          </a:p>
          <a:p>
            <a:pPr indent="0" marL="0">
              <a:spcAft>
                <a:spcPts val="400"/>
              </a:spcAft>
              <a:buNone/>
            </a:pPr>
            <a:r>
              <a:rPr lang="en-US" sz="1500" dirty="0">
                <a:solidFill>
                  <a:srgbClr val="1F2937"/>
                </a:solidFill>
                <a:latin typeface="Meiryo" pitchFamily="34" charset="0"/>
                <a:ea typeface="Meiryo" pitchFamily="34" charset="-122"/>
                <a:cs typeface="Meiryo" pitchFamily="34" charset="-120"/>
              </a:rPr>
              <a:t>3. 数字（所要時間・回数）</a:t>
            </a:r>
            <a:endParaRPr lang="en-US" sz="1500" dirty="0"/>
          </a:p>
          <a:p>
            <a:pPr indent="0" marL="0">
              <a:spcAft>
                <a:spcPts val="400"/>
              </a:spcAft>
              <a:buNone/>
            </a:pPr>
            <a:r>
              <a:rPr lang="en-US" sz="1500" dirty="0">
                <a:solidFill>
                  <a:srgbClr val="1F2937"/>
                </a:solidFill>
                <a:latin typeface="Meiryo" pitchFamily="34" charset="0"/>
                <a:ea typeface="Meiryo" pitchFamily="34" charset="-122"/>
                <a:cs typeface="Meiryo" pitchFamily="34" charset="-120"/>
              </a:rPr>
              <a:t>4. 期限</a:t>
            </a:r>
            <a:endParaRPr lang="en-US" sz="1500" dirty="0"/>
          </a:p>
        </p:txBody>
      </p:sp>
      <p:sp>
        <p:nvSpPr>
          <p:cNvPr id="11" name="Shape 8"/>
          <p:cNvSpPr/>
          <p:nvPr/>
        </p:nvSpPr>
        <p:spPr>
          <a:xfrm>
            <a:off x="6217920" y="1371600"/>
            <a:ext cx="5394960" cy="4663440"/>
          </a:xfrm>
          <a:prstGeom prst="roundRect">
            <a:avLst>
              <a:gd name="adj" fmla="val 2353"/>
            </a:avLst>
          </a:prstGeom>
          <a:solidFill>
            <a:srgbClr val="E6F6EF"/>
          </a:solidFill>
          <a:ln w="12700">
            <a:solidFill>
              <a:srgbClr val="E6F6EF"/>
            </a:solidFill>
            <a:prstDash val="solid"/>
          </a:ln>
        </p:spPr>
      </p:sp>
      <p:sp>
        <p:nvSpPr>
          <p:cNvPr id="12" name="Text 9"/>
          <p:cNvSpPr txBox="1"/>
          <p:nvPr/>
        </p:nvSpPr>
        <p:spPr>
          <a:xfrm>
            <a:off x="6492240" y="1463040"/>
            <a:ext cx="4846320" cy="365760"/>
          </a:xfrm>
          <a:prstGeom prst="rect">
            <a:avLst/>
          </a:prstGeom>
          <a:noFill/>
          <a:ln/>
        </p:spPr>
        <p:txBody>
          <a:bodyPr wrap="square" lIns="0" tIns="0" rIns="0" bIns="0" rtlCol="0" anchor="t"/>
          <a:lstStyle/>
          <a:p>
            <a:pPr indent="0" marL="0">
              <a:buNone/>
            </a:pPr>
            <a:r>
              <a:rPr lang="en-US" sz="1600" b="1" dirty="0">
                <a:solidFill>
                  <a:srgbClr val="1E9E6A"/>
                </a:solidFill>
                <a:latin typeface="Meiryo" pitchFamily="34" charset="0"/>
                <a:ea typeface="Meiryo" pitchFamily="34" charset="-122"/>
                <a:cs typeface="Meiryo" pitchFamily="34" charset="-120"/>
              </a:rPr>
              <a:t>模範例（書いてから見よう）</a:t>
            </a:r>
            <a:endParaRPr lang="en-US" sz="1600" dirty="0"/>
          </a:p>
        </p:txBody>
      </p:sp>
      <p:sp>
        <p:nvSpPr>
          <p:cNvPr id="13" name="Text 10"/>
          <p:cNvSpPr txBox="1"/>
          <p:nvPr/>
        </p:nvSpPr>
        <p:spPr>
          <a:xfrm>
            <a:off x="6492240" y="1920240"/>
            <a:ext cx="4846320" cy="4023360"/>
          </a:xfrm>
          <a:prstGeom prst="rect">
            <a:avLst/>
          </a:prstGeom>
          <a:noFill/>
          <a:ln/>
        </p:spPr>
        <p:txBody>
          <a:bodyPr wrap="square" lIns="0" tIns="0" rIns="0" bIns="0" rtlCol="0" anchor="t"/>
          <a:lstStyle/>
          <a:p>
            <a:pPr indent="0" marL="0">
              <a:buNone/>
            </a:pPr>
            <a:r>
              <a:rPr lang="en-US" sz="1400" dirty="0">
                <a:solidFill>
                  <a:srgbClr val="1F2937"/>
                </a:solidFill>
                <a:latin typeface="Meiryo" pitchFamily="34" charset="0"/>
                <a:ea typeface="Meiryo" pitchFamily="34" charset="-122"/>
                <a:cs typeface="Meiryo" pitchFamily="34" charset="-120"/>
              </a:rPr>
              <a:t>【サポート依頼】Docker環境構築のエラーについて</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 お願いしたいこと</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画面共有で15分ほど、ログを一緒に見ていただけないでしょうか。</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 状況（事実）</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・docker-compose up 時に、DB接続エラー（Connection refused）が発生</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 試したこと</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・.env のポート確認：異常なし</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・コンテナの再生成：改善せず</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 期限</a:t>
            </a:r>
            <a:endParaRPr lang="en-US" sz="1400" dirty="0"/>
          </a:p>
          <a:p>
            <a:pPr indent="0" marL="0">
              <a:buNone/>
            </a:pPr>
            <a:r>
              <a:rPr lang="en-US" sz="1400" dirty="0">
                <a:solidFill>
                  <a:srgbClr val="1F2937"/>
                </a:solidFill>
                <a:latin typeface="Meiryo" pitchFamily="34" charset="0"/>
                <a:ea typeface="Meiryo" pitchFamily="34" charset="-122"/>
                <a:cs typeface="Meiryo" pitchFamily="34" charset="-120"/>
              </a:rPr>
              <a:t>本日中でご都合のよい時間を教えてください。</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STEP8｜仕上げ：セルフチェックと次の一歩</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2926080" cy="4663440"/>
          </a:xfrm>
          <a:prstGeom prst="roundRect">
            <a:avLst>
              <a:gd name="adj" fmla="val 3750"/>
            </a:avLst>
          </a:prstGeom>
          <a:solidFill>
            <a:srgbClr val="21295C"/>
          </a:solidFill>
          <a:ln w="12700">
            <a:solidFill>
              <a:srgbClr val="21295C"/>
            </a:solidFill>
            <a:prstDash val="solid"/>
          </a:ln>
        </p:spPr>
      </p:sp>
      <p:sp>
        <p:nvSpPr>
          <p:cNvPr id="6" name="Text 3"/>
          <p:cNvSpPr txBox="1"/>
          <p:nvPr/>
        </p:nvSpPr>
        <p:spPr>
          <a:xfrm>
            <a:off x="548640" y="1554480"/>
            <a:ext cx="2926080" cy="365760"/>
          </a:xfrm>
          <a:prstGeom prst="rect">
            <a:avLst/>
          </a:prstGeom>
          <a:noFill/>
          <a:ln/>
        </p:spPr>
        <p:txBody>
          <a:bodyPr wrap="square" lIns="0" tIns="0" rIns="0" bIns="0" rtlCol="0" anchor="t"/>
          <a:lstStyle/>
          <a:p>
            <a:pPr algn="ctr" indent="0" marL="0">
              <a:buNone/>
            </a:pPr>
            <a:r>
              <a:rPr lang="en-US" sz="1600" dirty="0">
                <a:solidFill>
                  <a:srgbClr val="BFE3F0"/>
                </a:solidFill>
                <a:latin typeface="Meiryo" pitchFamily="34" charset="0"/>
                <a:ea typeface="Meiryo" pitchFamily="34" charset="-122"/>
                <a:cs typeface="Meiryo" pitchFamily="34" charset="-120"/>
              </a:rPr>
              <a:t>STEP</a:t>
            </a:r>
            <a:endParaRPr lang="en-US" sz="1600" dirty="0"/>
          </a:p>
        </p:txBody>
      </p:sp>
      <p:sp>
        <p:nvSpPr>
          <p:cNvPr id="7" name="Text 4"/>
          <p:cNvSpPr txBox="1"/>
          <p:nvPr/>
        </p:nvSpPr>
        <p:spPr>
          <a:xfrm>
            <a:off x="548640" y="1920240"/>
            <a:ext cx="2926080" cy="1188720"/>
          </a:xfrm>
          <a:prstGeom prst="rect">
            <a:avLst/>
          </a:prstGeom>
          <a:noFill/>
          <a:ln/>
        </p:spPr>
        <p:txBody>
          <a:bodyPr wrap="square" lIns="0" tIns="0" rIns="0" bIns="0" rtlCol="0" anchor="t"/>
          <a:lstStyle/>
          <a:p>
            <a:pPr algn="ctr" indent="0" marL="0">
              <a:buNone/>
            </a:pPr>
            <a:r>
              <a:rPr lang="en-US" sz="7200" b="1" dirty="0">
                <a:solidFill>
                  <a:srgbClr val="FFFFFF"/>
                </a:solidFill>
                <a:latin typeface="Meiryo" pitchFamily="34" charset="0"/>
                <a:ea typeface="Meiryo" pitchFamily="34" charset="-122"/>
                <a:cs typeface="Meiryo" pitchFamily="34" charset="-120"/>
              </a:rPr>
              <a:t>8</a:t>
            </a:r>
            <a:endParaRPr lang="en-US" sz="7200" dirty="0"/>
          </a:p>
        </p:txBody>
      </p:sp>
      <p:sp>
        <p:nvSpPr>
          <p:cNvPr id="8" name="Text 5"/>
          <p:cNvSpPr txBox="1"/>
          <p:nvPr/>
        </p:nvSpPr>
        <p:spPr>
          <a:xfrm>
            <a:off x="548640" y="3291840"/>
            <a:ext cx="292608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Meiryo" pitchFamily="34" charset="0"/>
                <a:ea typeface="Meiryo" pitchFamily="34" charset="-122"/>
                <a:cs typeface="Meiryo" pitchFamily="34" charset="-120"/>
              </a:rPr>
              <a:t>難易度 3 / 9</a:t>
            </a:r>
            <a:endParaRPr lang="en-US" sz="1600" dirty="0"/>
          </a:p>
        </p:txBody>
      </p:sp>
      <p:sp>
        <p:nvSpPr>
          <p:cNvPr id="9" name="Shape 6"/>
          <p:cNvSpPr/>
          <p:nvPr/>
        </p:nvSpPr>
        <p:spPr>
          <a:xfrm>
            <a:off x="868680" y="3794760"/>
            <a:ext cx="182880" cy="182880"/>
          </a:xfrm>
          <a:prstGeom prst="ellipse">
            <a:avLst/>
          </a:prstGeom>
          <a:solidFill>
            <a:srgbClr val="065A82"/>
          </a:solidFill>
          <a:ln w="12700">
            <a:solidFill>
              <a:srgbClr val="065A82"/>
            </a:solidFill>
            <a:prstDash val="solid"/>
          </a:ln>
        </p:spPr>
      </p:sp>
      <p:sp>
        <p:nvSpPr>
          <p:cNvPr id="10" name="Shape 7"/>
          <p:cNvSpPr/>
          <p:nvPr/>
        </p:nvSpPr>
        <p:spPr>
          <a:xfrm>
            <a:off x="1115568" y="3794760"/>
            <a:ext cx="182880" cy="182880"/>
          </a:xfrm>
          <a:prstGeom prst="ellipse">
            <a:avLst/>
          </a:prstGeom>
          <a:solidFill>
            <a:srgbClr val="065A82"/>
          </a:solidFill>
          <a:ln w="12700">
            <a:solidFill>
              <a:srgbClr val="065A82"/>
            </a:solidFill>
            <a:prstDash val="solid"/>
          </a:ln>
        </p:spPr>
      </p:sp>
      <p:sp>
        <p:nvSpPr>
          <p:cNvPr id="11" name="Shape 8"/>
          <p:cNvSpPr/>
          <p:nvPr/>
        </p:nvSpPr>
        <p:spPr>
          <a:xfrm>
            <a:off x="1362456" y="3794760"/>
            <a:ext cx="182880" cy="182880"/>
          </a:xfrm>
          <a:prstGeom prst="ellipse">
            <a:avLst/>
          </a:prstGeom>
          <a:solidFill>
            <a:srgbClr val="065A82"/>
          </a:solidFill>
          <a:ln w="12700">
            <a:solidFill>
              <a:srgbClr val="065A82"/>
            </a:solidFill>
            <a:prstDash val="solid"/>
          </a:ln>
        </p:spPr>
      </p:sp>
      <p:sp>
        <p:nvSpPr>
          <p:cNvPr id="12" name="Shape 9"/>
          <p:cNvSpPr/>
          <p:nvPr/>
        </p:nvSpPr>
        <p:spPr>
          <a:xfrm>
            <a:off x="1609344" y="3794760"/>
            <a:ext cx="182880" cy="182880"/>
          </a:xfrm>
          <a:prstGeom prst="ellipse">
            <a:avLst/>
          </a:prstGeom>
          <a:solidFill>
            <a:srgbClr val="4B5A86"/>
          </a:solidFill>
          <a:ln w="12700">
            <a:solidFill>
              <a:srgbClr val="4B5A86"/>
            </a:solidFill>
            <a:prstDash val="solid"/>
          </a:ln>
        </p:spPr>
      </p:sp>
      <p:sp>
        <p:nvSpPr>
          <p:cNvPr id="13" name="Shape 10"/>
          <p:cNvSpPr/>
          <p:nvPr/>
        </p:nvSpPr>
        <p:spPr>
          <a:xfrm>
            <a:off x="1856232" y="3794760"/>
            <a:ext cx="182880" cy="182880"/>
          </a:xfrm>
          <a:prstGeom prst="ellipse">
            <a:avLst/>
          </a:prstGeom>
          <a:solidFill>
            <a:srgbClr val="4B5A86"/>
          </a:solidFill>
          <a:ln w="12700">
            <a:solidFill>
              <a:srgbClr val="4B5A86"/>
            </a:solidFill>
            <a:prstDash val="solid"/>
          </a:ln>
        </p:spPr>
      </p:sp>
      <p:sp>
        <p:nvSpPr>
          <p:cNvPr id="14" name="Shape 11"/>
          <p:cNvSpPr/>
          <p:nvPr/>
        </p:nvSpPr>
        <p:spPr>
          <a:xfrm>
            <a:off x="2103120" y="3794760"/>
            <a:ext cx="182880" cy="182880"/>
          </a:xfrm>
          <a:prstGeom prst="ellipse">
            <a:avLst/>
          </a:prstGeom>
          <a:solidFill>
            <a:srgbClr val="4B5A86"/>
          </a:solidFill>
          <a:ln w="12700">
            <a:solidFill>
              <a:srgbClr val="4B5A86"/>
            </a:solidFill>
            <a:prstDash val="solid"/>
          </a:ln>
        </p:spPr>
      </p:sp>
      <p:sp>
        <p:nvSpPr>
          <p:cNvPr id="15" name="Shape 12"/>
          <p:cNvSpPr/>
          <p:nvPr/>
        </p:nvSpPr>
        <p:spPr>
          <a:xfrm>
            <a:off x="2350008" y="3794760"/>
            <a:ext cx="182880" cy="182880"/>
          </a:xfrm>
          <a:prstGeom prst="ellipse">
            <a:avLst/>
          </a:prstGeom>
          <a:solidFill>
            <a:srgbClr val="4B5A86"/>
          </a:solidFill>
          <a:ln w="12700">
            <a:solidFill>
              <a:srgbClr val="4B5A86"/>
            </a:solidFill>
            <a:prstDash val="solid"/>
          </a:ln>
        </p:spPr>
      </p:sp>
      <p:sp>
        <p:nvSpPr>
          <p:cNvPr id="16" name="Shape 13"/>
          <p:cNvSpPr/>
          <p:nvPr/>
        </p:nvSpPr>
        <p:spPr>
          <a:xfrm>
            <a:off x="2596896" y="3794760"/>
            <a:ext cx="182880" cy="182880"/>
          </a:xfrm>
          <a:prstGeom prst="ellipse">
            <a:avLst/>
          </a:prstGeom>
          <a:solidFill>
            <a:srgbClr val="4B5A86"/>
          </a:solidFill>
          <a:ln w="12700">
            <a:solidFill>
              <a:srgbClr val="4B5A86"/>
            </a:solidFill>
            <a:prstDash val="solid"/>
          </a:ln>
        </p:spPr>
      </p:sp>
      <p:sp>
        <p:nvSpPr>
          <p:cNvPr id="17" name="Shape 14"/>
          <p:cNvSpPr/>
          <p:nvPr/>
        </p:nvSpPr>
        <p:spPr>
          <a:xfrm>
            <a:off x="2843784" y="3794760"/>
            <a:ext cx="182880" cy="182880"/>
          </a:xfrm>
          <a:prstGeom prst="ellipse">
            <a:avLst/>
          </a:prstGeom>
          <a:solidFill>
            <a:srgbClr val="4B5A86"/>
          </a:solidFill>
          <a:ln w="12700">
            <a:solidFill>
              <a:srgbClr val="4B5A86"/>
            </a:solidFill>
            <a:prstDash val="solid"/>
          </a:ln>
        </p:spPr>
      </p:sp>
      <p:sp>
        <p:nvSpPr>
          <p:cNvPr id="18" name="Text 15"/>
          <p:cNvSpPr txBox="1"/>
          <p:nvPr/>
        </p:nvSpPr>
        <p:spPr>
          <a:xfrm>
            <a:off x="548640" y="4297680"/>
            <a:ext cx="2926080" cy="365760"/>
          </a:xfrm>
          <a:prstGeom prst="rect">
            <a:avLst/>
          </a:prstGeom>
          <a:noFill/>
          <a:ln/>
        </p:spPr>
        <p:txBody>
          <a:bodyPr wrap="square" lIns="0" tIns="0" rIns="0" bIns="0" rtlCol="0" anchor="t"/>
          <a:lstStyle/>
          <a:p>
            <a:pPr algn="ctr" indent="0" marL="0">
              <a:buNone/>
            </a:pPr>
            <a:r>
              <a:rPr lang="en-US" sz="1400" dirty="0">
                <a:solidFill>
                  <a:srgbClr val="BFE3F0"/>
                </a:solidFill>
                <a:latin typeface="Meiryo" pitchFamily="34" charset="0"/>
                <a:ea typeface="Meiryo" pitchFamily="34" charset="-122"/>
                <a:cs typeface="Meiryo" pitchFamily="34" charset="-120"/>
              </a:rPr>
              <a:t>動画の目安：約8分</a:t>
            </a:r>
            <a:endParaRPr lang="en-US" sz="1400" dirty="0"/>
          </a:p>
        </p:txBody>
      </p:sp>
      <p:sp>
        <p:nvSpPr>
          <p:cNvPr id="19" name="Shape 16"/>
          <p:cNvSpPr/>
          <p:nvPr/>
        </p:nvSpPr>
        <p:spPr>
          <a:xfrm>
            <a:off x="3749040" y="1371600"/>
            <a:ext cx="7863840" cy="2240280"/>
          </a:xfrm>
          <a:prstGeom prst="roundRect">
            <a:avLst>
              <a:gd name="adj" fmla="val 4898"/>
            </a:avLst>
          </a:prstGeom>
          <a:solidFill>
            <a:srgbClr val="E6F1F7"/>
          </a:solidFill>
          <a:ln w="12700">
            <a:solidFill>
              <a:srgbClr val="E6F1F7"/>
            </a:solidFill>
            <a:prstDash val="solid"/>
          </a:ln>
        </p:spPr>
      </p:sp>
      <p:sp>
        <p:nvSpPr>
          <p:cNvPr id="20" name="Text 17"/>
          <p:cNvSpPr txBox="1"/>
          <p:nvPr/>
        </p:nvSpPr>
        <p:spPr>
          <a:xfrm>
            <a:off x="4023360" y="1508760"/>
            <a:ext cx="7315200" cy="365760"/>
          </a:xfrm>
          <a:prstGeom prst="rect">
            <a:avLst/>
          </a:prstGeom>
          <a:noFill/>
          <a:ln/>
        </p:spPr>
        <p:txBody>
          <a:bodyPr wrap="square" lIns="0" tIns="0" rIns="0" bIns="0" rtlCol="0" anchor="t"/>
          <a:lstStyle/>
          <a:p>
            <a:pPr indent="0" marL="0">
              <a:buNone/>
            </a:pPr>
            <a:r>
              <a:rPr lang="en-US" sz="1600" b="1" dirty="0">
                <a:solidFill>
                  <a:srgbClr val="065A82"/>
                </a:solidFill>
                <a:latin typeface="Meiryo" pitchFamily="34" charset="0"/>
                <a:ea typeface="Meiryo" pitchFamily="34" charset="-122"/>
                <a:cs typeface="Meiryo" pitchFamily="34" charset="-120"/>
              </a:rPr>
              <a:t>学ぶこと</a:t>
            </a:r>
            <a:endParaRPr lang="en-US" sz="1600" dirty="0"/>
          </a:p>
        </p:txBody>
      </p:sp>
      <p:sp>
        <p:nvSpPr>
          <p:cNvPr id="21" name="Text 18"/>
          <p:cNvSpPr txBox="1"/>
          <p:nvPr/>
        </p:nvSpPr>
        <p:spPr>
          <a:xfrm>
            <a:off x="4023360" y="1965960"/>
            <a:ext cx="731520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提出前の10秒セルフチェック</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今日の型を、自分のテンプレとして保存する</a:t>
            </a:r>
            <a:endParaRPr lang="en-US" sz="1500" dirty="0"/>
          </a:p>
          <a:p>
            <a:pPr marL="342900" indent="-342900">
              <a:spcAft>
                <a:spcPts val="600"/>
              </a:spcAft>
              <a:buSzPct val="100000"/>
              <a:buChar char="•"/>
            </a:pPr>
            <a:r>
              <a:rPr lang="en-US" sz="1500" dirty="0">
                <a:solidFill>
                  <a:srgbClr val="1F2937"/>
                </a:solidFill>
                <a:latin typeface="Meiryo" pitchFamily="34" charset="0"/>
                <a:ea typeface="Meiryo" pitchFamily="34" charset="-122"/>
                <a:cs typeface="Meiryo" pitchFamily="34" charset="-120"/>
              </a:rPr>
              <a:t>職場に独自のルールがあれば、そちらを優先する</a:t>
            </a:r>
            <a:endParaRPr lang="en-US" sz="1500" dirty="0"/>
          </a:p>
        </p:txBody>
      </p:sp>
      <p:sp>
        <p:nvSpPr>
          <p:cNvPr id="22" name="Shape 19"/>
          <p:cNvSpPr/>
          <p:nvPr/>
        </p:nvSpPr>
        <p:spPr>
          <a:xfrm>
            <a:off x="3749040" y="3749040"/>
            <a:ext cx="7863840" cy="1097280"/>
          </a:xfrm>
          <a:prstGeom prst="roundRect">
            <a:avLst>
              <a:gd name="adj" fmla="val 10000"/>
            </a:avLst>
          </a:prstGeom>
          <a:solidFill>
            <a:srgbClr val="EEF3F6"/>
          </a:solidFill>
          <a:ln w="12700">
            <a:solidFill>
              <a:srgbClr val="EEF3F6"/>
            </a:solidFill>
            <a:prstDash val="solid"/>
          </a:ln>
        </p:spPr>
      </p:sp>
      <p:sp>
        <p:nvSpPr>
          <p:cNvPr id="23" name="Text 20"/>
          <p:cNvSpPr txBox="1"/>
          <p:nvPr/>
        </p:nvSpPr>
        <p:spPr>
          <a:xfrm>
            <a:off x="4023360" y="384048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やってみよう</a:t>
            </a:r>
            <a:endParaRPr lang="en-US" sz="1400" dirty="0"/>
          </a:p>
        </p:txBody>
      </p:sp>
      <p:sp>
        <p:nvSpPr>
          <p:cNvPr id="24" name="Text 21"/>
          <p:cNvSpPr txBox="1"/>
          <p:nvPr/>
        </p:nvSpPr>
        <p:spPr>
          <a:xfrm>
            <a:off x="4023360" y="4206240"/>
            <a:ext cx="7315200" cy="594360"/>
          </a:xfrm>
          <a:prstGeom prst="rect">
            <a:avLst/>
          </a:prstGeom>
          <a:noFill/>
          <a:ln/>
        </p:spPr>
        <p:txBody>
          <a:bodyPr wrap="square" lIns="0" tIns="0" rIns="0" bIns="0" rtlCol="0" anchor="t"/>
          <a:lstStyle/>
          <a:p>
            <a:pPr indent="0" marL="0">
              <a:buNone/>
            </a:pPr>
            <a:r>
              <a:rPr lang="en-US" sz="1500" dirty="0">
                <a:solidFill>
                  <a:srgbClr val="1F2937"/>
                </a:solidFill>
                <a:latin typeface="Meiryo" pitchFamily="34" charset="0"/>
                <a:ea typeface="Meiryo" pitchFamily="34" charset="-122"/>
                <a:cs typeface="Meiryo" pitchFamily="34" charset="-120"/>
              </a:rPr>
              <a:t>明日出す報告を1つ、型に沿って書く</a:t>
            </a:r>
            <a:endParaRPr lang="en-US" sz="1500" dirty="0"/>
          </a:p>
        </p:txBody>
      </p:sp>
      <p:sp>
        <p:nvSpPr>
          <p:cNvPr id="25" name="Shape 22"/>
          <p:cNvSpPr/>
          <p:nvPr/>
        </p:nvSpPr>
        <p:spPr>
          <a:xfrm>
            <a:off x="3749040" y="4983480"/>
            <a:ext cx="7863840" cy="1051560"/>
          </a:xfrm>
          <a:prstGeom prst="roundRect">
            <a:avLst>
              <a:gd name="adj" fmla="val 10435"/>
            </a:avLst>
          </a:prstGeom>
          <a:solidFill>
            <a:srgbClr val="EEF3F6"/>
          </a:solidFill>
          <a:ln w="12700">
            <a:solidFill>
              <a:srgbClr val="EEF3F6"/>
            </a:solidFill>
            <a:prstDash val="solid"/>
          </a:ln>
        </p:spPr>
      </p:sp>
      <p:sp>
        <p:nvSpPr>
          <p:cNvPr id="26" name="Text 23"/>
          <p:cNvSpPr txBox="1"/>
          <p:nvPr/>
        </p:nvSpPr>
        <p:spPr>
          <a:xfrm>
            <a:off x="4023360" y="5074920"/>
            <a:ext cx="7315200" cy="320040"/>
          </a:xfrm>
          <a:prstGeom prst="rect">
            <a:avLst/>
          </a:prstGeom>
          <a:noFill/>
          <a:ln/>
        </p:spPr>
        <p:txBody>
          <a:bodyPr wrap="square" lIns="0" tIns="0" rIns="0" bIns="0" rtlCol="0" anchor="t"/>
          <a:lstStyle/>
          <a:p>
            <a:pPr indent="0" marL="0">
              <a:buNone/>
            </a:pPr>
            <a:r>
              <a:rPr lang="en-US" sz="1400" b="1" dirty="0">
                <a:solidFill>
                  <a:srgbClr val="065A82"/>
                </a:solidFill>
                <a:latin typeface="Meiryo" pitchFamily="34" charset="0"/>
                <a:ea typeface="Meiryo" pitchFamily="34" charset="-122"/>
                <a:cs typeface="Meiryo" pitchFamily="34" charset="-120"/>
              </a:rPr>
              <a:t>できたかな？</a:t>
            </a:r>
            <a:endParaRPr lang="en-US" sz="1400" dirty="0"/>
          </a:p>
        </p:txBody>
      </p:sp>
      <p:sp>
        <p:nvSpPr>
          <p:cNvPr id="27" name="Text 24"/>
          <p:cNvSpPr txBox="1"/>
          <p:nvPr/>
        </p:nvSpPr>
        <p:spPr>
          <a:xfrm>
            <a:off x="4023360" y="5440680"/>
            <a:ext cx="7315200" cy="548640"/>
          </a:xfrm>
          <a:prstGeom prst="rect">
            <a:avLst/>
          </a:prstGeom>
          <a:noFill/>
          <a:ln/>
        </p:spPr>
        <p:txBody>
          <a:bodyPr wrap="square" lIns="0" tIns="0" rIns="0" bIns="0" rtlCol="0" anchor="t"/>
          <a:lstStyle/>
          <a:p>
            <a:pPr indent="0" marL="0">
              <a:buNone/>
            </a:pPr>
            <a:r>
              <a:rPr lang="en-US" sz="1500" b="1" dirty="0">
                <a:solidFill>
                  <a:srgbClr val="21295C"/>
                </a:solidFill>
                <a:latin typeface="Meiryo" pitchFamily="34" charset="0"/>
                <a:ea typeface="Meiryo" pitchFamily="34" charset="-122"/>
                <a:cs typeface="Meiryo" pitchFamily="34" charset="-120"/>
              </a:rPr>
              <a:t>5項目の修了チェックで振り返れる</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提出前のセルフチェック（10秒）</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11064240" cy="640080"/>
          </a:xfrm>
          <a:prstGeom prst="roundRect">
            <a:avLst>
              <a:gd name="adj" fmla="val 17143"/>
            </a:avLst>
          </a:prstGeom>
          <a:solidFill>
            <a:srgbClr val="E6F1F7"/>
          </a:solidFill>
          <a:ln w="12700">
            <a:solidFill>
              <a:srgbClr val="E6F1F7"/>
            </a:solidFill>
            <a:prstDash val="solid"/>
          </a:ln>
        </p:spPr>
      </p:sp>
      <p:sp>
        <p:nvSpPr>
          <p:cNvPr id="6" name="Shape 3"/>
          <p:cNvSpPr/>
          <p:nvPr/>
        </p:nvSpPr>
        <p:spPr>
          <a:xfrm>
            <a:off x="777240" y="1508760"/>
            <a:ext cx="365760" cy="365760"/>
          </a:xfrm>
          <a:prstGeom prst="roundRect">
            <a:avLst>
              <a:gd name="adj" fmla="val 15000"/>
            </a:avLst>
          </a:prstGeom>
          <a:solidFill>
            <a:srgbClr val="FFFFFF"/>
          </a:solidFill>
          <a:ln w="25400">
            <a:solidFill>
              <a:srgbClr val="065A82"/>
            </a:solidFill>
            <a:prstDash val="solid"/>
          </a:ln>
        </p:spPr>
      </p:sp>
      <p:sp>
        <p:nvSpPr>
          <p:cNvPr id="7" name="Text 4"/>
          <p:cNvSpPr txBox="1"/>
          <p:nvPr/>
        </p:nvSpPr>
        <p:spPr>
          <a:xfrm>
            <a:off x="1371600" y="1371600"/>
            <a:ext cx="10058400" cy="64008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冒頭3行で、結論と依頼が分かるか</a:t>
            </a:r>
            <a:endParaRPr lang="en-US" sz="1700" dirty="0"/>
          </a:p>
        </p:txBody>
      </p:sp>
      <p:sp>
        <p:nvSpPr>
          <p:cNvPr id="8" name="Shape 5"/>
          <p:cNvSpPr/>
          <p:nvPr/>
        </p:nvSpPr>
        <p:spPr>
          <a:xfrm>
            <a:off x="548640" y="2121408"/>
            <a:ext cx="11064240" cy="640080"/>
          </a:xfrm>
          <a:prstGeom prst="roundRect">
            <a:avLst>
              <a:gd name="adj" fmla="val 17143"/>
            </a:avLst>
          </a:prstGeom>
          <a:solidFill>
            <a:srgbClr val="E6F1F7"/>
          </a:solidFill>
          <a:ln w="12700">
            <a:solidFill>
              <a:srgbClr val="E6F1F7"/>
            </a:solidFill>
            <a:prstDash val="solid"/>
          </a:ln>
        </p:spPr>
      </p:sp>
      <p:sp>
        <p:nvSpPr>
          <p:cNvPr id="9" name="Shape 6"/>
          <p:cNvSpPr/>
          <p:nvPr/>
        </p:nvSpPr>
        <p:spPr>
          <a:xfrm>
            <a:off x="777240" y="2258568"/>
            <a:ext cx="365760" cy="365760"/>
          </a:xfrm>
          <a:prstGeom prst="roundRect">
            <a:avLst>
              <a:gd name="adj" fmla="val 15000"/>
            </a:avLst>
          </a:prstGeom>
          <a:solidFill>
            <a:srgbClr val="FFFFFF"/>
          </a:solidFill>
          <a:ln w="25400">
            <a:solidFill>
              <a:srgbClr val="065A82"/>
            </a:solidFill>
            <a:prstDash val="solid"/>
          </a:ln>
        </p:spPr>
      </p:sp>
      <p:sp>
        <p:nvSpPr>
          <p:cNvPr id="10" name="Text 7"/>
          <p:cNvSpPr txBox="1"/>
          <p:nvPr/>
        </p:nvSpPr>
        <p:spPr>
          <a:xfrm>
            <a:off x="1371600" y="2121408"/>
            <a:ext cx="10058400" cy="64008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期限と担当が書かれているか</a:t>
            </a:r>
            <a:endParaRPr lang="en-US" sz="1700" dirty="0"/>
          </a:p>
        </p:txBody>
      </p:sp>
      <p:sp>
        <p:nvSpPr>
          <p:cNvPr id="11" name="Shape 8"/>
          <p:cNvSpPr/>
          <p:nvPr/>
        </p:nvSpPr>
        <p:spPr>
          <a:xfrm>
            <a:off x="548640" y="2871216"/>
            <a:ext cx="11064240" cy="640080"/>
          </a:xfrm>
          <a:prstGeom prst="roundRect">
            <a:avLst>
              <a:gd name="adj" fmla="val 17143"/>
            </a:avLst>
          </a:prstGeom>
          <a:solidFill>
            <a:srgbClr val="E6F1F7"/>
          </a:solidFill>
          <a:ln w="12700">
            <a:solidFill>
              <a:srgbClr val="E6F1F7"/>
            </a:solidFill>
            <a:prstDash val="solid"/>
          </a:ln>
        </p:spPr>
      </p:sp>
      <p:sp>
        <p:nvSpPr>
          <p:cNvPr id="12" name="Shape 9"/>
          <p:cNvSpPr/>
          <p:nvPr/>
        </p:nvSpPr>
        <p:spPr>
          <a:xfrm>
            <a:off x="777240" y="3008376"/>
            <a:ext cx="365760" cy="365760"/>
          </a:xfrm>
          <a:prstGeom prst="roundRect">
            <a:avLst>
              <a:gd name="adj" fmla="val 15000"/>
            </a:avLst>
          </a:prstGeom>
          <a:solidFill>
            <a:srgbClr val="FFFFFF"/>
          </a:solidFill>
          <a:ln w="25400">
            <a:solidFill>
              <a:srgbClr val="065A82"/>
            </a:solidFill>
            <a:prstDash val="solid"/>
          </a:ln>
        </p:spPr>
      </p:sp>
      <p:sp>
        <p:nvSpPr>
          <p:cNvPr id="13" name="Text 10"/>
          <p:cNvSpPr txBox="1"/>
          <p:nvPr/>
        </p:nvSpPr>
        <p:spPr>
          <a:xfrm>
            <a:off x="1371600" y="2871216"/>
            <a:ext cx="10058400" cy="64008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「すぐ」「かなり」「だいたい」が残っていないか</a:t>
            </a:r>
            <a:endParaRPr lang="en-US" sz="1700" dirty="0"/>
          </a:p>
        </p:txBody>
      </p:sp>
      <p:sp>
        <p:nvSpPr>
          <p:cNvPr id="14" name="Shape 11"/>
          <p:cNvSpPr/>
          <p:nvPr/>
        </p:nvSpPr>
        <p:spPr>
          <a:xfrm>
            <a:off x="548640" y="3621024"/>
            <a:ext cx="11064240" cy="640080"/>
          </a:xfrm>
          <a:prstGeom prst="roundRect">
            <a:avLst>
              <a:gd name="adj" fmla="val 17143"/>
            </a:avLst>
          </a:prstGeom>
          <a:solidFill>
            <a:srgbClr val="E6F1F7"/>
          </a:solidFill>
          <a:ln w="12700">
            <a:solidFill>
              <a:srgbClr val="E6F1F7"/>
            </a:solidFill>
            <a:prstDash val="solid"/>
          </a:ln>
        </p:spPr>
      </p:sp>
      <p:sp>
        <p:nvSpPr>
          <p:cNvPr id="15" name="Shape 12"/>
          <p:cNvSpPr/>
          <p:nvPr/>
        </p:nvSpPr>
        <p:spPr>
          <a:xfrm>
            <a:off x="777240" y="3758184"/>
            <a:ext cx="365760" cy="365760"/>
          </a:xfrm>
          <a:prstGeom prst="roundRect">
            <a:avLst>
              <a:gd name="adj" fmla="val 15000"/>
            </a:avLst>
          </a:prstGeom>
          <a:solidFill>
            <a:srgbClr val="FFFFFF"/>
          </a:solidFill>
          <a:ln w="25400">
            <a:solidFill>
              <a:srgbClr val="065A82"/>
            </a:solidFill>
            <a:prstDash val="solid"/>
          </a:ln>
        </p:spPr>
      </p:sp>
      <p:sp>
        <p:nvSpPr>
          <p:cNvPr id="16" name="Text 13"/>
          <p:cNvSpPr txBox="1"/>
          <p:nvPr/>
        </p:nvSpPr>
        <p:spPr>
          <a:xfrm>
            <a:off x="1371600" y="3621024"/>
            <a:ext cx="10058400" cy="64008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事実と意見が分かれているか</a:t>
            </a:r>
            <a:endParaRPr lang="en-US" sz="1700" dirty="0"/>
          </a:p>
        </p:txBody>
      </p:sp>
      <p:sp>
        <p:nvSpPr>
          <p:cNvPr id="17" name="Shape 14"/>
          <p:cNvSpPr/>
          <p:nvPr/>
        </p:nvSpPr>
        <p:spPr>
          <a:xfrm>
            <a:off x="548640" y="4370832"/>
            <a:ext cx="11064240" cy="640080"/>
          </a:xfrm>
          <a:prstGeom prst="roundRect">
            <a:avLst>
              <a:gd name="adj" fmla="val 17143"/>
            </a:avLst>
          </a:prstGeom>
          <a:solidFill>
            <a:srgbClr val="E6F1F7"/>
          </a:solidFill>
          <a:ln w="12700">
            <a:solidFill>
              <a:srgbClr val="E6F1F7"/>
            </a:solidFill>
            <a:prstDash val="solid"/>
          </a:ln>
        </p:spPr>
      </p:sp>
      <p:sp>
        <p:nvSpPr>
          <p:cNvPr id="18" name="Shape 15"/>
          <p:cNvSpPr/>
          <p:nvPr/>
        </p:nvSpPr>
        <p:spPr>
          <a:xfrm>
            <a:off x="777240" y="4507992"/>
            <a:ext cx="365760" cy="365760"/>
          </a:xfrm>
          <a:prstGeom prst="roundRect">
            <a:avLst>
              <a:gd name="adj" fmla="val 15000"/>
            </a:avLst>
          </a:prstGeom>
          <a:solidFill>
            <a:srgbClr val="FFFFFF"/>
          </a:solidFill>
          <a:ln w="25400">
            <a:solidFill>
              <a:srgbClr val="065A82"/>
            </a:solidFill>
            <a:prstDash val="solid"/>
          </a:ln>
        </p:spPr>
      </p:sp>
      <p:sp>
        <p:nvSpPr>
          <p:cNvPr id="19" name="Text 16"/>
          <p:cNvSpPr txBox="1"/>
          <p:nvPr/>
        </p:nvSpPr>
        <p:spPr>
          <a:xfrm>
            <a:off x="1371600" y="4370832"/>
            <a:ext cx="10058400" cy="64008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1文が長すぎないか（目安：40〜60文字）</a:t>
            </a:r>
            <a:endParaRPr lang="en-US" sz="1700" dirty="0"/>
          </a:p>
        </p:txBody>
      </p:sp>
      <p:sp>
        <p:nvSpPr>
          <p:cNvPr id="20" name="Shape 17"/>
          <p:cNvSpPr/>
          <p:nvPr/>
        </p:nvSpPr>
        <p:spPr>
          <a:xfrm>
            <a:off x="548640" y="5120640"/>
            <a:ext cx="11064240" cy="640080"/>
          </a:xfrm>
          <a:prstGeom prst="roundRect">
            <a:avLst>
              <a:gd name="adj" fmla="val 17143"/>
            </a:avLst>
          </a:prstGeom>
          <a:solidFill>
            <a:srgbClr val="E6F1F7"/>
          </a:solidFill>
          <a:ln w="12700">
            <a:solidFill>
              <a:srgbClr val="E6F1F7"/>
            </a:solidFill>
            <a:prstDash val="solid"/>
          </a:ln>
        </p:spPr>
      </p:sp>
      <p:sp>
        <p:nvSpPr>
          <p:cNvPr id="21" name="Shape 18"/>
          <p:cNvSpPr/>
          <p:nvPr/>
        </p:nvSpPr>
        <p:spPr>
          <a:xfrm>
            <a:off x="777240" y="5257800"/>
            <a:ext cx="365760" cy="365760"/>
          </a:xfrm>
          <a:prstGeom prst="roundRect">
            <a:avLst>
              <a:gd name="adj" fmla="val 15000"/>
            </a:avLst>
          </a:prstGeom>
          <a:solidFill>
            <a:srgbClr val="FFFFFF"/>
          </a:solidFill>
          <a:ln w="25400">
            <a:solidFill>
              <a:srgbClr val="065A82"/>
            </a:solidFill>
            <a:prstDash val="solid"/>
          </a:ln>
        </p:spPr>
      </p:sp>
      <p:sp>
        <p:nvSpPr>
          <p:cNvPr id="22" name="Text 19"/>
          <p:cNvSpPr txBox="1"/>
          <p:nvPr/>
        </p:nvSpPr>
        <p:spPr>
          <a:xfrm>
            <a:off x="1371600" y="5120640"/>
            <a:ext cx="10058400" cy="640080"/>
          </a:xfrm>
          <a:prstGeom prst="rect">
            <a:avLst/>
          </a:prstGeom>
          <a:noFill/>
          <a:ln/>
        </p:spPr>
        <p:txBody>
          <a:bodyPr wrap="square" lIns="0" tIns="0" rIns="0" bIns="0" rtlCol="0" anchor="ctr"/>
          <a:lstStyle/>
          <a:p>
            <a:pPr indent="0" marL="0">
              <a:buNone/>
            </a:pPr>
            <a:r>
              <a:rPr lang="en-US" sz="1700" b="1" dirty="0">
                <a:solidFill>
                  <a:srgbClr val="21295C"/>
                </a:solidFill>
                <a:latin typeface="Meiryo" pitchFamily="34" charset="0"/>
                <a:ea typeface="Meiryo" pitchFamily="34" charset="-122"/>
                <a:cs typeface="Meiryo" pitchFamily="34" charset="-120"/>
              </a:rPr>
              <a:t>URLには、「何のURLか」のラベルを付けたか</a:t>
            </a:r>
            <a:endParaRPr lang="en-US" sz="1700" dirty="0"/>
          </a:p>
        </p:txBody>
      </p:sp>
      <p:sp>
        <p:nvSpPr>
          <p:cNvPr id="23" name="Text 20"/>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200" dirty="0">
                <a:solidFill>
                  <a:srgbClr val="6B7280"/>
                </a:solidFill>
                <a:latin typeface="Meiryo" pitchFamily="34" charset="0"/>
                <a:ea typeface="Meiryo" pitchFamily="34" charset="-122"/>
                <a:cs typeface="Meiryo" pitchFamily="34" charset="-120"/>
              </a:rPr>
              <a:t>※ 40〜60文字は、読みやすさのための実務上の目安です。職場に独自のルールがある場合は、そちらを優先してください。</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修了チェックリスト（5項目）</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sp>
        <p:nvSpPr>
          <p:cNvPr id="5" name="Shape 2"/>
          <p:cNvSpPr/>
          <p:nvPr/>
        </p:nvSpPr>
        <p:spPr>
          <a:xfrm>
            <a:off x="548640" y="1371600"/>
            <a:ext cx="11064240" cy="731520"/>
          </a:xfrm>
          <a:prstGeom prst="roundRect">
            <a:avLst>
              <a:gd name="adj" fmla="val 15000"/>
            </a:avLst>
          </a:prstGeom>
          <a:solidFill>
            <a:srgbClr val="E6F1F7"/>
          </a:solidFill>
          <a:ln w="12700">
            <a:solidFill>
              <a:srgbClr val="E6F1F7"/>
            </a:solidFill>
            <a:prstDash val="solid"/>
          </a:ln>
        </p:spPr>
      </p:sp>
      <p:sp>
        <p:nvSpPr>
          <p:cNvPr id="6" name="Shape 3"/>
          <p:cNvSpPr/>
          <p:nvPr/>
        </p:nvSpPr>
        <p:spPr>
          <a:xfrm>
            <a:off x="777240" y="1554480"/>
            <a:ext cx="365760" cy="365760"/>
          </a:xfrm>
          <a:prstGeom prst="roundRect">
            <a:avLst>
              <a:gd name="adj" fmla="val 15000"/>
            </a:avLst>
          </a:prstGeom>
          <a:solidFill>
            <a:srgbClr val="FFFFFF"/>
          </a:solidFill>
          <a:ln w="25400">
            <a:solidFill>
              <a:srgbClr val="065A82"/>
            </a:solidFill>
            <a:prstDash val="solid"/>
          </a:ln>
        </p:spPr>
      </p:sp>
      <p:sp>
        <p:nvSpPr>
          <p:cNvPr id="7" name="Text 4"/>
          <p:cNvSpPr txBox="1"/>
          <p:nvPr/>
        </p:nvSpPr>
        <p:spPr>
          <a:xfrm>
            <a:off x="1371600" y="1371600"/>
            <a:ext cx="10058400" cy="731520"/>
          </a:xfrm>
          <a:prstGeom prst="rect">
            <a:avLst/>
          </a:prstGeom>
          <a:noFill/>
          <a:ln/>
        </p:spPr>
        <p:txBody>
          <a:bodyPr wrap="square" lIns="0" tIns="0" rIns="0" bIns="0" rtlCol="0" anchor="ctr"/>
          <a:lstStyle/>
          <a:p>
            <a:pPr indent="0" marL="0">
              <a:buNone/>
            </a:pPr>
            <a:r>
              <a:rPr lang="en-US" sz="1800" b="1" dirty="0">
                <a:solidFill>
                  <a:srgbClr val="21295C"/>
                </a:solidFill>
                <a:latin typeface="Meiryo" pitchFamily="34" charset="0"/>
                <a:ea typeface="Meiryo" pitchFamily="34" charset="-122"/>
                <a:cs typeface="Meiryo" pitchFamily="34" charset="-120"/>
              </a:rPr>
              <a:t>冒頭3行で、結論と依頼を書ける</a:t>
            </a:r>
            <a:endParaRPr lang="en-US" sz="1800" dirty="0"/>
          </a:p>
        </p:txBody>
      </p:sp>
      <p:sp>
        <p:nvSpPr>
          <p:cNvPr id="8" name="Shape 5"/>
          <p:cNvSpPr/>
          <p:nvPr/>
        </p:nvSpPr>
        <p:spPr>
          <a:xfrm>
            <a:off x="548640" y="2240280"/>
            <a:ext cx="11064240" cy="731520"/>
          </a:xfrm>
          <a:prstGeom prst="roundRect">
            <a:avLst>
              <a:gd name="adj" fmla="val 15000"/>
            </a:avLst>
          </a:prstGeom>
          <a:solidFill>
            <a:srgbClr val="E6F1F7"/>
          </a:solidFill>
          <a:ln w="12700">
            <a:solidFill>
              <a:srgbClr val="E6F1F7"/>
            </a:solidFill>
            <a:prstDash val="solid"/>
          </a:ln>
        </p:spPr>
      </p:sp>
      <p:sp>
        <p:nvSpPr>
          <p:cNvPr id="9" name="Shape 6"/>
          <p:cNvSpPr/>
          <p:nvPr/>
        </p:nvSpPr>
        <p:spPr>
          <a:xfrm>
            <a:off x="777240" y="2423160"/>
            <a:ext cx="365760" cy="365760"/>
          </a:xfrm>
          <a:prstGeom prst="roundRect">
            <a:avLst>
              <a:gd name="adj" fmla="val 15000"/>
            </a:avLst>
          </a:prstGeom>
          <a:solidFill>
            <a:srgbClr val="FFFFFF"/>
          </a:solidFill>
          <a:ln w="25400">
            <a:solidFill>
              <a:srgbClr val="065A82"/>
            </a:solidFill>
            <a:prstDash val="solid"/>
          </a:ln>
        </p:spPr>
      </p:sp>
      <p:sp>
        <p:nvSpPr>
          <p:cNvPr id="10" name="Text 7"/>
          <p:cNvSpPr txBox="1"/>
          <p:nvPr/>
        </p:nvSpPr>
        <p:spPr>
          <a:xfrm>
            <a:off x="1371600" y="2240280"/>
            <a:ext cx="10058400" cy="731520"/>
          </a:xfrm>
          <a:prstGeom prst="rect">
            <a:avLst/>
          </a:prstGeom>
          <a:noFill/>
          <a:ln/>
        </p:spPr>
        <p:txBody>
          <a:bodyPr wrap="square" lIns="0" tIns="0" rIns="0" bIns="0" rtlCol="0" anchor="ctr"/>
          <a:lstStyle/>
          <a:p>
            <a:pPr indent="0" marL="0">
              <a:buNone/>
            </a:pPr>
            <a:r>
              <a:rPr lang="en-US" sz="1800" b="1" dirty="0">
                <a:solidFill>
                  <a:srgbClr val="21295C"/>
                </a:solidFill>
                <a:latin typeface="Meiryo" pitchFamily="34" charset="0"/>
                <a:ea typeface="Meiryo" pitchFamily="34" charset="-122"/>
                <a:cs typeface="Meiryo" pitchFamily="34" charset="-120"/>
              </a:rPr>
              <a:t>事実と意見を分けて書ける</a:t>
            </a:r>
            <a:endParaRPr lang="en-US" sz="1800" dirty="0"/>
          </a:p>
        </p:txBody>
      </p:sp>
      <p:sp>
        <p:nvSpPr>
          <p:cNvPr id="11" name="Shape 8"/>
          <p:cNvSpPr/>
          <p:nvPr/>
        </p:nvSpPr>
        <p:spPr>
          <a:xfrm>
            <a:off x="548640" y="3108960"/>
            <a:ext cx="11064240" cy="731520"/>
          </a:xfrm>
          <a:prstGeom prst="roundRect">
            <a:avLst>
              <a:gd name="adj" fmla="val 15000"/>
            </a:avLst>
          </a:prstGeom>
          <a:solidFill>
            <a:srgbClr val="E6F1F7"/>
          </a:solidFill>
          <a:ln w="12700">
            <a:solidFill>
              <a:srgbClr val="E6F1F7"/>
            </a:solidFill>
            <a:prstDash val="solid"/>
          </a:ln>
        </p:spPr>
      </p:sp>
      <p:sp>
        <p:nvSpPr>
          <p:cNvPr id="12" name="Shape 9"/>
          <p:cNvSpPr/>
          <p:nvPr/>
        </p:nvSpPr>
        <p:spPr>
          <a:xfrm>
            <a:off x="777240" y="3291840"/>
            <a:ext cx="365760" cy="365760"/>
          </a:xfrm>
          <a:prstGeom prst="roundRect">
            <a:avLst>
              <a:gd name="adj" fmla="val 15000"/>
            </a:avLst>
          </a:prstGeom>
          <a:solidFill>
            <a:srgbClr val="FFFFFF"/>
          </a:solidFill>
          <a:ln w="25400">
            <a:solidFill>
              <a:srgbClr val="065A82"/>
            </a:solidFill>
            <a:prstDash val="solid"/>
          </a:ln>
        </p:spPr>
      </p:sp>
      <p:sp>
        <p:nvSpPr>
          <p:cNvPr id="13" name="Text 10"/>
          <p:cNvSpPr txBox="1"/>
          <p:nvPr/>
        </p:nvSpPr>
        <p:spPr>
          <a:xfrm>
            <a:off x="1371600" y="3108960"/>
            <a:ext cx="10058400" cy="731520"/>
          </a:xfrm>
          <a:prstGeom prst="rect">
            <a:avLst/>
          </a:prstGeom>
          <a:noFill/>
          <a:ln/>
        </p:spPr>
        <p:txBody>
          <a:bodyPr wrap="square" lIns="0" tIns="0" rIns="0" bIns="0" rtlCol="0" anchor="ctr"/>
          <a:lstStyle/>
          <a:p>
            <a:pPr indent="0" marL="0">
              <a:buNone/>
            </a:pPr>
            <a:r>
              <a:rPr lang="en-US" sz="1800" b="1" dirty="0">
                <a:solidFill>
                  <a:srgbClr val="21295C"/>
                </a:solidFill>
                <a:latin typeface="Meiryo" pitchFamily="34" charset="0"/>
                <a:ea typeface="Meiryo" pitchFamily="34" charset="-122"/>
                <a:cs typeface="Meiryo" pitchFamily="34" charset="-120"/>
              </a:rPr>
              <a:t>曖昧な言葉を、数字に置き換えられる</a:t>
            </a:r>
            <a:endParaRPr lang="en-US" sz="1800" dirty="0"/>
          </a:p>
        </p:txBody>
      </p:sp>
      <p:sp>
        <p:nvSpPr>
          <p:cNvPr id="14" name="Shape 11"/>
          <p:cNvSpPr/>
          <p:nvPr/>
        </p:nvSpPr>
        <p:spPr>
          <a:xfrm>
            <a:off x="548640" y="3977640"/>
            <a:ext cx="11064240" cy="731520"/>
          </a:xfrm>
          <a:prstGeom prst="roundRect">
            <a:avLst>
              <a:gd name="adj" fmla="val 15000"/>
            </a:avLst>
          </a:prstGeom>
          <a:solidFill>
            <a:srgbClr val="E6F1F7"/>
          </a:solidFill>
          <a:ln w="12700">
            <a:solidFill>
              <a:srgbClr val="E6F1F7"/>
            </a:solidFill>
            <a:prstDash val="solid"/>
          </a:ln>
        </p:spPr>
      </p:sp>
      <p:sp>
        <p:nvSpPr>
          <p:cNvPr id="15" name="Shape 12"/>
          <p:cNvSpPr/>
          <p:nvPr/>
        </p:nvSpPr>
        <p:spPr>
          <a:xfrm>
            <a:off x="777240" y="4160520"/>
            <a:ext cx="365760" cy="365760"/>
          </a:xfrm>
          <a:prstGeom prst="roundRect">
            <a:avLst>
              <a:gd name="adj" fmla="val 15000"/>
            </a:avLst>
          </a:prstGeom>
          <a:solidFill>
            <a:srgbClr val="FFFFFF"/>
          </a:solidFill>
          <a:ln w="25400">
            <a:solidFill>
              <a:srgbClr val="065A82"/>
            </a:solidFill>
            <a:prstDash val="solid"/>
          </a:ln>
        </p:spPr>
      </p:sp>
      <p:sp>
        <p:nvSpPr>
          <p:cNvPr id="16" name="Text 13"/>
          <p:cNvSpPr txBox="1"/>
          <p:nvPr/>
        </p:nvSpPr>
        <p:spPr>
          <a:xfrm>
            <a:off x="1371600" y="3977640"/>
            <a:ext cx="10058400" cy="731520"/>
          </a:xfrm>
          <a:prstGeom prst="rect">
            <a:avLst/>
          </a:prstGeom>
          <a:noFill/>
          <a:ln/>
        </p:spPr>
        <p:txBody>
          <a:bodyPr wrap="square" lIns="0" tIns="0" rIns="0" bIns="0" rtlCol="0" anchor="ctr"/>
          <a:lstStyle/>
          <a:p>
            <a:pPr indent="0" marL="0">
              <a:buNone/>
            </a:pPr>
            <a:r>
              <a:rPr lang="en-US" sz="1800" b="1" dirty="0">
                <a:solidFill>
                  <a:srgbClr val="21295C"/>
                </a:solidFill>
                <a:latin typeface="Meiryo" pitchFamily="34" charset="0"/>
                <a:ea typeface="Meiryo" pitchFamily="34" charset="-122"/>
                <a:cs typeface="Meiryo" pitchFamily="34" charset="-120"/>
              </a:rPr>
              <a:t>仮説を添えて、相談できる</a:t>
            </a:r>
            <a:endParaRPr lang="en-US" sz="1800" dirty="0"/>
          </a:p>
        </p:txBody>
      </p:sp>
      <p:sp>
        <p:nvSpPr>
          <p:cNvPr id="17" name="Shape 14"/>
          <p:cNvSpPr/>
          <p:nvPr/>
        </p:nvSpPr>
        <p:spPr>
          <a:xfrm>
            <a:off x="548640" y="4846320"/>
            <a:ext cx="11064240" cy="731520"/>
          </a:xfrm>
          <a:prstGeom prst="roundRect">
            <a:avLst>
              <a:gd name="adj" fmla="val 15000"/>
            </a:avLst>
          </a:prstGeom>
          <a:solidFill>
            <a:srgbClr val="E6F1F7"/>
          </a:solidFill>
          <a:ln w="12700">
            <a:solidFill>
              <a:srgbClr val="E6F1F7"/>
            </a:solidFill>
            <a:prstDash val="solid"/>
          </a:ln>
        </p:spPr>
      </p:sp>
      <p:sp>
        <p:nvSpPr>
          <p:cNvPr id="18" name="Shape 15"/>
          <p:cNvSpPr/>
          <p:nvPr/>
        </p:nvSpPr>
        <p:spPr>
          <a:xfrm>
            <a:off x="777240" y="5029200"/>
            <a:ext cx="365760" cy="365760"/>
          </a:xfrm>
          <a:prstGeom prst="roundRect">
            <a:avLst>
              <a:gd name="adj" fmla="val 15000"/>
            </a:avLst>
          </a:prstGeom>
          <a:solidFill>
            <a:srgbClr val="FFFFFF"/>
          </a:solidFill>
          <a:ln w="25400">
            <a:solidFill>
              <a:srgbClr val="065A82"/>
            </a:solidFill>
            <a:prstDash val="solid"/>
          </a:ln>
        </p:spPr>
      </p:sp>
      <p:sp>
        <p:nvSpPr>
          <p:cNvPr id="19" name="Text 16"/>
          <p:cNvSpPr txBox="1"/>
          <p:nvPr/>
        </p:nvSpPr>
        <p:spPr>
          <a:xfrm>
            <a:off x="1371600" y="4846320"/>
            <a:ext cx="10058400" cy="731520"/>
          </a:xfrm>
          <a:prstGeom prst="rect">
            <a:avLst/>
          </a:prstGeom>
          <a:noFill/>
          <a:ln/>
        </p:spPr>
        <p:txBody>
          <a:bodyPr wrap="square" lIns="0" tIns="0" rIns="0" bIns="0" rtlCol="0" anchor="ctr"/>
          <a:lstStyle/>
          <a:p>
            <a:pPr indent="0" marL="0">
              <a:buNone/>
            </a:pPr>
            <a:r>
              <a:rPr lang="en-US" sz="1800" b="1" dirty="0">
                <a:solidFill>
                  <a:srgbClr val="21295C"/>
                </a:solidFill>
                <a:latin typeface="Meiryo" pitchFamily="34" charset="0"/>
                <a:ea typeface="Meiryo" pitchFamily="34" charset="-122"/>
                <a:cs typeface="Meiryo" pitchFamily="34" charset="-120"/>
              </a:rPr>
              <a:t>場面に合わせて口頭か文章を選び、期限と依頼を明記できる</a:t>
            </a:r>
            <a:endParaRPr lang="en-US" sz="1800" dirty="0"/>
          </a:p>
        </p:txBody>
      </p:sp>
      <p:sp>
        <p:nvSpPr>
          <p:cNvPr id="20" name="Text 17"/>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500" b="1" dirty="0">
                <a:solidFill>
                  <a:srgbClr val="F2994A"/>
                </a:solidFill>
                <a:latin typeface="Meiryo" pitchFamily="34" charset="0"/>
                <a:ea typeface="Meiryo" pitchFamily="34" charset="-122"/>
                <a:cs typeface="Meiryo" pitchFamily="34" charset="-120"/>
              </a:rPr>
              <a:t>次の一歩：明日出す報告を1つ、今日の型で書いてみましょう。</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2800" b="1" dirty="0">
                <a:solidFill>
                  <a:srgbClr val="21295C"/>
                </a:solidFill>
                <a:latin typeface="Meiryo" pitchFamily="34" charset="0"/>
                <a:ea typeface="Meiryo" pitchFamily="34" charset="-122"/>
                <a:cs typeface="Meiryo" pitchFamily="34" charset="-120"/>
              </a:rPr>
              <a:t>参考文献・出典</a:t>
            </a:r>
            <a:endParaRPr lang="en-US" sz="2800" dirty="0"/>
          </a:p>
        </p:txBody>
      </p:sp>
      <p:sp>
        <p:nvSpPr>
          <p:cNvPr id="3" name="Text 1"/>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000" dirty="0">
                <a:solidFill>
                  <a:srgbClr val="6B7280"/>
                </a:solidFill>
                <a:latin typeface="Meiryo" pitchFamily="34" charset="0"/>
                <a:ea typeface="Meiryo" pitchFamily="34" charset="-122"/>
                <a:cs typeface="Meiryo" pitchFamily="34" charset="-120"/>
              </a:rPr>
              <a:t>うさうさ研修工房 | 新人エンジニアのためのテクニカルライティング（受講生用）</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828800"/>
                <a:gridCol w="9235440"/>
              </a:tblGrid>
              <a:tr h="640080">
                <a:tc>
                  <a:txBody>
                    <a:bodyPr/>
                    <a:lstStyle/>
                    <a:p>
                      <a:pPr indent="0" marL="0">
                        <a:buNone/>
                      </a:pPr>
                      <a:r>
                        <a:rPr lang="en-US" sz="1300" b="1" dirty="0">
                          <a:solidFill>
                            <a:srgbClr val="FFFFFF"/>
                          </a:solidFill>
                          <a:latin typeface="Meiryo" pitchFamily="34" charset="0"/>
                          <a:ea typeface="Meiryo" pitchFamily="34" charset="-122"/>
                          <a:cs typeface="Meiryo" pitchFamily="34" charset="-120"/>
                        </a:rPr>
                        <a:t>区分</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c>
                  <a:txBody>
                    <a:bodyPr/>
                    <a:lstStyle/>
                    <a:p>
                      <a:pPr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21295C"/>
                    </a:solidFill>
                  </a:tcPr>
                </a:tc>
              </a:tr>
              <a:tr h="640080">
                <a:tc>
                  <a:txBody>
                    <a:bodyPr/>
                    <a:lstStyle/>
                    <a:p>
                      <a:pPr indent="0" marL="0">
                        <a:buNone/>
                      </a:pPr>
                      <a:r>
                        <a:rPr lang="en-US" sz="1300" dirty="0">
                          <a:solidFill>
                            <a:srgbClr val="1F2937"/>
                          </a:solidFill>
                          <a:latin typeface="Meiryo" pitchFamily="34" charset="0"/>
                          <a:ea typeface="Meiryo" pitchFamily="34" charset="-122"/>
                          <a:cs typeface="Meiryo" pitchFamily="34" charset="-120"/>
                        </a:rPr>
                        <a:t>規格</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pitchFamily="34" charset="0"/>
                          <a:ea typeface="Meiryo" pitchFamily="34" charset="-122"/>
                          <a:cs typeface="Meiryo" pitchFamily="34" charset="-120"/>
                        </a:rPr>
                        <a:t>ISO 20607（機械類の安全性－取扱説明書の作成原則）／ISO/IEC 82079-1（使用者向け情報の作成）</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1F2937"/>
                          </a:solidFill>
                          <a:latin typeface="Meiryo" pitchFamily="34" charset="0"/>
                          <a:ea typeface="Meiryo" pitchFamily="34" charset="-122"/>
                          <a:cs typeface="Meiryo" pitchFamily="34" charset="-120"/>
                        </a:rPr>
                        <a:t>認知負荷</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300" dirty="0">
                          <a:solidFill>
                            <a:srgbClr val="1F2937"/>
                          </a:solidFill>
                          <a:latin typeface="Meiryo" pitchFamily="34" charset="0"/>
                          <a:ea typeface="Meiryo" pitchFamily="34" charset="-122"/>
                          <a:cs typeface="Meiryo" pitchFamily="34" charset="-120"/>
                        </a:rPr>
                        <a:t>Sweller, J. (1988). Cognitive load during problem solving. Cognitive Science, 12(2)</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r h="640080">
                <a:tc>
                  <a:txBody>
                    <a:bodyPr/>
                    <a:lstStyle/>
                    <a:p>
                      <a:pPr indent="0" marL="0">
                        <a:buNone/>
                      </a:pPr>
                      <a:r>
                        <a:rPr lang="en-US" sz="1300" dirty="0">
                          <a:solidFill>
                            <a:srgbClr val="1F2937"/>
                          </a:solidFill>
                          <a:latin typeface="Meiryo" pitchFamily="34" charset="0"/>
                          <a:ea typeface="Meiryo" pitchFamily="34" charset="-122"/>
                          <a:cs typeface="Meiryo" pitchFamily="34" charset="-120"/>
                        </a:rPr>
                        <a:t>作業記憶</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pitchFamily="34" charset="0"/>
                          <a:ea typeface="Meiryo" pitchFamily="34" charset="-122"/>
                          <a:cs typeface="Meiryo" pitchFamily="34" charset="-120"/>
                        </a:rPr>
                        <a:t>Cowan, N. (2001). The magical number 4 in short-term memory. Behavioral and Brain Sciences, 24(1)</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1F2937"/>
                          </a:solidFill>
                          <a:latin typeface="Meiryo" pitchFamily="34" charset="0"/>
                          <a:ea typeface="Meiryo" pitchFamily="34" charset="-122"/>
                          <a:cs typeface="Meiryo" pitchFamily="34" charset="-120"/>
                        </a:rPr>
                        <a:t>視覚的注意</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300" dirty="0">
                          <a:solidFill>
                            <a:srgbClr val="1F2937"/>
                          </a:solidFill>
                          <a:latin typeface="Meiryo" pitchFamily="34" charset="0"/>
                          <a:ea typeface="Meiryo" pitchFamily="34" charset="-122"/>
                          <a:cs typeface="Meiryo" pitchFamily="34" charset="-120"/>
                        </a:rPr>
                        <a:t>Treisman, A. &amp; Gelade, G. (1980). A feature-integration theory of attention. Cognitive Psychology, 12(1)</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r h="640080">
                <a:tc>
                  <a:txBody>
                    <a:bodyPr/>
                    <a:lstStyle/>
                    <a:p>
                      <a:pPr indent="0" marL="0">
                        <a:buNone/>
                      </a:pPr>
                      <a:r>
                        <a:rPr lang="en-US" sz="1300" dirty="0">
                          <a:solidFill>
                            <a:srgbClr val="1F2937"/>
                          </a:solidFill>
                          <a:latin typeface="Meiryo" pitchFamily="34" charset="0"/>
                          <a:ea typeface="Meiryo" pitchFamily="34" charset="-122"/>
                          <a:cs typeface="Meiryo" pitchFamily="34" charset="-120"/>
                        </a:rPr>
                        <a:t>視線の動き</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pitchFamily="34" charset="0"/>
                          <a:ea typeface="Meiryo" pitchFamily="34" charset="-122"/>
                          <a:cs typeface="Meiryo" pitchFamily="34" charset="-120"/>
                        </a:rPr>
                        <a:t>Nielsen, J. (2006). F-Shaped Pattern For Reading Web Content. Nielsen Norman Group</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1F2937"/>
                          </a:solidFill>
                          <a:latin typeface="Meiryo" pitchFamily="34" charset="0"/>
                          <a:ea typeface="Meiryo" pitchFamily="34" charset="-122"/>
                          <a:cs typeface="Meiryo" pitchFamily="34" charset="-120"/>
                        </a:rPr>
                        <a:t>データ可視化</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c>
                  <a:txBody>
                    <a:bodyPr/>
                    <a:lstStyle/>
                    <a:p>
                      <a:pPr indent="0" marL="0">
                        <a:buNone/>
                      </a:pPr>
                      <a:r>
                        <a:rPr lang="en-US" sz="1300" dirty="0">
                          <a:solidFill>
                            <a:srgbClr val="1F2937"/>
                          </a:solidFill>
                          <a:latin typeface="Meiryo" pitchFamily="34" charset="0"/>
                          <a:ea typeface="Meiryo" pitchFamily="34" charset="-122"/>
                          <a:cs typeface="Meiryo" pitchFamily="34" charset="-120"/>
                        </a:rPr>
                        <a:t>Tufte, E. (1983). The Visual Display of Quantitative Information</a:t>
                      </a:r>
                      <a:endParaRPr lang="en-US" sz="1300" dirty="0">
                        <a:latin typeface="Meiryo" charset="0"/>
                        <a:ea typeface="Meiryo" charset="0"/>
                        <a:cs typeface="Meiryo" charset="0"/>
                      </a:endParaRPr>
                    </a:p>
                  </a:txBody>
                  <a:tcPr marL="109728" marR="109728" marT="64008" marB="64008" anchor="ctr">
                    <a:lnL w="9525" cap="flat" cmpd="sng" algn="ctr">
                      <a:solidFill>
                        <a:srgbClr val="C9D9E2"/>
                      </a:solidFill>
                      <a:prstDash val="solid"/>
                      <a:round/>
                      <a:headEnd type="none" w="med" len="med"/>
                      <a:tailEnd type="none" w="med" len="med"/>
                    </a:lnL>
                    <a:lnR w="9525" cap="flat" cmpd="sng" algn="ctr">
                      <a:solidFill>
                        <a:srgbClr val="C9D9E2"/>
                      </a:solidFill>
                      <a:prstDash val="solid"/>
                      <a:round/>
                      <a:headEnd type="none" w="med" len="med"/>
                      <a:tailEnd type="none" w="med" len="med"/>
                    </a:lnR>
                    <a:lnT w="9525" cap="flat" cmpd="sng" algn="ctr">
                      <a:solidFill>
                        <a:srgbClr val="C9D9E2"/>
                      </a:solidFill>
                      <a:prstDash val="solid"/>
                      <a:round/>
                      <a:headEnd type="none" w="med" len="med"/>
                      <a:tailEnd type="none" w="med" len="med"/>
                    </a:lnT>
                    <a:lnB w="9525" cap="flat" cmpd="sng" algn="ctr">
                      <a:solidFill>
                        <a:srgbClr val="C9D9E2"/>
                      </a:solidFill>
                      <a:prstDash val="solid"/>
                      <a:round/>
                      <a:headEnd type="none" w="med" len="med"/>
                      <a:tailEnd type="none" w="med" len="med"/>
                    </a:lnB>
                    <a:solidFill>
                      <a:srgbClr val="E6F1F7"/>
                    </a:solidFill>
                  </a:tcPr>
                </a:tc>
              </a:tr>
            </a:tbl>
          </a:graphicData>
        </a:graphic>
      </p:graphicFrame>
      <p:sp>
        <p:nvSpPr>
          <p:cNvPr id="6" name="Text 2"/>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200" dirty="0">
                <a:solidFill>
                  <a:srgbClr val="6B7280"/>
                </a:solidFill>
                <a:latin typeface="Meiryo" pitchFamily="34" charset="0"/>
                <a:ea typeface="Meiryo" pitchFamily="34" charset="-122"/>
                <a:cs typeface="Meiryo" pitchFamily="34" charset="-120"/>
              </a:rPr>
              <a:t>報告・相談・日報の型は、実務で使いやすいよう整理したテンプレートです。</a:t>
            </a:r>
            <a:endParaRPr lang="en-US" sz="1200" dirty="0"/>
          </a:p>
        </p:txBody>
      </p:sp>
    </p:spTree>
  </p:cSld>
  <p:clrMapOvr>
    <a:masterClrMapping/>
  </p:clrMapOvr>
</p:sld>
</file>

<file path=ppt/theme/theme1.xml><?xml version="1.0" encoding="utf-8"?>
<a:theme xmlns:a="http://schemas.openxmlformats.org/drawingml/2006/main" name="UsausaTW">
  <a:themeElements>
    <a:clrScheme name="UsausaTW">
      <a:dk1>
        <a:srgbClr val="1F2937"/>
      </a:dk1>
      <a:lt1>
        <a:srgbClr val="FFFFFF"/>
      </a:lt1>
      <a:dk2>
        <a:srgbClr val="21295C"/>
      </a:dk2>
      <a:lt2>
        <a:srgbClr val="E6F1F7"/>
      </a:lt2>
      <a:accent1>
        <a:srgbClr val="065A82"/>
      </a:accent1>
      <a:accent2>
        <a:srgbClr val="1C7293"/>
      </a:accent2>
      <a:accent3>
        <a:srgbClr val="F2994A"/>
      </a:accent3>
      <a:accent4>
        <a:srgbClr val="1E9E6A"/>
      </a:accent4>
      <a:accent5>
        <a:srgbClr val="6B7280"/>
      </a:accent5>
      <a:accent6>
        <a:srgbClr val="D5E3EA"/>
      </a:accent6>
      <a:hlink>
        <a:srgbClr val="065A82"/>
      </a:hlink>
      <a:folHlink>
        <a:srgbClr val="6B7280"/>
      </a:folHlink>
    </a:clrScheme>
    <a:fontScheme name="UsausaTW">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うさうさ研修工房</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新人エンジニアのためのテクニカルライティング</dc:title>
  <dc:subject>PptxGenJS Presentation</dc:subject>
  <dc:creator>うさうさ研修工房</dc:creator>
  <cp:lastModifiedBy>うさうさ研修工房</cp:lastModifiedBy>
  <cp:revision>1</cp:revision>
  <dcterms:created xsi:type="dcterms:W3CDTF">2026-10-22T19:13:41Z</dcterms:created>
  <dcterms:modified xsi:type="dcterms:W3CDTF">2026-10-22T19:13:41Z</dcterms:modified>
</cp:coreProperties>
</file>